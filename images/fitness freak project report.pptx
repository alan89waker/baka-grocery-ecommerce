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6" r:id="rId16"/>
    <p:sldId id="277" r:id="rId17"/>
    <p:sldId id="280" r:id="rId18"/>
    <p:sldId id="281" r:id="rId19"/>
    <p:sldId id="282" r:id="rId20"/>
    <p:sldId id="284" r:id="rId21"/>
    <p:sldId id="285" r:id="rId22"/>
    <p:sldId id="286" r:id="rId23"/>
    <p:sldId id="288" r:id="rId24"/>
    <p:sldId id="289" r:id="rId25"/>
    <p:sldId id="290" r:id="rId26"/>
    <p:sldId id="291" r:id="rId27"/>
    <p:sldId id="292" r:id="rId28"/>
    <p:sldId id="293" r:id="rId29"/>
    <p:sldId id="295" r:id="rId30"/>
    <p:sldId id="296" r:id="rId31"/>
    <p:sldId id="297" r:id="rId32"/>
    <p:sldId id="299" r:id="rId33"/>
    <p:sldId id="300" r:id="rId34"/>
    <p:sldId id="301" r:id="rId35"/>
    <p:sldId id="302" r:id="rId36"/>
    <p:sldId id="304" r:id="rId37"/>
    <p:sldId id="305" r:id="rId38"/>
    <p:sldId id="306" r:id="rId39"/>
    <p:sldId id="307" r:id="rId40"/>
    <p:sldId id="308" r:id="rId41"/>
    <p:sldId id="309" r:id="rId42"/>
    <p:sldId id="310" r:id="rId43"/>
  </p:sldIdLst>
  <p:sldSz cx="7556500" cy="10693400"/>
  <p:notesSz cx="7556500" cy="10693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61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79900" y="0"/>
            <a:ext cx="3275013" cy="534988"/>
          </a:xfrm>
          <a:prstGeom prst="rect">
            <a:avLst/>
          </a:prstGeom>
        </p:spPr>
        <p:txBody>
          <a:bodyPr vert="horz" lIns="91440" tIns="45720" rIns="91440" bIns="45720" rtlCol="0"/>
          <a:lstStyle>
            <a:lvl1pPr algn="r">
              <a:defRPr sz="1200"/>
            </a:lvl1pPr>
          </a:lstStyle>
          <a:p>
            <a:fld id="{52BE66E0-A55C-4B13-B1DF-3847661B5722}" type="datetimeFigureOut">
              <a:rPr lang="en-US" smtClean="0"/>
              <a:t>6/17/2025</a:t>
            </a:fld>
            <a:endParaRPr lang="en-US"/>
          </a:p>
        </p:txBody>
      </p:sp>
      <p:sp>
        <p:nvSpPr>
          <p:cNvPr id="4" name="Slide Image Placeholder 3"/>
          <p:cNvSpPr>
            <a:spLocks noGrp="1" noRot="1" noChangeAspect="1"/>
          </p:cNvSpPr>
          <p:nvPr>
            <p:ph type="sldImg" idx="2"/>
          </p:nvPr>
        </p:nvSpPr>
        <p:spPr>
          <a:xfrm>
            <a:off x="2360613" y="801688"/>
            <a:ext cx="28352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80000"/>
            <a:ext cx="6045200" cy="481171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6825"/>
            <a:ext cx="3275013" cy="5349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79900" y="10156825"/>
            <a:ext cx="3275013" cy="534988"/>
          </a:xfrm>
          <a:prstGeom prst="rect">
            <a:avLst/>
          </a:prstGeom>
        </p:spPr>
        <p:txBody>
          <a:bodyPr vert="horz" lIns="91440" tIns="45720" rIns="91440" bIns="45720" rtlCol="0" anchor="b"/>
          <a:lstStyle>
            <a:lvl1pPr algn="r">
              <a:defRPr sz="1200"/>
            </a:lvl1pPr>
          </a:lstStyle>
          <a:p>
            <a:fld id="{CA2A285A-C285-4CBA-9F7A-97803D74F896}" type="slidenum">
              <a:rPr lang="en-US" smtClean="0"/>
              <a:t>‹#›</a:t>
            </a:fld>
            <a:endParaRPr lang="en-US"/>
          </a:p>
        </p:txBody>
      </p:sp>
    </p:spTree>
    <p:extLst>
      <p:ext uri="{BB962C8B-B14F-4D97-AF65-F5344CB8AC3E}">
        <p14:creationId xmlns:p14="http://schemas.microsoft.com/office/powerpoint/2010/main" val="514782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A285A-C285-4CBA-9F7A-97803D74F896}" type="slidenum">
              <a:rPr lang="en-US" smtClean="0"/>
              <a:t>5</a:t>
            </a:fld>
            <a:endParaRPr lang="en-US"/>
          </a:p>
        </p:txBody>
      </p:sp>
    </p:spTree>
    <p:extLst>
      <p:ext uri="{BB962C8B-B14F-4D97-AF65-F5344CB8AC3E}">
        <p14:creationId xmlns:p14="http://schemas.microsoft.com/office/powerpoint/2010/main" val="1780991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6/17/2025</a:t>
            </a:fld>
            <a:endParaRPr lang="en-US"/>
          </a:p>
        </p:txBody>
      </p:sp>
      <p:sp>
        <p:nvSpPr>
          <p:cNvPr id="6" name="Holder 6"/>
          <p:cNvSpPr>
            <a:spLocks noGrp="1"/>
          </p:cNvSpPr>
          <p:nvPr>
            <p:ph type="sldNum" sz="quarter" idx="7"/>
          </p:nvPr>
        </p:nvSpPr>
        <p:spPr>
          <a:xfrm>
            <a:off x="3726307" y="10367264"/>
            <a:ext cx="254635" cy="165734"/>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ts val="1150"/>
              </a:lnSpc>
            </a:pPr>
            <a:r>
              <a:rPr spc="-20" dirty="0"/>
              <a:t>[</a:t>
            </a:r>
            <a:fld id="{81D60167-4931-47E6-BA6A-407CBD079E47}" type="slidenum">
              <a:rPr spc="-20" dirty="0"/>
              <a:t>‹#›</a:t>
            </a:fld>
            <a:r>
              <a:rPr spc="-20" dirty="0"/>
              <a:t>]</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hyperlink" Target="https://developer.mozilla.org/en-US/docs/Web/JavaScript" TargetMode="External"/><Relationship Id="rId2" Type="http://schemas.openxmlformats.org/officeDocument/2006/relationships/hyperlink" Target="https://www.w3.org/standards/webdesign/htmlcss" TargetMode="External"/><Relationship Id="rId1" Type="http://schemas.openxmlformats.org/officeDocument/2006/relationships/slideLayout" Target="../slideLayouts/slideLayout5.xml"/><Relationship Id="rId6" Type="http://schemas.openxmlformats.org/officeDocument/2006/relationships/hyperlink" Target="https://stackoverflow.com/" TargetMode="External"/><Relationship Id="rId5" Type="http://schemas.openxmlformats.org/officeDocument/2006/relationships/hyperlink" Target="https://dev.mysql.com/doc/" TargetMode="External"/><Relationship Id="rId4" Type="http://schemas.openxmlformats.org/officeDocument/2006/relationships/hyperlink" Target="https://www.php.net/manual/en/"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s://fonts.google.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52929" y="755395"/>
            <a:ext cx="3997325" cy="3275965"/>
          </a:xfrm>
          <a:prstGeom prst="rect">
            <a:avLst/>
          </a:prstGeom>
        </p:spPr>
        <p:txBody>
          <a:bodyPr vert="horz" wrap="square" lIns="0" tIns="12700" rIns="0" bIns="0" rtlCol="0">
            <a:spAutoFit/>
          </a:bodyPr>
          <a:lstStyle/>
          <a:p>
            <a:pPr algn="ctr">
              <a:lnSpc>
                <a:spcPct val="100000"/>
              </a:lnSpc>
              <a:spcBef>
                <a:spcPts val="100"/>
              </a:spcBef>
            </a:pPr>
            <a:r>
              <a:rPr sz="1400" b="1" dirty="0">
                <a:latin typeface="Times New Roman"/>
                <a:cs typeface="Times New Roman"/>
              </a:rPr>
              <a:t>WEATHER</a:t>
            </a:r>
            <a:r>
              <a:rPr sz="1400" b="1" spc="-20" dirty="0">
                <a:latin typeface="Times New Roman"/>
                <a:cs typeface="Times New Roman"/>
              </a:rPr>
              <a:t> </a:t>
            </a:r>
            <a:r>
              <a:rPr sz="1400" b="1" spc="-10" dirty="0">
                <a:latin typeface="Times New Roman"/>
                <a:cs typeface="Times New Roman"/>
              </a:rPr>
              <a:t>ENTERTAINTMENT</a:t>
            </a:r>
            <a:r>
              <a:rPr sz="1400" b="1" spc="-25" dirty="0">
                <a:latin typeface="Times New Roman"/>
                <a:cs typeface="Times New Roman"/>
              </a:rPr>
              <a:t> </a:t>
            </a:r>
            <a:r>
              <a:rPr sz="1400" b="1" spc="-10" dirty="0">
                <a:latin typeface="Times New Roman"/>
                <a:cs typeface="Times New Roman"/>
              </a:rPr>
              <a:t>APPLICATION</a:t>
            </a:r>
            <a:endParaRPr sz="1400">
              <a:latin typeface="Times New Roman"/>
              <a:cs typeface="Times New Roman"/>
            </a:endParaRPr>
          </a:p>
          <a:p>
            <a:pPr>
              <a:lnSpc>
                <a:spcPct val="100000"/>
              </a:lnSpc>
              <a:spcBef>
                <a:spcPts val="135"/>
              </a:spcBef>
            </a:pPr>
            <a:endParaRPr sz="1400">
              <a:latin typeface="Times New Roman"/>
              <a:cs typeface="Times New Roman"/>
            </a:endParaRPr>
          </a:p>
          <a:p>
            <a:pPr marL="3175" algn="ctr">
              <a:lnSpc>
                <a:spcPct val="100000"/>
              </a:lnSpc>
            </a:pPr>
            <a:r>
              <a:rPr sz="1400" b="1" dirty="0">
                <a:latin typeface="Times New Roman"/>
                <a:cs typeface="Times New Roman"/>
              </a:rPr>
              <a:t>(COURSE</a:t>
            </a:r>
            <a:r>
              <a:rPr sz="1400" b="1" spc="-15" dirty="0">
                <a:latin typeface="Times New Roman"/>
                <a:cs typeface="Times New Roman"/>
              </a:rPr>
              <a:t> </a:t>
            </a:r>
            <a:r>
              <a:rPr sz="1400" b="1" dirty="0">
                <a:latin typeface="Times New Roman"/>
                <a:cs typeface="Times New Roman"/>
              </a:rPr>
              <a:t>CODE</a:t>
            </a:r>
            <a:r>
              <a:rPr sz="1400" b="1" spc="-15" dirty="0">
                <a:latin typeface="Times New Roman"/>
                <a:cs typeface="Times New Roman"/>
              </a:rPr>
              <a:t> </a:t>
            </a:r>
            <a:r>
              <a:rPr sz="1400" b="1" dirty="0">
                <a:latin typeface="Times New Roman"/>
                <a:cs typeface="Times New Roman"/>
              </a:rPr>
              <a:t>-</a:t>
            </a:r>
            <a:r>
              <a:rPr sz="1400" b="1" spc="-20" dirty="0">
                <a:latin typeface="Times New Roman"/>
                <a:cs typeface="Times New Roman"/>
              </a:rPr>
              <a:t> </a:t>
            </a:r>
            <a:r>
              <a:rPr sz="1400" b="1" spc="-25" dirty="0">
                <a:latin typeface="Times New Roman"/>
                <a:cs typeface="Times New Roman"/>
              </a:rPr>
              <a:t>95)</a:t>
            </a:r>
            <a:endParaRPr sz="1400">
              <a:latin typeface="Times New Roman"/>
              <a:cs typeface="Times New Roman"/>
            </a:endParaRPr>
          </a:p>
          <a:p>
            <a:pPr marL="593725" marR="405765" indent="30480">
              <a:lnSpc>
                <a:spcPts val="3420"/>
              </a:lnSpc>
              <a:spcBef>
                <a:spcPts val="390"/>
              </a:spcBef>
            </a:pPr>
            <a:r>
              <a:rPr sz="1400" b="1" i="1" dirty="0">
                <a:latin typeface="Times New Roman"/>
                <a:cs typeface="Times New Roman"/>
              </a:rPr>
              <a:t>Submitted</a:t>
            </a:r>
            <a:r>
              <a:rPr sz="1400" b="1" i="1" spc="-25" dirty="0">
                <a:latin typeface="Times New Roman"/>
                <a:cs typeface="Times New Roman"/>
              </a:rPr>
              <a:t> </a:t>
            </a:r>
            <a:r>
              <a:rPr sz="1400" b="1" i="1" dirty="0">
                <a:latin typeface="Times New Roman"/>
                <a:cs typeface="Times New Roman"/>
              </a:rPr>
              <a:t>in</a:t>
            </a:r>
            <a:r>
              <a:rPr sz="1400" b="1" i="1" spc="-35" dirty="0">
                <a:latin typeface="Times New Roman"/>
                <a:cs typeface="Times New Roman"/>
              </a:rPr>
              <a:t> </a:t>
            </a:r>
            <a:r>
              <a:rPr sz="1400" b="1" i="1" dirty="0">
                <a:latin typeface="Times New Roman"/>
                <a:cs typeface="Times New Roman"/>
              </a:rPr>
              <a:t>partial</a:t>
            </a:r>
            <a:r>
              <a:rPr sz="1400" b="1" i="1" spc="-40" dirty="0">
                <a:latin typeface="Times New Roman"/>
                <a:cs typeface="Times New Roman"/>
              </a:rPr>
              <a:t> </a:t>
            </a:r>
            <a:r>
              <a:rPr sz="1400" b="1" i="1" dirty="0">
                <a:latin typeface="Times New Roman"/>
                <a:cs typeface="Times New Roman"/>
              </a:rPr>
              <a:t>fulfillment</a:t>
            </a:r>
            <a:r>
              <a:rPr sz="1400" b="1" i="1" spc="-20" dirty="0">
                <a:latin typeface="Times New Roman"/>
                <a:cs typeface="Times New Roman"/>
              </a:rPr>
              <a:t> </a:t>
            </a:r>
            <a:r>
              <a:rPr sz="1400" b="1" i="1" dirty="0">
                <a:latin typeface="Times New Roman"/>
                <a:cs typeface="Times New Roman"/>
              </a:rPr>
              <a:t>of</a:t>
            </a:r>
            <a:r>
              <a:rPr sz="1400" b="1" i="1" spc="-25" dirty="0">
                <a:latin typeface="Times New Roman"/>
                <a:cs typeface="Times New Roman"/>
              </a:rPr>
              <a:t> the </a:t>
            </a:r>
            <a:r>
              <a:rPr sz="1400" b="1" i="1" dirty="0">
                <a:latin typeface="Times New Roman"/>
                <a:cs typeface="Times New Roman"/>
              </a:rPr>
              <a:t>requirements</a:t>
            </a:r>
            <a:r>
              <a:rPr sz="1400" b="1" i="1" spc="-20" dirty="0">
                <a:latin typeface="Times New Roman"/>
                <a:cs typeface="Times New Roman"/>
              </a:rPr>
              <a:t> </a:t>
            </a:r>
            <a:r>
              <a:rPr sz="1400" b="1" i="1" dirty="0">
                <a:latin typeface="Times New Roman"/>
                <a:cs typeface="Times New Roman"/>
              </a:rPr>
              <a:t>for</a:t>
            </a:r>
            <a:r>
              <a:rPr sz="1400" b="1" i="1" spc="-20" dirty="0">
                <a:latin typeface="Times New Roman"/>
                <a:cs typeface="Times New Roman"/>
              </a:rPr>
              <a:t> </a:t>
            </a:r>
            <a:r>
              <a:rPr sz="1400" b="1" i="1" dirty="0">
                <a:latin typeface="Times New Roman"/>
                <a:cs typeface="Times New Roman"/>
              </a:rPr>
              <a:t>the</a:t>
            </a:r>
            <a:r>
              <a:rPr sz="1400" b="1" i="1" spc="-35" dirty="0">
                <a:latin typeface="Times New Roman"/>
                <a:cs typeface="Times New Roman"/>
              </a:rPr>
              <a:t> </a:t>
            </a:r>
            <a:r>
              <a:rPr sz="1400" b="1" i="1" dirty="0">
                <a:latin typeface="Times New Roman"/>
                <a:cs typeface="Times New Roman"/>
              </a:rPr>
              <a:t>award</a:t>
            </a:r>
            <a:r>
              <a:rPr sz="1400" b="1" i="1" spc="-15" dirty="0">
                <a:latin typeface="Times New Roman"/>
                <a:cs typeface="Times New Roman"/>
              </a:rPr>
              <a:t> </a:t>
            </a:r>
            <a:r>
              <a:rPr sz="1400" b="1" i="1" dirty="0">
                <a:latin typeface="Times New Roman"/>
                <a:cs typeface="Times New Roman"/>
              </a:rPr>
              <a:t>of</a:t>
            </a:r>
            <a:r>
              <a:rPr sz="1400" b="1" i="1" spc="-40" dirty="0">
                <a:latin typeface="Times New Roman"/>
                <a:cs typeface="Times New Roman"/>
              </a:rPr>
              <a:t> </a:t>
            </a:r>
            <a:r>
              <a:rPr sz="1400" b="1" i="1" dirty="0">
                <a:latin typeface="Times New Roman"/>
                <a:cs typeface="Times New Roman"/>
              </a:rPr>
              <a:t>the</a:t>
            </a:r>
            <a:r>
              <a:rPr sz="1400" b="1" i="1" spc="-35" dirty="0">
                <a:latin typeface="Times New Roman"/>
                <a:cs typeface="Times New Roman"/>
              </a:rPr>
              <a:t> </a:t>
            </a:r>
            <a:r>
              <a:rPr sz="1400" b="1" i="1" spc="-10" dirty="0">
                <a:latin typeface="Times New Roman"/>
                <a:cs typeface="Times New Roman"/>
              </a:rPr>
              <a:t>degree</a:t>
            </a:r>
            <a:endParaRPr sz="1400">
              <a:latin typeface="Times New Roman"/>
              <a:cs typeface="Times New Roman"/>
            </a:endParaRPr>
          </a:p>
          <a:p>
            <a:pPr marL="3175" algn="ctr">
              <a:lnSpc>
                <a:spcPct val="100000"/>
              </a:lnSpc>
              <a:spcBef>
                <a:spcPts val="1325"/>
              </a:spcBef>
            </a:pPr>
            <a:r>
              <a:rPr sz="1400" b="1" i="1" spc="-25" dirty="0">
                <a:latin typeface="Times New Roman"/>
                <a:cs typeface="Times New Roman"/>
              </a:rPr>
              <a:t>of</a:t>
            </a:r>
            <a:endParaRPr sz="1400">
              <a:latin typeface="Times New Roman"/>
              <a:cs typeface="Times New Roman"/>
            </a:endParaRPr>
          </a:p>
          <a:p>
            <a:pPr marL="1570355" marR="1558925" algn="ctr">
              <a:lnSpc>
                <a:spcPct val="203600"/>
              </a:lnSpc>
              <a:spcBef>
                <a:spcPts val="5"/>
              </a:spcBef>
            </a:pPr>
            <a:r>
              <a:rPr sz="1400" b="1" spc="-10" dirty="0">
                <a:latin typeface="Times New Roman"/>
                <a:cs typeface="Times New Roman"/>
              </a:rPr>
              <a:t>DIPLOMA </a:t>
            </a:r>
            <a:r>
              <a:rPr sz="1400" b="1" spc="-25" dirty="0">
                <a:latin typeface="Times New Roman"/>
                <a:cs typeface="Times New Roman"/>
              </a:rPr>
              <a:t>IN</a:t>
            </a:r>
            <a:endParaRPr sz="1400">
              <a:latin typeface="Times New Roman"/>
              <a:cs typeface="Times New Roman"/>
            </a:endParaRPr>
          </a:p>
          <a:p>
            <a:pPr>
              <a:lnSpc>
                <a:spcPct val="100000"/>
              </a:lnSpc>
              <a:spcBef>
                <a:spcPts val="114"/>
              </a:spcBef>
            </a:pPr>
            <a:endParaRPr sz="1400">
              <a:latin typeface="Times New Roman"/>
              <a:cs typeface="Times New Roman"/>
            </a:endParaRPr>
          </a:p>
          <a:p>
            <a:pPr algn="ctr">
              <a:lnSpc>
                <a:spcPct val="100000"/>
              </a:lnSpc>
            </a:pPr>
            <a:r>
              <a:rPr sz="1400" b="1" dirty="0">
                <a:latin typeface="Times New Roman"/>
                <a:cs typeface="Times New Roman"/>
              </a:rPr>
              <a:t>COMPUTER</a:t>
            </a:r>
            <a:r>
              <a:rPr sz="1400" b="1" spc="-65" dirty="0">
                <a:latin typeface="Times New Roman"/>
                <a:cs typeface="Times New Roman"/>
              </a:rPr>
              <a:t> </a:t>
            </a:r>
            <a:r>
              <a:rPr sz="1400" b="1" dirty="0">
                <a:latin typeface="Times New Roman"/>
                <a:cs typeface="Times New Roman"/>
              </a:rPr>
              <a:t>SCIENCE</a:t>
            </a:r>
            <a:r>
              <a:rPr sz="1400" b="1" spc="-70" dirty="0">
                <a:latin typeface="Times New Roman"/>
                <a:cs typeface="Times New Roman"/>
              </a:rPr>
              <a:t> </a:t>
            </a:r>
            <a:r>
              <a:rPr sz="1400" b="1" spc="-10" dirty="0">
                <a:latin typeface="Times New Roman"/>
                <a:cs typeface="Times New Roman"/>
              </a:rPr>
              <a:t>ENGINEERING</a:t>
            </a:r>
            <a:endParaRPr sz="1400">
              <a:latin typeface="Times New Roman"/>
              <a:cs typeface="Times New Roman"/>
            </a:endParaRPr>
          </a:p>
        </p:txBody>
      </p:sp>
      <p:sp>
        <p:nvSpPr>
          <p:cNvPr id="3" name="object 3"/>
          <p:cNvSpPr txBox="1"/>
          <p:nvPr/>
        </p:nvSpPr>
        <p:spPr>
          <a:xfrm>
            <a:off x="528319" y="5343525"/>
            <a:ext cx="1920239" cy="201295"/>
          </a:xfrm>
          <a:prstGeom prst="rect">
            <a:avLst/>
          </a:prstGeom>
        </p:spPr>
        <p:txBody>
          <a:bodyPr vert="horz" wrap="square" lIns="0" tIns="12700" rIns="0" bIns="0" rtlCol="0">
            <a:spAutoFit/>
          </a:bodyPr>
          <a:lstStyle/>
          <a:p>
            <a:pPr marL="12700">
              <a:lnSpc>
                <a:spcPct val="100000"/>
              </a:lnSpc>
              <a:spcBef>
                <a:spcPts val="100"/>
              </a:spcBef>
            </a:pPr>
            <a:r>
              <a:rPr sz="1150" b="1" i="1" dirty="0">
                <a:latin typeface="Times New Roman"/>
                <a:cs typeface="Times New Roman"/>
              </a:rPr>
              <a:t>UNDER</a:t>
            </a:r>
            <a:r>
              <a:rPr sz="1150" b="1" i="1" spc="-20" dirty="0">
                <a:latin typeface="Times New Roman"/>
                <a:cs typeface="Times New Roman"/>
              </a:rPr>
              <a:t> </a:t>
            </a:r>
            <a:r>
              <a:rPr sz="1150" b="1" i="1" dirty="0">
                <a:latin typeface="Times New Roman"/>
                <a:cs typeface="Times New Roman"/>
              </a:rPr>
              <a:t>THE</a:t>
            </a:r>
            <a:r>
              <a:rPr sz="1150" b="1" i="1" spc="-20" dirty="0">
                <a:latin typeface="Times New Roman"/>
                <a:cs typeface="Times New Roman"/>
              </a:rPr>
              <a:t> </a:t>
            </a:r>
            <a:r>
              <a:rPr sz="1150" b="1" i="1" dirty="0">
                <a:latin typeface="Times New Roman"/>
                <a:cs typeface="Times New Roman"/>
              </a:rPr>
              <a:t>GUIDANCE</a:t>
            </a:r>
            <a:r>
              <a:rPr sz="1150" b="1" i="1" spc="-20" dirty="0">
                <a:latin typeface="Times New Roman"/>
                <a:cs typeface="Times New Roman"/>
              </a:rPr>
              <a:t> </a:t>
            </a:r>
            <a:r>
              <a:rPr sz="1150" b="1" i="1" spc="-25" dirty="0">
                <a:latin typeface="Times New Roman"/>
                <a:cs typeface="Times New Roman"/>
              </a:rPr>
              <a:t>OF</a:t>
            </a:r>
            <a:endParaRPr sz="1150">
              <a:latin typeface="Times New Roman"/>
              <a:cs typeface="Times New Roman"/>
            </a:endParaRPr>
          </a:p>
        </p:txBody>
      </p:sp>
      <p:sp>
        <p:nvSpPr>
          <p:cNvPr id="4" name="object 4"/>
          <p:cNvSpPr txBox="1"/>
          <p:nvPr/>
        </p:nvSpPr>
        <p:spPr>
          <a:xfrm>
            <a:off x="4144136" y="5254376"/>
            <a:ext cx="2348865" cy="189796"/>
          </a:xfrm>
          <a:prstGeom prst="rect">
            <a:avLst/>
          </a:prstGeom>
        </p:spPr>
        <p:txBody>
          <a:bodyPr vert="horz" wrap="square" lIns="0" tIns="12700" rIns="0" bIns="0" rtlCol="0">
            <a:spAutoFit/>
          </a:bodyPr>
          <a:lstStyle/>
          <a:p>
            <a:pPr marL="12700">
              <a:lnSpc>
                <a:spcPct val="100000"/>
              </a:lnSpc>
              <a:spcBef>
                <a:spcPts val="100"/>
              </a:spcBef>
            </a:pPr>
            <a:r>
              <a:rPr lang="en-US" sz="1150" b="1" i="1" spc="-10" dirty="0" err="1" smtClean="0">
                <a:latin typeface="Times New Roman"/>
                <a:cs typeface="Times New Roman"/>
              </a:rPr>
              <a:t>Suryansh</a:t>
            </a:r>
            <a:r>
              <a:rPr lang="en-US" sz="1150" b="1" i="1" spc="-10" dirty="0" smtClean="0">
                <a:latin typeface="Times New Roman"/>
                <a:cs typeface="Times New Roman"/>
              </a:rPr>
              <a:t> </a:t>
            </a:r>
            <a:r>
              <a:rPr lang="en-US" sz="1150" b="1" i="1" spc="-10" dirty="0" err="1" smtClean="0">
                <a:latin typeface="Times New Roman"/>
                <a:cs typeface="Times New Roman"/>
              </a:rPr>
              <a:t>Chhetry</a:t>
            </a:r>
            <a:r>
              <a:rPr sz="1150" b="1" i="1" spc="-10" dirty="0" smtClean="0">
                <a:latin typeface="Times New Roman"/>
                <a:cs typeface="Times New Roman"/>
              </a:rPr>
              <a:t>(221649509164</a:t>
            </a:r>
            <a:r>
              <a:rPr sz="1150" b="1" i="1" spc="-10" dirty="0">
                <a:latin typeface="Times New Roman"/>
                <a:cs typeface="Times New Roman"/>
              </a:rPr>
              <a:t>)</a:t>
            </a:r>
            <a:endParaRPr sz="1150" dirty="0">
              <a:latin typeface="Times New Roman"/>
              <a:cs typeface="Times New Roman"/>
            </a:endParaRPr>
          </a:p>
        </p:txBody>
      </p:sp>
      <p:sp>
        <p:nvSpPr>
          <p:cNvPr id="5" name="object 5"/>
          <p:cNvSpPr txBox="1"/>
          <p:nvPr/>
        </p:nvSpPr>
        <p:spPr>
          <a:xfrm>
            <a:off x="528319" y="5723001"/>
            <a:ext cx="1409700" cy="201295"/>
          </a:xfrm>
          <a:prstGeom prst="rect">
            <a:avLst/>
          </a:prstGeom>
        </p:spPr>
        <p:txBody>
          <a:bodyPr vert="horz" wrap="square" lIns="0" tIns="12700" rIns="0" bIns="0" rtlCol="0">
            <a:spAutoFit/>
          </a:bodyPr>
          <a:lstStyle/>
          <a:p>
            <a:pPr marL="12700">
              <a:lnSpc>
                <a:spcPct val="100000"/>
              </a:lnSpc>
              <a:spcBef>
                <a:spcPts val="100"/>
              </a:spcBef>
            </a:pPr>
            <a:r>
              <a:rPr sz="1150" b="1" i="1" dirty="0">
                <a:latin typeface="Times New Roman"/>
                <a:cs typeface="Times New Roman"/>
              </a:rPr>
              <a:t>ER.</a:t>
            </a:r>
            <a:r>
              <a:rPr sz="1150" b="1" i="1" spc="-20" dirty="0">
                <a:latin typeface="Times New Roman"/>
                <a:cs typeface="Times New Roman"/>
              </a:rPr>
              <a:t> </a:t>
            </a:r>
            <a:r>
              <a:rPr sz="1150" b="1" i="1" dirty="0">
                <a:latin typeface="Times New Roman"/>
                <a:cs typeface="Times New Roman"/>
              </a:rPr>
              <a:t>SANCHI</a:t>
            </a:r>
            <a:r>
              <a:rPr sz="1150" b="1" i="1" spc="-5" dirty="0">
                <a:latin typeface="Times New Roman"/>
                <a:cs typeface="Times New Roman"/>
              </a:rPr>
              <a:t> </a:t>
            </a:r>
            <a:r>
              <a:rPr sz="1150" b="1" i="1" spc="-20" dirty="0">
                <a:latin typeface="Times New Roman"/>
                <a:cs typeface="Times New Roman"/>
              </a:rPr>
              <a:t>DHAND</a:t>
            </a:r>
            <a:endParaRPr sz="1150">
              <a:latin typeface="Times New Roman"/>
              <a:cs typeface="Times New Roman"/>
            </a:endParaRPr>
          </a:p>
        </p:txBody>
      </p:sp>
      <p:sp>
        <p:nvSpPr>
          <p:cNvPr id="6" name="object 6"/>
          <p:cNvSpPr txBox="1"/>
          <p:nvPr/>
        </p:nvSpPr>
        <p:spPr>
          <a:xfrm>
            <a:off x="4101210" y="5528506"/>
            <a:ext cx="2209165" cy="189796"/>
          </a:xfrm>
          <a:prstGeom prst="rect">
            <a:avLst/>
          </a:prstGeom>
        </p:spPr>
        <p:txBody>
          <a:bodyPr vert="horz" wrap="square" lIns="0" tIns="12700" rIns="0" bIns="0" rtlCol="0">
            <a:spAutoFit/>
          </a:bodyPr>
          <a:lstStyle/>
          <a:p>
            <a:pPr marL="12700">
              <a:lnSpc>
                <a:spcPct val="100000"/>
              </a:lnSpc>
              <a:spcBef>
                <a:spcPts val="100"/>
              </a:spcBef>
            </a:pPr>
            <a:r>
              <a:rPr lang="en-US" sz="1150" b="1" i="1" spc="-10" dirty="0" err="1" smtClean="0">
                <a:latin typeface="Times New Roman"/>
                <a:cs typeface="Times New Roman"/>
              </a:rPr>
              <a:t>Muskan</a:t>
            </a:r>
            <a:r>
              <a:rPr lang="en-US" sz="1150" b="1" i="1" spc="-10" dirty="0" smtClean="0">
                <a:latin typeface="Times New Roman"/>
                <a:cs typeface="Times New Roman"/>
              </a:rPr>
              <a:t> </a:t>
            </a:r>
            <a:r>
              <a:rPr lang="en-US" sz="1150" b="1" i="1" spc="-10" dirty="0" err="1" smtClean="0">
                <a:latin typeface="Times New Roman"/>
                <a:cs typeface="Times New Roman"/>
              </a:rPr>
              <a:t>Kumari</a:t>
            </a:r>
            <a:r>
              <a:rPr lang="en-US" sz="1150" b="1" i="1" spc="-10" dirty="0" smtClean="0">
                <a:latin typeface="Times New Roman"/>
                <a:cs typeface="Times New Roman"/>
              </a:rPr>
              <a:t> </a:t>
            </a:r>
            <a:r>
              <a:rPr sz="1150" b="1" i="1" spc="-10" dirty="0" smtClean="0">
                <a:latin typeface="Times New Roman"/>
                <a:cs typeface="Times New Roman"/>
              </a:rPr>
              <a:t>(221649509144</a:t>
            </a:r>
            <a:r>
              <a:rPr sz="1150" b="1" i="1" spc="-10" dirty="0">
                <a:latin typeface="Times New Roman"/>
                <a:cs typeface="Times New Roman"/>
              </a:rPr>
              <a:t>)</a:t>
            </a:r>
            <a:endParaRPr sz="1150" dirty="0">
              <a:latin typeface="Times New Roman"/>
              <a:cs typeface="Times New Roman"/>
            </a:endParaRPr>
          </a:p>
        </p:txBody>
      </p:sp>
      <p:sp>
        <p:nvSpPr>
          <p:cNvPr id="7" name="object 7"/>
          <p:cNvSpPr txBox="1"/>
          <p:nvPr/>
        </p:nvSpPr>
        <p:spPr>
          <a:xfrm>
            <a:off x="4101210" y="5804724"/>
            <a:ext cx="2379980" cy="189796"/>
          </a:xfrm>
          <a:prstGeom prst="rect">
            <a:avLst/>
          </a:prstGeom>
        </p:spPr>
        <p:txBody>
          <a:bodyPr vert="horz" wrap="square" lIns="0" tIns="12700" rIns="0" bIns="0" rtlCol="0">
            <a:spAutoFit/>
          </a:bodyPr>
          <a:lstStyle/>
          <a:p>
            <a:pPr marL="12700">
              <a:lnSpc>
                <a:spcPct val="100000"/>
              </a:lnSpc>
              <a:spcBef>
                <a:spcPts val="100"/>
              </a:spcBef>
            </a:pPr>
            <a:r>
              <a:rPr lang="en-US" sz="1150" b="1" i="1" spc="-10" dirty="0" err="1" smtClean="0">
                <a:latin typeface="Times New Roman"/>
                <a:cs typeface="Times New Roman"/>
              </a:rPr>
              <a:t>Sahil</a:t>
            </a:r>
            <a:r>
              <a:rPr lang="en-US" sz="1150" b="1" i="1" spc="-10" dirty="0" smtClean="0">
                <a:latin typeface="Times New Roman"/>
                <a:cs typeface="Times New Roman"/>
              </a:rPr>
              <a:t> Kumar </a:t>
            </a:r>
            <a:r>
              <a:rPr sz="1150" b="1" i="1" spc="-10" dirty="0" smtClean="0">
                <a:latin typeface="Times New Roman"/>
                <a:cs typeface="Times New Roman"/>
              </a:rPr>
              <a:t>(221649509175</a:t>
            </a:r>
            <a:r>
              <a:rPr sz="1150" b="1" i="1" spc="-10" dirty="0">
                <a:latin typeface="Times New Roman"/>
                <a:cs typeface="Times New Roman"/>
              </a:rPr>
              <a:t>)</a:t>
            </a:r>
            <a:endParaRPr sz="1150" dirty="0">
              <a:latin typeface="Times New Roman"/>
              <a:cs typeface="Times New Roman"/>
            </a:endParaRPr>
          </a:p>
        </p:txBody>
      </p:sp>
      <p:sp>
        <p:nvSpPr>
          <p:cNvPr id="8" name="object 8"/>
          <p:cNvSpPr txBox="1"/>
          <p:nvPr/>
        </p:nvSpPr>
        <p:spPr>
          <a:xfrm>
            <a:off x="1124508" y="8860942"/>
            <a:ext cx="5454650" cy="726440"/>
          </a:xfrm>
          <a:prstGeom prst="rect">
            <a:avLst/>
          </a:prstGeom>
        </p:spPr>
        <p:txBody>
          <a:bodyPr vert="horz" wrap="square" lIns="0" tIns="12700" rIns="0" bIns="0" rtlCol="0">
            <a:spAutoFit/>
          </a:bodyPr>
          <a:lstStyle/>
          <a:p>
            <a:pPr marL="1544320" marR="5080" indent="-1532255">
              <a:lnSpc>
                <a:spcPct val="143800"/>
              </a:lnSpc>
              <a:spcBef>
                <a:spcPts val="100"/>
              </a:spcBef>
            </a:pPr>
            <a:r>
              <a:rPr sz="1600" b="1" dirty="0">
                <a:solidFill>
                  <a:srgbClr val="003399"/>
                </a:solidFill>
                <a:latin typeface="Times New Roman"/>
                <a:cs typeface="Times New Roman"/>
              </a:rPr>
              <a:t>PUNJAB</a:t>
            </a:r>
            <a:r>
              <a:rPr sz="1600" b="1" spc="-15" dirty="0">
                <a:solidFill>
                  <a:srgbClr val="003399"/>
                </a:solidFill>
                <a:latin typeface="Times New Roman"/>
                <a:cs typeface="Times New Roman"/>
              </a:rPr>
              <a:t> </a:t>
            </a:r>
            <a:r>
              <a:rPr sz="1600" b="1" dirty="0">
                <a:solidFill>
                  <a:srgbClr val="003399"/>
                </a:solidFill>
                <a:latin typeface="Times New Roman"/>
                <a:cs typeface="Times New Roman"/>
              </a:rPr>
              <a:t>STATE BOARD</a:t>
            </a:r>
            <a:r>
              <a:rPr sz="1600" b="1" spc="-10" dirty="0">
                <a:solidFill>
                  <a:srgbClr val="003399"/>
                </a:solidFill>
                <a:latin typeface="Times New Roman"/>
                <a:cs typeface="Times New Roman"/>
              </a:rPr>
              <a:t> </a:t>
            </a:r>
            <a:r>
              <a:rPr sz="1600" b="1" dirty="0">
                <a:solidFill>
                  <a:srgbClr val="003399"/>
                </a:solidFill>
                <a:latin typeface="Times New Roman"/>
                <a:cs typeface="Times New Roman"/>
              </a:rPr>
              <a:t>OF</a:t>
            </a:r>
            <a:r>
              <a:rPr sz="1600" b="1" spc="-10" dirty="0">
                <a:solidFill>
                  <a:srgbClr val="003399"/>
                </a:solidFill>
                <a:latin typeface="Times New Roman"/>
                <a:cs typeface="Times New Roman"/>
              </a:rPr>
              <a:t> </a:t>
            </a:r>
            <a:r>
              <a:rPr sz="1600" b="1" dirty="0">
                <a:solidFill>
                  <a:srgbClr val="003399"/>
                </a:solidFill>
                <a:latin typeface="Times New Roman"/>
                <a:cs typeface="Times New Roman"/>
              </a:rPr>
              <a:t>TECHNICAL</a:t>
            </a:r>
            <a:r>
              <a:rPr sz="1600" b="1" spc="-20" dirty="0">
                <a:solidFill>
                  <a:srgbClr val="003399"/>
                </a:solidFill>
                <a:latin typeface="Times New Roman"/>
                <a:cs typeface="Times New Roman"/>
              </a:rPr>
              <a:t> </a:t>
            </a:r>
            <a:r>
              <a:rPr sz="1600" b="1" dirty="0">
                <a:solidFill>
                  <a:srgbClr val="003399"/>
                </a:solidFill>
                <a:latin typeface="Times New Roman"/>
                <a:cs typeface="Times New Roman"/>
              </a:rPr>
              <a:t>EDUCATION</a:t>
            </a:r>
            <a:r>
              <a:rPr sz="1600" b="1" spc="-5" dirty="0">
                <a:solidFill>
                  <a:srgbClr val="003399"/>
                </a:solidFill>
                <a:latin typeface="Times New Roman"/>
                <a:cs typeface="Times New Roman"/>
              </a:rPr>
              <a:t> </a:t>
            </a:r>
            <a:r>
              <a:rPr sz="1600" b="1" spc="-50" dirty="0">
                <a:solidFill>
                  <a:srgbClr val="003399"/>
                </a:solidFill>
                <a:latin typeface="Times New Roman"/>
                <a:cs typeface="Times New Roman"/>
              </a:rPr>
              <a:t>&amp; </a:t>
            </a:r>
            <a:r>
              <a:rPr sz="1600" b="1" dirty="0">
                <a:solidFill>
                  <a:srgbClr val="003399"/>
                </a:solidFill>
                <a:latin typeface="Times New Roman"/>
                <a:cs typeface="Times New Roman"/>
              </a:rPr>
              <a:t>INDUSTRIAL</a:t>
            </a:r>
            <a:r>
              <a:rPr sz="1600" b="1" spc="5" dirty="0">
                <a:solidFill>
                  <a:srgbClr val="003399"/>
                </a:solidFill>
                <a:latin typeface="Times New Roman"/>
                <a:cs typeface="Times New Roman"/>
              </a:rPr>
              <a:t> </a:t>
            </a:r>
            <a:r>
              <a:rPr sz="1600" b="1" spc="-10" dirty="0">
                <a:solidFill>
                  <a:srgbClr val="003399"/>
                </a:solidFill>
                <a:latin typeface="Times New Roman"/>
                <a:cs typeface="Times New Roman"/>
              </a:rPr>
              <a:t>TRAINING</a:t>
            </a:r>
            <a:endParaRPr sz="1600">
              <a:latin typeface="Times New Roman"/>
              <a:cs typeface="Times New Roman"/>
            </a:endParaRPr>
          </a:p>
        </p:txBody>
      </p:sp>
      <p:pic>
        <p:nvPicPr>
          <p:cNvPr id="9" name="object 9"/>
          <p:cNvPicPr/>
          <p:nvPr/>
        </p:nvPicPr>
        <p:blipFill>
          <a:blip r:embed="rId2" cstate="print"/>
          <a:stretch>
            <a:fillRect/>
          </a:stretch>
        </p:blipFill>
        <p:spPr>
          <a:xfrm>
            <a:off x="3167536" y="4248975"/>
            <a:ext cx="1379952" cy="903795"/>
          </a:xfrm>
          <a:prstGeom prst="rect">
            <a:avLst/>
          </a:prstGeom>
        </p:spPr>
      </p:pic>
      <p:pic>
        <p:nvPicPr>
          <p:cNvPr id="10" name="object 10"/>
          <p:cNvPicPr/>
          <p:nvPr/>
        </p:nvPicPr>
        <p:blipFill>
          <a:blip r:embed="rId3" cstate="print"/>
          <a:stretch>
            <a:fillRect/>
          </a:stretch>
        </p:blipFill>
        <p:spPr>
          <a:xfrm>
            <a:off x="2984068" y="6518728"/>
            <a:ext cx="1736445" cy="1735908"/>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a:t>
            </a:fld>
            <a:r>
              <a:rPr spc="-20" dirty="0"/>
              <a:t>]</a:t>
            </a:r>
          </a:p>
        </p:txBody>
      </p:sp>
      <p:sp>
        <p:nvSpPr>
          <p:cNvPr id="12" name="TextBox 11"/>
          <p:cNvSpPr txBox="1"/>
          <p:nvPr/>
        </p:nvSpPr>
        <p:spPr>
          <a:xfrm>
            <a:off x="4006850" y="6057498"/>
            <a:ext cx="1996314" cy="269304"/>
          </a:xfrm>
          <a:prstGeom prst="rect">
            <a:avLst/>
          </a:prstGeom>
          <a:noFill/>
        </p:spPr>
        <p:txBody>
          <a:bodyPr wrap="square" rtlCol="0">
            <a:spAutoFit/>
          </a:bodyPr>
          <a:lstStyle/>
          <a:p>
            <a:r>
              <a:rPr lang="en-US" sz="1150" b="1" i="1" dirty="0" err="1" smtClean="0">
                <a:latin typeface="Times New Roman" pitchFamily="18" charset="0"/>
                <a:cs typeface="Times New Roman" pitchFamily="18" charset="0"/>
              </a:rPr>
              <a:t>Vinay</a:t>
            </a:r>
            <a:r>
              <a:rPr lang="en-US" sz="1150" b="1" i="1" dirty="0" smtClean="0">
                <a:latin typeface="Times New Roman" pitchFamily="18" charset="0"/>
                <a:cs typeface="Times New Roman" pitchFamily="18" charset="0"/>
              </a:rPr>
              <a:t> </a:t>
            </a:r>
            <a:r>
              <a:rPr lang="en-US" sz="1150" b="1" i="1" dirty="0" err="1" smtClean="0">
                <a:latin typeface="Times New Roman" pitchFamily="18" charset="0"/>
                <a:cs typeface="Times New Roman" pitchFamily="18" charset="0"/>
              </a:rPr>
              <a:t>kumar</a:t>
            </a:r>
            <a:r>
              <a:rPr lang="en-US" sz="1150" b="1" i="1" dirty="0" smtClean="0">
                <a:latin typeface="Times New Roman" pitchFamily="18" charset="0"/>
                <a:cs typeface="Times New Roman" pitchFamily="18" charset="0"/>
              </a:rPr>
              <a:t> ( </a:t>
            </a:r>
            <a:r>
              <a:rPr lang="en-US" sz="1150" b="1" i="1" dirty="0" err="1" smtClean="0">
                <a:latin typeface="Times New Roman" pitchFamily="18" charset="0"/>
                <a:cs typeface="Times New Roman" pitchFamily="18" charset="0"/>
              </a:rPr>
              <a:t>fdgjdfjsgddfa</a:t>
            </a:r>
            <a:r>
              <a:rPr lang="en-US" sz="1150" i="1" dirty="0" smtClean="0">
                <a:latin typeface="Times New Roman" pitchFamily="18" charset="0"/>
                <a:cs typeface="Times New Roman" pitchFamily="18" charset="0"/>
              </a:rPr>
              <a:t>)</a:t>
            </a:r>
            <a:endParaRPr lang="en-US" sz="1150" i="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7668" y="899748"/>
            <a:ext cx="5214620" cy="0"/>
          </a:xfrm>
          <a:custGeom>
            <a:avLst/>
            <a:gdLst/>
            <a:ahLst/>
            <a:cxnLst/>
            <a:rect l="l" t="t" r="r" b="b"/>
            <a:pathLst>
              <a:path w="5214620">
                <a:moveTo>
                  <a:pt x="0" y="0"/>
                </a:moveTo>
                <a:lnTo>
                  <a:pt x="5214335" y="0"/>
                </a:lnTo>
              </a:path>
            </a:pathLst>
          </a:custGeom>
          <a:ln w="9113">
            <a:solidFill>
              <a:srgbClr val="000000"/>
            </a:solidFill>
          </a:ln>
        </p:spPr>
        <p:txBody>
          <a:bodyPr wrap="square" lIns="0" tIns="0" rIns="0" bIns="0" rtlCol="0"/>
          <a:lstStyle/>
          <a:p>
            <a:endParaRPr/>
          </a:p>
        </p:txBody>
      </p:sp>
      <p:sp>
        <p:nvSpPr>
          <p:cNvPr id="3" name="object 3"/>
          <p:cNvSpPr txBox="1"/>
          <p:nvPr/>
        </p:nvSpPr>
        <p:spPr>
          <a:xfrm>
            <a:off x="528319" y="369823"/>
            <a:ext cx="6176010" cy="579501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Times New Roman"/>
                <a:cs typeface="Times New Roman"/>
              </a:rPr>
              <a:t>ACKNOWLEDGMENT</a:t>
            </a:r>
            <a:endParaRPr sz="1600" dirty="0">
              <a:latin typeface="Times New Roman"/>
              <a:cs typeface="Times New Roman"/>
            </a:endParaRPr>
          </a:p>
          <a:p>
            <a:pPr>
              <a:lnSpc>
                <a:spcPct val="100000"/>
              </a:lnSpc>
              <a:spcBef>
                <a:spcPts val="1405"/>
              </a:spcBef>
            </a:pPr>
            <a:endParaRPr sz="1600" dirty="0">
              <a:latin typeface="Times New Roman"/>
              <a:cs typeface="Times New Roman"/>
            </a:endParaRPr>
          </a:p>
          <a:p>
            <a:pPr marL="12700" marR="9525" indent="457200" algn="just">
              <a:lnSpc>
                <a:spcPct val="144200"/>
              </a:lnSpc>
            </a:pP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our</a:t>
            </a:r>
            <a:r>
              <a:rPr sz="1200" spc="35" dirty="0">
                <a:latin typeface="Times New Roman"/>
                <a:cs typeface="Times New Roman"/>
              </a:rPr>
              <a:t> </a:t>
            </a:r>
            <a:r>
              <a:rPr sz="1200" dirty="0">
                <a:latin typeface="Times New Roman"/>
                <a:cs typeface="Times New Roman"/>
              </a:rPr>
              <a:t>pleasure</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acknowledge</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contributions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35" dirty="0">
                <a:latin typeface="Times New Roman"/>
                <a:cs typeface="Times New Roman"/>
              </a:rPr>
              <a:t> </a:t>
            </a:r>
            <a:r>
              <a:rPr sz="1200" dirty="0">
                <a:latin typeface="Times New Roman"/>
                <a:cs typeface="Times New Roman"/>
              </a:rPr>
              <a:t>who</a:t>
            </a:r>
            <a:r>
              <a:rPr sz="1200" spc="35" dirty="0">
                <a:latin typeface="Times New Roman"/>
                <a:cs typeface="Times New Roman"/>
              </a:rPr>
              <a:t> </a:t>
            </a:r>
            <a:r>
              <a:rPr sz="1200" dirty="0">
                <a:latin typeface="Times New Roman"/>
                <a:cs typeface="Times New Roman"/>
              </a:rPr>
              <a:t>have</a:t>
            </a:r>
            <a:r>
              <a:rPr sz="1200" spc="30" dirty="0">
                <a:latin typeface="Times New Roman"/>
                <a:cs typeface="Times New Roman"/>
              </a:rPr>
              <a:t> </a:t>
            </a:r>
            <a:r>
              <a:rPr sz="1200" dirty="0">
                <a:latin typeface="Times New Roman"/>
                <a:cs typeface="Times New Roman"/>
              </a:rPr>
              <a:t>helped</a:t>
            </a:r>
            <a:r>
              <a:rPr sz="1200" spc="45" dirty="0">
                <a:latin typeface="Times New Roman"/>
                <a:cs typeface="Times New Roman"/>
              </a:rPr>
              <a:t> </a:t>
            </a:r>
            <a:r>
              <a:rPr sz="1200" dirty="0">
                <a:latin typeface="Times New Roman"/>
                <a:cs typeface="Times New Roman"/>
              </a:rPr>
              <a:t>us</a:t>
            </a:r>
            <a:r>
              <a:rPr sz="1200" spc="4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supported </a:t>
            </a:r>
            <a:r>
              <a:rPr sz="1200" dirty="0">
                <a:latin typeface="Times New Roman"/>
                <a:cs typeface="Times New Roman"/>
              </a:rPr>
              <a:t>us</a:t>
            </a:r>
            <a:r>
              <a:rPr sz="1200" spc="-25" dirty="0">
                <a:latin typeface="Times New Roman"/>
                <a:cs typeface="Times New Roman"/>
              </a:rPr>
              <a:t> </a:t>
            </a:r>
            <a:r>
              <a:rPr sz="1200" dirty="0">
                <a:latin typeface="Times New Roman"/>
                <a:cs typeface="Times New Roman"/>
              </a:rPr>
              <a:t>during</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Project</a:t>
            </a:r>
            <a:r>
              <a:rPr sz="1200" spc="-20" dirty="0">
                <a:latin typeface="Times New Roman"/>
                <a:cs typeface="Times New Roman"/>
              </a:rPr>
              <a:t> </a:t>
            </a:r>
            <a:r>
              <a:rPr sz="1200" spc="-10" dirty="0">
                <a:latin typeface="Times New Roman"/>
                <a:cs typeface="Times New Roman"/>
              </a:rPr>
              <a:t>report.</a:t>
            </a:r>
            <a:endParaRPr sz="1200" dirty="0">
              <a:latin typeface="Times New Roman"/>
              <a:cs typeface="Times New Roman"/>
            </a:endParaRPr>
          </a:p>
          <a:p>
            <a:pPr marL="12700" marR="5080" indent="457200" algn="just">
              <a:lnSpc>
                <a:spcPct val="143800"/>
              </a:lnSpc>
              <a:spcBef>
                <a:spcPts val="990"/>
              </a:spcBef>
            </a:pPr>
            <a:r>
              <a:rPr sz="1200" spc="-10" dirty="0">
                <a:latin typeface="Times New Roman"/>
                <a:cs typeface="Times New Roman"/>
              </a:rPr>
              <a:t>First,</a:t>
            </a:r>
            <a:r>
              <a:rPr sz="1200" spc="-55" dirty="0">
                <a:latin typeface="Times New Roman"/>
                <a:cs typeface="Times New Roman"/>
              </a:rPr>
              <a:t> </a:t>
            </a:r>
            <a:r>
              <a:rPr sz="1200" dirty="0">
                <a:latin typeface="Times New Roman"/>
                <a:cs typeface="Times New Roman"/>
              </a:rPr>
              <a:t>we</a:t>
            </a:r>
            <a:r>
              <a:rPr sz="1200" spc="-60" dirty="0">
                <a:latin typeface="Times New Roman"/>
                <a:cs typeface="Times New Roman"/>
              </a:rPr>
              <a:t> </a:t>
            </a:r>
            <a:r>
              <a:rPr sz="1200" spc="-10" dirty="0">
                <a:latin typeface="Times New Roman"/>
                <a:cs typeface="Times New Roman"/>
              </a:rPr>
              <a:t>thank</a:t>
            </a:r>
            <a:r>
              <a:rPr sz="1200" spc="-50" dirty="0">
                <a:latin typeface="Times New Roman"/>
                <a:cs typeface="Times New Roman"/>
              </a:rPr>
              <a:t> </a:t>
            </a:r>
            <a:r>
              <a:rPr sz="1200" dirty="0">
                <a:latin typeface="Times New Roman"/>
                <a:cs typeface="Times New Roman"/>
              </a:rPr>
              <a:t>God</a:t>
            </a:r>
            <a:r>
              <a:rPr sz="1200" spc="-50" dirty="0">
                <a:latin typeface="Times New Roman"/>
                <a:cs typeface="Times New Roman"/>
              </a:rPr>
              <a:t> </a:t>
            </a:r>
            <a:r>
              <a:rPr sz="1200" spc="-10" dirty="0">
                <a:latin typeface="Times New Roman"/>
                <a:cs typeface="Times New Roman"/>
              </a:rPr>
              <a:t>for</a:t>
            </a:r>
            <a:r>
              <a:rPr sz="1200" spc="-65" dirty="0">
                <a:latin typeface="Times New Roman"/>
                <a:cs typeface="Times New Roman"/>
              </a:rPr>
              <a:t> </a:t>
            </a:r>
            <a:r>
              <a:rPr sz="1200" dirty="0">
                <a:latin typeface="Times New Roman"/>
                <a:cs typeface="Times New Roman"/>
              </a:rPr>
              <a:t>helping</a:t>
            </a:r>
            <a:r>
              <a:rPr sz="1200" spc="-55" dirty="0">
                <a:latin typeface="Times New Roman"/>
                <a:cs typeface="Times New Roman"/>
              </a:rPr>
              <a:t> </a:t>
            </a:r>
            <a:r>
              <a:rPr sz="1200" dirty="0">
                <a:latin typeface="Times New Roman"/>
                <a:cs typeface="Times New Roman"/>
              </a:rPr>
              <a:t>us</a:t>
            </a:r>
            <a:r>
              <a:rPr sz="1200" spc="-55" dirty="0">
                <a:latin typeface="Times New Roman"/>
                <a:cs typeface="Times New Roman"/>
              </a:rPr>
              <a:t> </a:t>
            </a:r>
            <a:r>
              <a:rPr sz="1200" dirty="0">
                <a:latin typeface="Times New Roman"/>
                <a:cs typeface="Times New Roman"/>
              </a:rPr>
              <a:t>in</a:t>
            </a:r>
            <a:r>
              <a:rPr sz="1200" spc="-55" dirty="0">
                <a:latin typeface="Times New Roman"/>
                <a:cs typeface="Times New Roman"/>
              </a:rPr>
              <a:t> </a:t>
            </a:r>
            <a:r>
              <a:rPr sz="1200" dirty="0">
                <a:latin typeface="Times New Roman"/>
                <a:cs typeface="Times New Roman"/>
              </a:rPr>
              <a:t>one</a:t>
            </a:r>
            <a:r>
              <a:rPr sz="1200" spc="-60" dirty="0">
                <a:latin typeface="Times New Roman"/>
                <a:cs typeface="Times New Roman"/>
              </a:rPr>
              <a:t> </a:t>
            </a:r>
            <a:r>
              <a:rPr sz="1200" dirty="0">
                <a:latin typeface="Times New Roman"/>
                <a:cs typeface="Times New Roman"/>
              </a:rPr>
              <a:t>way</a:t>
            </a:r>
            <a:r>
              <a:rPr sz="1200" spc="-5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spc="-10" dirty="0">
                <a:latin typeface="Times New Roman"/>
                <a:cs typeface="Times New Roman"/>
              </a:rPr>
              <a:t>another</a:t>
            </a:r>
            <a:r>
              <a:rPr sz="1200" spc="-6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providing</a:t>
            </a:r>
            <a:r>
              <a:rPr sz="1200" spc="-55" dirty="0">
                <a:latin typeface="Times New Roman"/>
                <a:cs typeface="Times New Roman"/>
              </a:rPr>
              <a:t> </a:t>
            </a:r>
            <a:r>
              <a:rPr sz="1200" dirty="0">
                <a:latin typeface="Times New Roman"/>
                <a:cs typeface="Times New Roman"/>
              </a:rPr>
              <a:t>strength</a:t>
            </a:r>
            <a:r>
              <a:rPr sz="1200" spc="-5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endurance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us.</a:t>
            </a:r>
            <a:r>
              <a:rPr sz="1200" spc="-40" dirty="0">
                <a:latin typeface="Times New Roman"/>
                <a:cs typeface="Times New Roman"/>
              </a:rPr>
              <a:t> </a:t>
            </a:r>
            <a:r>
              <a:rPr sz="1200" dirty="0">
                <a:latin typeface="Times New Roman"/>
                <a:cs typeface="Times New Roman"/>
              </a:rPr>
              <a:t>We</a:t>
            </a:r>
            <a:r>
              <a:rPr sz="1200" spc="-35" dirty="0">
                <a:latin typeface="Times New Roman"/>
                <a:cs typeface="Times New Roman"/>
              </a:rPr>
              <a:t> </a:t>
            </a:r>
            <a:r>
              <a:rPr sz="1200" dirty="0">
                <a:latin typeface="Times New Roman"/>
                <a:cs typeface="Times New Roman"/>
              </a:rPr>
              <a:t>wish</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express</a:t>
            </a:r>
            <a:r>
              <a:rPr sz="1200" spc="-30" dirty="0">
                <a:latin typeface="Times New Roman"/>
                <a:cs typeface="Times New Roman"/>
              </a:rPr>
              <a:t> </a:t>
            </a:r>
            <a:r>
              <a:rPr sz="1200" dirty="0">
                <a:latin typeface="Times New Roman"/>
                <a:cs typeface="Times New Roman"/>
              </a:rPr>
              <a:t>my</a:t>
            </a:r>
            <a:r>
              <a:rPr sz="1200" spc="-40" dirty="0">
                <a:latin typeface="Times New Roman"/>
                <a:cs typeface="Times New Roman"/>
              </a:rPr>
              <a:t> </a:t>
            </a:r>
            <a:r>
              <a:rPr sz="1200" dirty="0">
                <a:latin typeface="Times New Roman"/>
                <a:cs typeface="Times New Roman"/>
              </a:rPr>
              <a:t>sincere</a:t>
            </a:r>
            <a:r>
              <a:rPr sz="1200" spc="-45" dirty="0">
                <a:latin typeface="Times New Roman"/>
                <a:cs typeface="Times New Roman"/>
              </a:rPr>
              <a:t> </a:t>
            </a:r>
            <a:r>
              <a:rPr sz="1200" dirty="0">
                <a:latin typeface="Times New Roman"/>
                <a:cs typeface="Times New Roman"/>
              </a:rPr>
              <a:t>gratitude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indebtedness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our</a:t>
            </a:r>
            <a:r>
              <a:rPr sz="1200" spc="-40" dirty="0">
                <a:latin typeface="Times New Roman"/>
                <a:cs typeface="Times New Roman"/>
              </a:rPr>
              <a:t> </a:t>
            </a:r>
            <a:r>
              <a:rPr sz="1200" dirty="0">
                <a:latin typeface="Times New Roman"/>
                <a:cs typeface="Times New Roman"/>
              </a:rPr>
              <a:t>supervisor,</a:t>
            </a:r>
            <a:r>
              <a:rPr sz="1200" spc="-25" dirty="0">
                <a:latin typeface="Times New Roman"/>
                <a:cs typeface="Times New Roman"/>
              </a:rPr>
              <a:t> </a:t>
            </a:r>
            <a:r>
              <a:rPr sz="1200" dirty="0">
                <a:latin typeface="Times New Roman"/>
                <a:cs typeface="Times New Roman"/>
              </a:rPr>
              <a:t>Er.</a:t>
            </a:r>
            <a:r>
              <a:rPr sz="1200" spc="-30" dirty="0">
                <a:latin typeface="Times New Roman"/>
                <a:cs typeface="Times New Roman"/>
              </a:rPr>
              <a:t> </a:t>
            </a:r>
            <a:r>
              <a:rPr sz="1200" dirty="0">
                <a:latin typeface="Times New Roman"/>
                <a:cs typeface="Times New Roman"/>
              </a:rPr>
              <a:t>Sanchi</a:t>
            </a:r>
            <a:r>
              <a:rPr sz="1200" spc="-35" dirty="0">
                <a:latin typeface="Times New Roman"/>
                <a:cs typeface="Times New Roman"/>
              </a:rPr>
              <a:t> </a:t>
            </a:r>
            <a:r>
              <a:rPr sz="1200" spc="-10" dirty="0">
                <a:latin typeface="Times New Roman"/>
                <a:cs typeface="Times New Roman"/>
              </a:rPr>
              <a:t>Dhand, </a:t>
            </a:r>
            <a:r>
              <a:rPr sz="1200" dirty="0">
                <a:latin typeface="Times New Roman"/>
                <a:cs typeface="Times New Roman"/>
              </a:rPr>
              <a:t>Computer</a:t>
            </a:r>
            <a:r>
              <a:rPr sz="1200" spc="120" dirty="0">
                <a:latin typeface="Times New Roman"/>
                <a:cs typeface="Times New Roman"/>
              </a:rPr>
              <a:t> </a:t>
            </a:r>
            <a:r>
              <a:rPr sz="1200" dirty="0">
                <a:latin typeface="Times New Roman"/>
                <a:cs typeface="Times New Roman"/>
              </a:rPr>
              <a:t>Science</a:t>
            </a:r>
            <a:r>
              <a:rPr sz="1200" spc="130" dirty="0">
                <a:latin typeface="Times New Roman"/>
                <a:cs typeface="Times New Roman"/>
              </a:rPr>
              <a:t> </a:t>
            </a:r>
            <a:r>
              <a:rPr sz="1200" dirty="0">
                <a:latin typeface="Times New Roman"/>
                <a:cs typeface="Times New Roman"/>
              </a:rPr>
              <a:t>Department,</a:t>
            </a:r>
            <a:r>
              <a:rPr sz="1200" spc="125" dirty="0">
                <a:latin typeface="Times New Roman"/>
                <a:cs typeface="Times New Roman"/>
              </a:rPr>
              <a:t> </a:t>
            </a:r>
            <a:r>
              <a:rPr sz="1200" dirty="0">
                <a:latin typeface="Times New Roman"/>
                <a:cs typeface="Times New Roman"/>
              </a:rPr>
              <a:t>Gulzar</a:t>
            </a:r>
            <a:r>
              <a:rPr sz="1200" spc="120" dirty="0">
                <a:latin typeface="Times New Roman"/>
                <a:cs typeface="Times New Roman"/>
              </a:rPr>
              <a:t> </a:t>
            </a:r>
            <a:r>
              <a:rPr sz="1200" dirty="0">
                <a:latin typeface="Times New Roman"/>
                <a:cs typeface="Times New Roman"/>
              </a:rPr>
              <a:t>Group</a:t>
            </a:r>
            <a:r>
              <a:rPr sz="1200" spc="125" dirty="0">
                <a:latin typeface="Times New Roman"/>
                <a:cs typeface="Times New Roman"/>
              </a:rPr>
              <a:t> </a:t>
            </a:r>
            <a:r>
              <a:rPr sz="1200" dirty="0">
                <a:latin typeface="Times New Roman"/>
                <a:cs typeface="Times New Roman"/>
              </a:rPr>
              <a:t>of</a:t>
            </a:r>
            <a:r>
              <a:rPr sz="1200" spc="140" dirty="0">
                <a:latin typeface="Times New Roman"/>
                <a:cs typeface="Times New Roman"/>
              </a:rPr>
              <a:t> </a:t>
            </a:r>
            <a:r>
              <a:rPr sz="1200" dirty="0">
                <a:latin typeface="Times New Roman"/>
                <a:cs typeface="Times New Roman"/>
              </a:rPr>
              <a:t>Institutes,</a:t>
            </a:r>
            <a:r>
              <a:rPr sz="1200" spc="125" dirty="0">
                <a:latin typeface="Times New Roman"/>
                <a:cs typeface="Times New Roman"/>
              </a:rPr>
              <a:t> </a:t>
            </a:r>
            <a:r>
              <a:rPr sz="1200" dirty="0">
                <a:latin typeface="Times New Roman"/>
                <a:cs typeface="Times New Roman"/>
              </a:rPr>
              <a:t>Khanna,</a:t>
            </a:r>
            <a:r>
              <a:rPr sz="1200" spc="120" dirty="0">
                <a:latin typeface="Times New Roman"/>
                <a:cs typeface="Times New Roman"/>
              </a:rPr>
              <a:t> </a:t>
            </a:r>
            <a:r>
              <a:rPr sz="1200" dirty="0">
                <a:latin typeface="Times New Roman"/>
                <a:cs typeface="Times New Roman"/>
              </a:rPr>
              <a:t>Punjab;</a:t>
            </a:r>
            <a:r>
              <a:rPr sz="1200" spc="120" dirty="0">
                <a:latin typeface="Times New Roman"/>
                <a:cs typeface="Times New Roman"/>
              </a:rPr>
              <a:t> </a:t>
            </a:r>
            <a:r>
              <a:rPr sz="1200" dirty="0">
                <a:latin typeface="Times New Roman"/>
                <a:cs typeface="Times New Roman"/>
              </a:rPr>
              <a:t>for</a:t>
            </a:r>
            <a:r>
              <a:rPr sz="1200" spc="120" dirty="0">
                <a:latin typeface="Times New Roman"/>
                <a:cs typeface="Times New Roman"/>
              </a:rPr>
              <a:t> </a:t>
            </a:r>
            <a:r>
              <a:rPr sz="1200" dirty="0">
                <a:latin typeface="Times New Roman"/>
                <a:cs typeface="Times New Roman"/>
              </a:rPr>
              <a:t>her</a:t>
            </a:r>
            <a:r>
              <a:rPr sz="1200" spc="130" dirty="0">
                <a:latin typeface="Times New Roman"/>
                <a:cs typeface="Times New Roman"/>
              </a:rPr>
              <a:t> </a:t>
            </a:r>
            <a:r>
              <a:rPr sz="1200" dirty="0">
                <a:latin typeface="Times New Roman"/>
                <a:cs typeface="Times New Roman"/>
              </a:rPr>
              <a:t>intuitive</a:t>
            </a:r>
            <a:r>
              <a:rPr sz="1200" spc="120" dirty="0">
                <a:latin typeface="Times New Roman"/>
                <a:cs typeface="Times New Roman"/>
              </a:rPr>
              <a:t> </a:t>
            </a:r>
            <a:r>
              <a:rPr sz="1200" spc="-25" dirty="0">
                <a:latin typeface="Times New Roman"/>
                <a:cs typeface="Times New Roman"/>
              </a:rPr>
              <a:t>and </a:t>
            </a:r>
            <a:r>
              <a:rPr sz="1200" dirty="0">
                <a:latin typeface="Times New Roman"/>
                <a:cs typeface="Times New Roman"/>
              </a:rPr>
              <a:t>meticulous</a:t>
            </a:r>
            <a:r>
              <a:rPr sz="1200" spc="180" dirty="0">
                <a:latin typeface="Times New Roman"/>
                <a:cs typeface="Times New Roman"/>
              </a:rPr>
              <a:t> </a:t>
            </a:r>
            <a:r>
              <a:rPr sz="1200" dirty="0">
                <a:latin typeface="Times New Roman"/>
                <a:cs typeface="Times New Roman"/>
              </a:rPr>
              <a:t>guidance</a:t>
            </a:r>
            <a:r>
              <a:rPr sz="1200" spc="180" dirty="0">
                <a:latin typeface="Times New Roman"/>
                <a:cs typeface="Times New Roman"/>
              </a:rPr>
              <a:t> </a:t>
            </a:r>
            <a:r>
              <a:rPr sz="1200" dirty="0">
                <a:latin typeface="Times New Roman"/>
                <a:cs typeface="Times New Roman"/>
              </a:rPr>
              <a:t>and</a:t>
            </a:r>
            <a:r>
              <a:rPr sz="1200" spc="180" dirty="0">
                <a:latin typeface="Times New Roman"/>
                <a:cs typeface="Times New Roman"/>
              </a:rPr>
              <a:t> </a:t>
            </a:r>
            <a:r>
              <a:rPr sz="1200" dirty="0">
                <a:latin typeface="Times New Roman"/>
                <a:cs typeface="Times New Roman"/>
              </a:rPr>
              <a:t>perpetual</a:t>
            </a:r>
            <a:r>
              <a:rPr sz="1200" spc="180" dirty="0">
                <a:latin typeface="Times New Roman"/>
                <a:cs typeface="Times New Roman"/>
              </a:rPr>
              <a:t> </a:t>
            </a:r>
            <a:r>
              <a:rPr sz="1200" dirty="0">
                <a:latin typeface="Times New Roman"/>
                <a:cs typeface="Times New Roman"/>
              </a:rPr>
              <a:t>inspiration</a:t>
            </a:r>
            <a:r>
              <a:rPr sz="1200" spc="180" dirty="0">
                <a:latin typeface="Times New Roman"/>
                <a:cs typeface="Times New Roman"/>
              </a:rPr>
              <a:t> </a:t>
            </a:r>
            <a:r>
              <a:rPr sz="1200" dirty="0">
                <a:latin typeface="Times New Roman"/>
                <a:cs typeface="Times New Roman"/>
              </a:rPr>
              <a:t>in</a:t>
            </a:r>
            <a:r>
              <a:rPr sz="1200" spc="185" dirty="0">
                <a:latin typeface="Times New Roman"/>
                <a:cs typeface="Times New Roman"/>
              </a:rPr>
              <a:t> </a:t>
            </a:r>
            <a:r>
              <a:rPr sz="1200" dirty="0">
                <a:latin typeface="Times New Roman"/>
                <a:cs typeface="Times New Roman"/>
              </a:rPr>
              <a:t>completion</a:t>
            </a:r>
            <a:r>
              <a:rPr sz="1200" spc="180" dirty="0">
                <a:latin typeface="Times New Roman"/>
                <a:cs typeface="Times New Roman"/>
              </a:rPr>
              <a:t> </a:t>
            </a:r>
            <a:r>
              <a:rPr sz="1200" dirty="0">
                <a:latin typeface="Times New Roman"/>
                <a:cs typeface="Times New Roman"/>
              </a:rPr>
              <a:t>of</a:t>
            </a:r>
            <a:r>
              <a:rPr sz="1200" spc="180" dirty="0">
                <a:latin typeface="Times New Roman"/>
                <a:cs typeface="Times New Roman"/>
              </a:rPr>
              <a:t> </a:t>
            </a:r>
            <a:r>
              <a:rPr sz="1200" dirty="0">
                <a:latin typeface="Times New Roman"/>
                <a:cs typeface="Times New Roman"/>
              </a:rPr>
              <a:t>this</a:t>
            </a:r>
            <a:r>
              <a:rPr sz="1200" spc="185" dirty="0">
                <a:latin typeface="Times New Roman"/>
                <a:cs typeface="Times New Roman"/>
              </a:rPr>
              <a:t> </a:t>
            </a:r>
            <a:r>
              <a:rPr sz="1200" dirty="0">
                <a:latin typeface="Times New Roman"/>
                <a:cs typeface="Times New Roman"/>
              </a:rPr>
              <a:t>report.</a:t>
            </a:r>
            <a:r>
              <a:rPr sz="1200" spc="180" dirty="0">
                <a:latin typeface="Times New Roman"/>
                <a:cs typeface="Times New Roman"/>
              </a:rPr>
              <a:t> </a:t>
            </a:r>
            <a:r>
              <a:rPr sz="1200" dirty="0">
                <a:latin typeface="Times New Roman"/>
                <a:cs typeface="Times New Roman"/>
              </a:rPr>
              <a:t>In</a:t>
            </a:r>
            <a:r>
              <a:rPr sz="1200" spc="180" dirty="0">
                <a:latin typeface="Times New Roman"/>
                <a:cs typeface="Times New Roman"/>
              </a:rPr>
              <a:t> </a:t>
            </a:r>
            <a:r>
              <a:rPr sz="1200" dirty="0">
                <a:latin typeface="Times New Roman"/>
                <a:cs typeface="Times New Roman"/>
              </a:rPr>
              <a:t>spite</a:t>
            </a:r>
            <a:r>
              <a:rPr sz="1200" spc="180" dirty="0">
                <a:latin typeface="Times New Roman"/>
                <a:cs typeface="Times New Roman"/>
              </a:rPr>
              <a:t> </a:t>
            </a:r>
            <a:r>
              <a:rPr sz="1200" dirty="0">
                <a:latin typeface="Times New Roman"/>
                <a:cs typeface="Times New Roman"/>
              </a:rPr>
              <a:t>of</a:t>
            </a:r>
            <a:r>
              <a:rPr sz="1200" spc="180" dirty="0">
                <a:latin typeface="Times New Roman"/>
                <a:cs typeface="Times New Roman"/>
              </a:rPr>
              <a:t> </a:t>
            </a:r>
            <a:r>
              <a:rPr sz="1200" dirty="0">
                <a:latin typeface="Times New Roman"/>
                <a:cs typeface="Times New Roman"/>
              </a:rPr>
              <a:t>her</a:t>
            </a:r>
            <a:r>
              <a:rPr sz="1200" spc="180" dirty="0">
                <a:latin typeface="Times New Roman"/>
                <a:cs typeface="Times New Roman"/>
              </a:rPr>
              <a:t> </a:t>
            </a:r>
            <a:r>
              <a:rPr sz="1200" spc="-20" dirty="0">
                <a:latin typeface="Times New Roman"/>
                <a:cs typeface="Times New Roman"/>
              </a:rPr>
              <a:t>busy </a:t>
            </a:r>
            <a:r>
              <a:rPr sz="1200" dirty="0">
                <a:latin typeface="Times New Roman"/>
                <a:cs typeface="Times New Roman"/>
              </a:rPr>
              <a:t>schedule,</a:t>
            </a:r>
            <a:r>
              <a:rPr sz="1200" spc="260" dirty="0">
                <a:latin typeface="Times New Roman"/>
                <a:cs typeface="Times New Roman"/>
              </a:rPr>
              <a:t> </a:t>
            </a:r>
            <a:r>
              <a:rPr sz="1200" dirty="0">
                <a:latin typeface="Times New Roman"/>
                <a:cs typeface="Times New Roman"/>
              </a:rPr>
              <a:t>she</a:t>
            </a:r>
            <a:r>
              <a:rPr sz="1200" spc="260" dirty="0">
                <a:latin typeface="Times New Roman"/>
                <a:cs typeface="Times New Roman"/>
              </a:rPr>
              <a:t> </a:t>
            </a:r>
            <a:r>
              <a:rPr sz="1200" dirty="0">
                <a:latin typeface="Times New Roman"/>
                <a:cs typeface="Times New Roman"/>
              </a:rPr>
              <a:t>rendered</a:t>
            </a:r>
            <a:r>
              <a:rPr sz="1200" spc="275" dirty="0">
                <a:latin typeface="Times New Roman"/>
                <a:cs typeface="Times New Roman"/>
              </a:rPr>
              <a:t> </a:t>
            </a:r>
            <a:r>
              <a:rPr sz="1200" dirty="0">
                <a:latin typeface="Times New Roman"/>
                <a:cs typeface="Times New Roman"/>
              </a:rPr>
              <a:t>help</a:t>
            </a:r>
            <a:r>
              <a:rPr sz="1200" spc="270" dirty="0">
                <a:latin typeface="Times New Roman"/>
                <a:cs typeface="Times New Roman"/>
              </a:rPr>
              <a:t> </a:t>
            </a:r>
            <a:r>
              <a:rPr sz="1200" dirty="0">
                <a:latin typeface="Times New Roman"/>
                <a:cs typeface="Times New Roman"/>
              </a:rPr>
              <a:t>whenever</a:t>
            </a:r>
            <a:r>
              <a:rPr sz="1200" spc="260" dirty="0">
                <a:latin typeface="Times New Roman"/>
                <a:cs typeface="Times New Roman"/>
              </a:rPr>
              <a:t> </a:t>
            </a:r>
            <a:r>
              <a:rPr sz="1200" dirty="0">
                <a:latin typeface="Times New Roman"/>
                <a:cs typeface="Times New Roman"/>
              </a:rPr>
              <a:t>needed,</a:t>
            </a:r>
            <a:r>
              <a:rPr sz="1200" spc="265" dirty="0">
                <a:latin typeface="Times New Roman"/>
                <a:cs typeface="Times New Roman"/>
              </a:rPr>
              <a:t> </a:t>
            </a:r>
            <a:r>
              <a:rPr sz="1200" dirty="0">
                <a:latin typeface="Times New Roman"/>
                <a:cs typeface="Times New Roman"/>
              </a:rPr>
              <a:t>giving</a:t>
            </a:r>
            <a:r>
              <a:rPr sz="1200" spc="260" dirty="0">
                <a:latin typeface="Times New Roman"/>
                <a:cs typeface="Times New Roman"/>
              </a:rPr>
              <a:t> </a:t>
            </a:r>
            <a:r>
              <a:rPr sz="1200" dirty="0">
                <a:latin typeface="Times New Roman"/>
                <a:cs typeface="Times New Roman"/>
              </a:rPr>
              <a:t>useful</a:t>
            </a:r>
            <a:r>
              <a:rPr sz="1200" spc="260" dirty="0">
                <a:latin typeface="Times New Roman"/>
                <a:cs typeface="Times New Roman"/>
              </a:rPr>
              <a:t> </a:t>
            </a:r>
            <a:r>
              <a:rPr sz="1200" dirty="0">
                <a:latin typeface="Times New Roman"/>
                <a:cs typeface="Times New Roman"/>
              </a:rPr>
              <a:t>suggestions</a:t>
            </a:r>
            <a:r>
              <a:rPr sz="1200" spc="270" dirty="0">
                <a:latin typeface="Times New Roman"/>
                <a:cs typeface="Times New Roman"/>
              </a:rPr>
              <a:t> </a:t>
            </a:r>
            <a:r>
              <a:rPr sz="1200" dirty="0">
                <a:latin typeface="Times New Roman"/>
                <a:cs typeface="Times New Roman"/>
              </a:rPr>
              <a:t>and</a:t>
            </a:r>
            <a:r>
              <a:rPr sz="1200" spc="260" dirty="0">
                <a:latin typeface="Times New Roman"/>
                <a:cs typeface="Times New Roman"/>
              </a:rPr>
              <a:t> </a:t>
            </a:r>
            <a:r>
              <a:rPr sz="1200" dirty="0">
                <a:latin typeface="Times New Roman"/>
                <a:cs typeface="Times New Roman"/>
              </a:rPr>
              <a:t>holding</a:t>
            </a:r>
            <a:r>
              <a:rPr sz="1200" spc="295" dirty="0">
                <a:latin typeface="Times New Roman"/>
                <a:cs typeface="Times New Roman"/>
              </a:rPr>
              <a:t> </a:t>
            </a:r>
            <a:r>
              <a:rPr sz="1200" spc="-10" dirty="0">
                <a:latin typeface="Times New Roman"/>
                <a:cs typeface="Times New Roman"/>
              </a:rPr>
              <a:t>informal </a:t>
            </a:r>
            <a:r>
              <a:rPr sz="1200" dirty="0">
                <a:latin typeface="Times New Roman"/>
                <a:cs typeface="Times New Roman"/>
              </a:rPr>
              <a:t>discussions.</a:t>
            </a:r>
            <a:r>
              <a:rPr sz="1200" spc="-50" dirty="0">
                <a:latin typeface="Times New Roman"/>
                <a:cs typeface="Times New Roman"/>
              </a:rPr>
              <a:t> </a:t>
            </a:r>
            <a:r>
              <a:rPr sz="1200" spc="-10" dirty="0">
                <a:latin typeface="Times New Roman"/>
                <a:cs typeface="Times New Roman"/>
              </a:rPr>
              <a:t>Her</a:t>
            </a:r>
            <a:r>
              <a:rPr sz="1200" spc="-50" dirty="0">
                <a:latin typeface="Times New Roman"/>
                <a:cs typeface="Times New Roman"/>
              </a:rPr>
              <a:t> </a:t>
            </a:r>
            <a:r>
              <a:rPr sz="1200" spc="-10" dirty="0">
                <a:latin typeface="Times New Roman"/>
                <a:cs typeface="Times New Roman"/>
              </a:rPr>
              <a:t>invaluable</a:t>
            </a:r>
            <a:r>
              <a:rPr sz="1200" spc="-50" dirty="0">
                <a:latin typeface="Times New Roman"/>
                <a:cs typeface="Times New Roman"/>
              </a:rPr>
              <a:t> </a:t>
            </a:r>
            <a:r>
              <a:rPr sz="1200" spc="-10" dirty="0">
                <a:latin typeface="Times New Roman"/>
                <a:cs typeface="Times New Roman"/>
              </a:rPr>
              <a:t>guidance</a:t>
            </a:r>
            <a:r>
              <a:rPr sz="1200" spc="-5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support</a:t>
            </a:r>
            <a:r>
              <a:rPr sz="1200" spc="-45" dirty="0">
                <a:latin typeface="Times New Roman"/>
                <a:cs typeface="Times New Roman"/>
              </a:rPr>
              <a:t> </a:t>
            </a:r>
            <a:r>
              <a:rPr sz="1200" spc="-10" dirty="0">
                <a:latin typeface="Times New Roman"/>
                <a:cs typeface="Times New Roman"/>
              </a:rPr>
              <a:t>throughout</a:t>
            </a:r>
            <a:r>
              <a:rPr sz="1200" spc="-45" dirty="0">
                <a:latin typeface="Times New Roman"/>
                <a:cs typeface="Times New Roman"/>
              </a:rPr>
              <a:t> </a:t>
            </a: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cannot</a:t>
            </a:r>
            <a:r>
              <a:rPr sz="1200" spc="-45" dirty="0">
                <a:latin typeface="Times New Roman"/>
                <a:cs typeface="Times New Roman"/>
              </a:rPr>
              <a:t> </a:t>
            </a:r>
            <a:r>
              <a:rPr sz="1200" dirty="0">
                <a:latin typeface="Times New Roman"/>
                <a:cs typeface="Times New Roman"/>
              </a:rPr>
              <a:t>be</a:t>
            </a:r>
            <a:r>
              <a:rPr sz="1200" spc="-50" dirty="0">
                <a:latin typeface="Times New Roman"/>
                <a:cs typeface="Times New Roman"/>
              </a:rPr>
              <a:t> </a:t>
            </a:r>
            <a:r>
              <a:rPr sz="1200" dirty="0">
                <a:latin typeface="Times New Roman"/>
                <a:cs typeface="Times New Roman"/>
              </a:rPr>
              <a:t>written</a:t>
            </a:r>
            <a:r>
              <a:rPr sz="1200" spc="-45" dirty="0">
                <a:latin typeface="Times New Roman"/>
                <a:cs typeface="Times New Roman"/>
              </a:rPr>
              <a:t> </a:t>
            </a:r>
            <a:r>
              <a:rPr sz="1200" dirty="0">
                <a:latin typeface="Times New Roman"/>
                <a:cs typeface="Times New Roman"/>
              </a:rPr>
              <a:t>down</a:t>
            </a:r>
            <a:r>
              <a:rPr sz="1200" spc="-5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spc="-25" dirty="0">
                <a:latin typeface="Times New Roman"/>
                <a:cs typeface="Times New Roman"/>
              </a:rPr>
              <a:t>few </a:t>
            </a:r>
            <a:r>
              <a:rPr sz="1200" dirty="0">
                <a:latin typeface="Times New Roman"/>
                <a:cs typeface="Times New Roman"/>
              </a:rPr>
              <a:t>words.</a:t>
            </a:r>
            <a:r>
              <a:rPr sz="1200" spc="-25" dirty="0">
                <a:latin typeface="Times New Roman"/>
                <a:cs typeface="Times New Roman"/>
              </a:rPr>
              <a:t> </a:t>
            </a:r>
            <a:r>
              <a:rPr sz="1200" dirty="0">
                <a:latin typeface="Times New Roman"/>
                <a:cs typeface="Times New Roman"/>
              </a:rPr>
              <a:t>We</a:t>
            </a:r>
            <a:r>
              <a:rPr sz="1200" spc="-20" dirty="0">
                <a:latin typeface="Times New Roman"/>
                <a:cs typeface="Times New Roman"/>
              </a:rPr>
              <a:t> </a:t>
            </a:r>
            <a:r>
              <a:rPr sz="1200" dirty="0">
                <a:latin typeface="Times New Roman"/>
                <a:cs typeface="Times New Roman"/>
              </a:rPr>
              <a:t>also</a:t>
            </a:r>
            <a:r>
              <a:rPr sz="1200" spc="-25" dirty="0">
                <a:latin typeface="Times New Roman"/>
                <a:cs typeface="Times New Roman"/>
              </a:rPr>
              <a:t> </a:t>
            </a:r>
            <a:r>
              <a:rPr sz="1200" dirty="0">
                <a:latin typeface="Times New Roman"/>
                <a:cs typeface="Times New Roman"/>
              </a:rPr>
              <a:t>thank</a:t>
            </a:r>
            <a:r>
              <a:rPr sz="1200" spc="-25" dirty="0">
                <a:latin typeface="Times New Roman"/>
                <a:cs typeface="Times New Roman"/>
              </a:rPr>
              <a:t> </a:t>
            </a:r>
            <a:r>
              <a:rPr sz="1200" dirty="0">
                <a:latin typeface="Times New Roman"/>
                <a:cs typeface="Times New Roman"/>
              </a:rPr>
              <a:t>her</a:t>
            </a:r>
            <a:r>
              <a:rPr sz="1200" spc="-2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providing</a:t>
            </a:r>
            <a:r>
              <a:rPr sz="1200" spc="-20" dirty="0">
                <a:latin typeface="Times New Roman"/>
                <a:cs typeface="Times New Roman"/>
              </a:rPr>
              <a:t> </a:t>
            </a:r>
            <a:r>
              <a:rPr sz="1200" dirty="0">
                <a:latin typeface="Times New Roman"/>
                <a:cs typeface="Times New Roman"/>
              </a:rPr>
              <a:t>facilities</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my</a:t>
            </a:r>
            <a:r>
              <a:rPr sz="1200" spc="-25"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department</a:t>
            </a:r>
            <a:r>
              <a:rPr sz="1200" spc="-25" dirty="0">
                <a:latin typeface="Times New Roman"/>
                <a:cs typeface="Times New Roman"/>
              </a:rPr>
              <a:t> </a:t>
            </a:r>
            <a:r>
              <a:rPr sz="1200" spc="-10" dirty="0">
                <a:latin typeface="Times New Roman"/>
                <a:cs typeface="Times New Roman"/>
              </a:rPr>
              <a:t>name.</a:t>
            </a:r>
            <a:endParaRPr sz="1200" dirty="0">
              <a:latin typeface="Times New Roman"/>
              <a:cs typeface="Times New Roman"/>
            </a:endParaRPr>
          </a:p>
          <a:p>
            <a:pPr marL="12700" marR="5715" indent="457200" algn="just">
              <a:lnSpc>
                <a:spcPct val="143800"/>
              </a:lnSpc>
              <a:spcBef>
                <a:spcPts val="1000"/>
              </a:spcBef>
            </a:pPr>
            <a:r>
              <a:rPr sz="1200" dirty="0">
                <a:latin typeface="Times New Roman"/>
                <a:cs typeface="Times New Roman"/>
              </a:rPr>
              <a:t>We</a:t>
            </a:r>
            <a:r>
              <a:rPr sz="1200" spc="3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also</a:t>
            </a:r>
            <a:r>
              <a:rPr sz="1200" spc="40" dirty="0">
                <a:latin typeface="Times New Roman"/>
                <a:cs typeface="Times New Roman"/>
              </a:rPr>
              <a:t> </a:t>
            </a:r>
            <a:r>
              <a:rPr sz="1200" dirty="0">
                <a:latin typeface="Times New Roman"/>
                <a:cs typeface="Times New Roman"/>
              </a:rPr>
              <a:t>humbly</a:t>
            </a:r>
            <a:r>
              <a:rPr sz="1200" spc="35" dirty="0">
                <a:latin typeface="Times New Roman"/>
                <a:cs typeface="Times New Roman"/>
              </a:rPr>
              <a:t> </a:t>
            </a:r>
            <a:r>
              <a:rPr sz="1200" dirty="0">
                <a:latin typeface="Times New Roman"/>
                <a:cs typeface="Times New Roman"/>
              </a:rPr>
              <a:t>obliged</a:t>
            </a:r>
            <a:r>
              <a:rPr sz="1200" spc="35"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support</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our</a:t>
            </a:r>
            <a:r>
              <a:rPr sz="1200" spc="35" dirty="0">
                <a:latin typeface="Times New Roman"/>
                <a:cs typeface="Times New Roman"/>
              </a:rPr>
              <a:t> </a:t>
            </a:r>
            <a:r>
              <a:rPr sz="1200" dirty="0">
                <a:latin typeface="Times New Roman"/>
                <a:cs typeface="Times New Roman"/>
              </a:rPr>
              <a:t>group</a:t>
            </a:r>
            <a:r>
              <a:rPr sz="1200" spc="35" dirty="0">
                <a:latin typeface="Times New Roman"/>
                <a:cs typeface="Times New Roman"/>
              </a:rPr>
              <a:t> </a:t>
            </a:r>
            <a:r>
              <a:rPr sz="1200" dirty="0">
                <a:latin typeface="Times New Roman"/>
                <a:cs typeface="Times New Roman"/>
              </a:rPr>
              <a:t>members</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friends</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spc="-20" dirty="0">
                <a:latin typeface="Times New Roman"/>
                <a:cs typeface="Times New Roman"/>
              </a:rPr>
              <a:t>love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caring</a:t>
            </a:r>
            <a:r>
              <a:rPr sz="1200" spc="25" dirty="0">
                <a:latin typeface="Times New Roman"/>
                <a:cs typeface="Times New Roman"/>
              </a:rPr>
              <a:t> </a:t>
            </a:r>
            <a:r>
              <a:rPr sz="1200" dirty="0">
                <a:latin typeface="Times New Roman"/>
                <a:cs typeface="Times New Roman"/>
              </a:rPr>
              <a:t>attitude.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sentimental</a:t>
            </a:r>
            <a:r>
              <a:rPr sz="1200" spc="30"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they</a:t>
            </a:r>
            <a:r>
              <a:rPr sz="1200" spc="10" dirty="0">
                <a:latin typeface="Times New Roman"/>
                <a:cs typeface="Times New Roman"/>
              </a:rPr>
              <a:t> </a:t>
            </a:r>
            <a:r>
              <a:rPr sz="1200" dirty="0">
                <a:latin typeface="Times New Roman"/>
                <a:cs typeface="Times New Roman"/>
              </a:rPr>
              <a:t>rendered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us</a:t>
            </a:r>
            <a:r>
              <a:rPr sz="1200" spc="3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invaluable</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everlasting.</a:t>
            </a:r>
            <a:r>
              <a:rPr sz="1200" spc="25" dirty="0">
                <a:latin typeface="Times New Roman"/>
                <a:cs typeface="Times New Roman"/>
              </a:rPr>
              <a:t> </a:t>
            </a:r>
            <a:r>
              <a:rPr sz="1200" spc="-20" dirty="0">
                <a:latin typeface="Times New Roman"/>
                <a:cs typeface="Times New Roman"/>
              </a:rPr>
              <a:t>They </a:t>
            </a:r>
            <a:r>
              <a:rPr sz="1200" dirty="0">
                <a:latin typeface="Times New Roman"/>
                <a:cs typeface="Times New Roman"/>
              </a:rPr>
              <a:t>have</a:t>
            </a:r>
            <a:r>
              <a:rPr sz="1200" spc="30" dirty="0">
                <a:latin typeface="Times New Roman"/>
                <a:cs typeface="Times New Roman"/>
              </a:rPr>
              <a:t> </a:t>
            </a:r>
            <a:r>
              <a:rPr sz="1200" dirty="0">
                <a:latin typeface="Times New Roman"/>
                <a:cs typeface="Times New Roman"/>
              </a:rPr>
              <a:t>helped</a:t>
            </a:r>
            <a:r>
              <a:rPr sz="1200" spc="35" dirty="0">
                <a:latin typeface="Times New Roman"/>
                <a:cs typeface="Times New Roman"/>
              </a:rPr>
              <a:t> </a:t>
            </a:r>
            <a:r>
              <a:rPr sz="1200" dirty="0">
                <a:latin typeface="Times New Roman"/>
                <a:cs typeface="Times New Roman"/>
              </a:rPr>
              <a:t>us</a:t>
            </a:r>
            <a:r>
              <a:rPr sz="1200" spc="40" dirty="0">
                <a:latin typeface="Times New Roman"/>
                <a:cs typeface="Times New Roman"/>
              </a:rPr>
              <a:t> </a:t>
            </a:r>
            <a:r>
              <a:rPr sz="1200" dirty="0">
                <a:latin typeface="Times New Roman"/>
                <a:cs typeface="Times New Roman"/>
              </a:rPr>
              <a:t>through</a:t>
            </a:r>
            <a:r>
              <a:rPr sz="1200" spc="35" dirty="0">
                <a:latin typeface="Times New Roman"/>
                <a:cs typeface="Times New Roman"/>
              </a:rPr>
              <a:t> </a:t>
            </a:r>
            <a:r>
              <a:rPr sz="1200" dirty="0">
                <a:latin typeface="Times New Roman"/>
                <a:cs typeface="Times New Roman"/>
              </a:rPr>
              <a:t>thick</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thin</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enabled</a:t>
            </a:r>
            <a:r>
              <a:rPr sz="1200" spc="40" dirty="0">
                <a:latin typeface="Times New Roman"/>
                <a:cs typeface="Times New Roman"/>
              </a:rPr>
              <a:t> </a:t>
            </a:r>
            <a:r>
              <a:rPr sz="1200" dirty="0">
                <a:latin typeface="Times New Roman"/>
                <a:cs typeface="Times New Roman"/>
              </a:rPr>
              <a:t>us</a:t>
            </a:r>
            <a:r>
              <a:rPr sz="1200" spc="4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complete</a:t>
            </a:r>
            <a:r>
              <a:rPr sz="1200" spc="6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work</a:t>
            </a:r>
            <a:r>
              <a:rPr sz="1200" spc="3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joy</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vigor.</a:t>
            </a:r>
            <a:r>
              <a:rPr sz="1200" spc="35" dirty="0">
                <a:latin typeface="Times New Roman"/>
                <a:cs typeface="Times New Roman"/>
              </a:rPr>
              <a:t> </a:t>
            </a:r>
            <a:r>
              <a:rPr sz="1200" spc="-25" dirty="0">
                <a:latin typeface="Times New Roman"/>
                <a:cs typeface="Times New Roman"/>
              </a:rPr>
              <a:t>We </a:t>
            </a:r>
            <a:r>
              <a:rPr sz="1200" dirty="0">
                <a:latin typeface="Times New Roman"/>
                <a:cs typeface="Times New Roman"/>
              </a:rPr>
              <a:t>thank</a:t>
            </a:r>
            <a:r>
              <a:rPr sz="1200" spc="95" dirty="0">
                <a:latin typeface="Times New Roman"/>
                <a:cs typeface="Times New Roman"/>
              </a:rPr>
              <a:t> </a:t>
            </a:r>
            <a:r>
              <a:rPr sz="1200" dirty="0">
                <a:latin typeface="Times New Roman"/>
                <a:cs typeface="Times New Roman"/>
              </a:rPr>
              <a:t>the</a:t>
            </a:r>
            <a:r>
              <a:rPr sz="1200" spc="100" dirty="0">
                <a:latin typeface="Times New Roman"/>
                <a:cs typeface="Times New Roman"/>
              </a:rPr>
              <a:t> </a:t>
            </a:r>
            <a:r>
              <a:rPr sz="1200" dirty="0">
                <a:latin typeface="Times New Roman"/>
                <a:cs typeface="Times New Roman"/>
              </a:rPr>
              <a:t>group</a:t>
            </a:r>
            <a:r>
              <a:rPr sz="1200" spc="100" dirty="0">
                <a:latin typeface="Times New Roman"/>
                <a:cs typeface="Times New Roman"/>
              </a:rPr>
              <a:t> </a:t>
            </a:r>
            <a:r>
              <a:rPr sz="1200" dirty="0">
                <a:latin typeface="Times New Roman"/>
                <a:cs typeface="Times New Roman"/>
              </a:rPr>
              <a:t>members</a:t>
            </a:r>
            <a:r>
              <a:rPr sz="1200" spc="105" dirty="0">
                <a:latin typeface="Times New Roman"/>
                <a:cs typeface="Times New Roman"/>
              </a:rPr>
              <a:t> </a:t>
            </a:r>
            <a:r>
              <a:rPr sz="1200" dirty="0">
                <a:latin typeface="Times New Roman"/>
                <a:cs typeface="Times New Roman"/>
              </a:rPr>
              <a:t>for</a:t>
            </a:r>
            <a:r>
              <a:rPr sz="1200" spc="95" dirty="0">
                <a:latin typeface="Times New Roman"/>
                <a:cs typeface="Times New Roman"/>
              </a:rPr>
              <a:t> </a:t>
            </a:r>
            <a:r>
              <a:rPr sz="1200" dirty="0">
                <a:latin typeface="Times New Roman"/>
                <a:cs typeface="Times New Roman"/>
              </a:rPr>
              <a:t>entrusting</a:t>
            </a:r>
            <a:r>
              <a:rPr sz="1200" spc="105" dirty="0">
                <a:latin typeface="Times New Roman"/>
                <a:cs typeface="Times New Roman"/>
              </a:rPr>
              <a:t> </a:t>
            </a:r>
            <a:r>
              <a:rPr sz="1200" dirty="0">
                <a:latin typeface="Times New Roman"/>
                <a:cs typeface="Times New Roman"/>
              </a:rPr>
              <a:t>in</a:t>
            </a:r>
            <a:r>
              <a:rPr sz="1200" spc="105" dirty="0">
                <a:latin typeface="Times New Roman"/>
                <a:cs typeface="Times New Roman"/>
              </a:rPr>
              <a:t> </a:t>
            </a:r>
            <a:r>
              <a:rPr sz="1200" dirty="0">
                <a:latin typeface="Times New Roman"/>
                <a:cs typeface="Times New Roman"/>
              </a:rPr>
              <a:t>each</a:t>
            </a:r>
            <a:r>
              <a:rPr sz="1200" spc="110" dirty="0">
                <a:latin typeface="Times New Roman"/>
                <a:cs typeface="Times New Roman"/>
              </a:rPr>
              <a:t> </a:t>
            </a:r>
            <a:r>
              <a:rPr sz="1200" dirty="0">
                <a:latin typeface="Times New Roman"/>
                <a:cs typeface="Times New Roman"/>
              </a:rPr>
              <a:t>other</a:t>
            </a:r>
            <a:r>
              <a:rPr sz="1200" spc="95"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following</a:t>
            </a:r>
            <a:r>
              <a:rPr sz="1200" spc="105" dirty="0">
                <a:latin typeface="Times New Roman"/>
                <a:cs typeface="Times New Roman"/>
              </a:rPr>
              <a:t> </a:t>
            </a:r>
            <a:r>
              <a:rPr sz="1200" dirty="0">
                <a:latin typeface="Times New Roman"/>
                <a:cs typeface="Times New Roman"/>
              </a:rPr>
              <a:t>directions,</a:t>
            </a:r>
            <a:r>
              <a:rPr sz="1200" spc="105" dirty="0">
                <a:latin typeface="Times New Roman"/>
                <a:cs typeface="Times New Roman"/>
              </a:rPr>
              <a:t> </a:t>
            </a:r>
            <a:r>
              <a:rPr sz="1200" dirty="0">
                <a:latin typeface="Times New Roman"/>
                <a:cs typeface="Times New Roman"/>
              </a:rPr>
              <a:t>without</a:t>
            </a:r>
            <a:r>
              <a:rPr sz="1200" spc="105" dirty="0">
                <a:latin typeface="Times New Roman"/>
                <a:cs typeface="Times New Roman"/>
              </a:rPr>
              <a:t> </a:t>
            </a:r>
            <a:r>
              <a:rPr sz="1200" dirty="0">
                <a:latin typeface="Times New Roman"/>
                <a:cs typeface="Times New Roman"/>
              </a:rPr>
              <a:t>them</a:t>
            </a:r>
            <a:r>
              <a:rPr sz="1200" spc="105" dirty="0">
                <a:latin typeface="Times New Roman"/>
                <a:cs typeface="Times New Roman"/>
              </a:rPr>
              <a:t> </a:t>
            </a:r>
            <a:r>
              <a:rPr sz="1200" spc="-20" dirty="0">
                <a:latin typeface="Times New Roman"/>
                <a:cs typeface="Times New Roman"/>
              </a:rPr>
              <a:t>this </a:t>
            </a:r>
            <a:r>
              <a:rPr sz="1200" dirty="0">
                <a:latin typeface="Times New Roman"/>
                <a:cs typeface="Times New Roman"/>
              </a:rPr>
              <a:t>report</a:t>
            </a:r>
            <a:r>
              <a:rPr sz="1200" spc="-30" dirty="0">
                <a:latin typeface="Times New Roman"/>
                <a:cs typeface="Times New Roman"/>
              </a:rPr>
              <a:t> </a:t>
            </a:r>
            <a:r>
              <a:rPr sz="1200" dirty="0">
                <a:latin typeface="Times New Roman"/>
                <a:cs typeface="Times New Roman"/>
              </a:rPr>
              <a:t>would</a:t>
            </a:r>
            <a:r>
              <a:rPr sz="1200" spc="-25" dirty="0">
                <a:latin typeface="Times New Roman"/>
                <a:cs typeface="Times New Roman"/>
              </a:rPr>
              <a:t> </a:t>
            </a:r>
            <a:r>
              <a:rPr sz="1200" dirty="0">
                <a:latin typeface="Times New Roman"/>
                <a:cs typeface="Times New Roman"/>
              </a:rPr>
              <a:t>never</a:t>
            </a:r>
            <a:r>
              <a:rPr sz="1200" spc="-30" dirty="0">
                <a:latin typeface="Times New Roman"/>
                <a:cs typeface="Times New Roman"/>
              </a:rPr>
              <a:t> </a:t>
            </a:r>
            <a:r>
              <a:rPr sz="1200" dirty="0">
                <a:latin typeface="Times New Roman"/>
                <a:cs typeface="Times New Roman"/>
              </a:rPr>
              <a:t>have</a:t>
            </a:r>
            <a:r>
              <a:rPr sz="1200" spc="-20" dirty="0">
                <a:latin typeface="Times New Roman"/>
                <a:cs typeface="Times New Roman"/>
              </a:rPr>
              <a:t> </a:t>
            </a:r>
            <a:r>
              <a:rPr sz="1200" dirty="0">
                <a:latin typeface="Times New Roman"/>
                <a:cs typeface="Times New Roman"/>
              </a:rPr>
              <a:t>been</a:t>
            </a:r>
            <a:r>
              <a:rPr sz="1200" spc="-30" dirty="0">
                <a:latin typeface="Times New Roman"/>
                <a:cs typeface="Times New Roman"/>
              </a:rPr>
              <a:t> </a:t>
            </a:r>
            <a:r>
              <a:rPr sz="1200" spc="-10" dirty="0">
                <a:latin typeface="Times New Roman"/>
                <a:cs typeface="Times New Roman"/>
              </a:rPr>
              <a:t>possible.</a:t>
            </a:r>
            <a:endParaRPr sz="1200" dirty="0">
              <a:latin typeface="Times New Roman"/>
              <a:cs typeface="Times New Roman"/>
            </a:endParaRPr>
          </a:p>
          <a:p>
            <a:pPr marL="12700" marR="8255" indent="457200" algn="just">
              <a:lnSpc>
                <a:spcPct val="143600"/>
              </a:lnSpc>
              <a:spcBef>
                <a:spcPts val="1005"/>
              </a:spcBef>
            </a:pPr>
            <a:r>
              <a:rPr sz="1200" dirty="0">
                <a:latin typeface="Times New Roman"/>
                <a:cs typeface="Times New Roman"/>
              </a:rPr>
              <a:t>We</a:t>
            </a:r>
            <a:r>
              <a:rPr sz="1200" spc="265" dirty="0">
                <a:latin typeface="Times New Roman"/>
                <a:cs typeface="Times New Roman"/>
              </a:rPr>
              <a:t> </a:t>
            </a:r>
            <a:r>
              <a:rPr sz="1200" dirty="0">
                <a:latin typeface="Times New Roman"/>
                <a:cs typeface="Times New Roman"/>
              </a:rPr>
              <a:t>are</a:t>
            </a:r>
            <a:r>
              <a:rPr sz="1200" spc="265" dirty="0">
                <a:latin typeface="Times New Roman"/>
                <a:cs typeface="Times New Roman"/>
              </a:rPr>
              <a:t> </a:t>
            </a:r>
            <a:r>
              <a:rPr sz="1200" dirty="0">
                <a:latin typeface="Times New Roman"/>
                <a:cs typeface="Times New Roman"/>
              </a:rPr>
              <a:t>also</a:t>
            </a:r>
            <a:r>
              <a:rPr sz="1200" spc="270" dirty="0">
                <a:latin typeface="Times New Roman"/>
                <a:cs typeface="Times New Roman"/>
              </a:rPr>
              <a:t> </a:t>
            </a:r>
            <a:r>
              <a:rPr sz="1200" dirty="0">
                <a:latin typeface="Times New Roman"/>
                <a:cs typeface="Times New Roman"/>
              </a:rPr>
              <a:t>thankful</a:t>
            </a:r>
            <a:r>
              <a:rPr sz="1200" spc="265" dirty="0">
                <a:latin typeface="Times New Roman"/>
                <a:cs typeface="Times New Roman"/>
              </a:rPr>
              <a:t> </a:t>
            </a:r>
            <a:r>
              <a:rPr sz="1200" dirty="0">
                <a:latin typeface="Times New Roman"/>
                <a:cs typeface="Times New Roman"/>
              </a:rPr>
              <a:t>to</a:t>
            </a:r>
            <a:r>
              <a:rPr sz="1200" spc="265" dirty="0">
                <a:latin typeface="Times New Roman"/>
                <a:cs typeface="Times New Roman"/>
              </a:rPr>
              <a:t> </a:t>
            </a:r>
            <a:r>
              <a:rPr sz="1200" dirty="0">
                <a:latin typeface="Times New Roman"/>
                <a:cs typeface="Times New Roman"/>
              </a:rPr>
              <a:t>our</a:t>
            </a:r>
            <a:r>
              <a:rPr sz="1200" spc="260" dirty="0">
                <a:latin typeface="Times New Roman"/>
                <a:cs typeface="Times New Roman"/>
              </a:rPr>
              <a:t> </a:t>
            </a:r>
            <a:r>
              <a:rPr sz="1200" dirty="0">
                <a:latin typeface="Times New Roman"/>
                <a:cs typeface="Times New Roman"/>
              </a:rPr>
              <a:t>parents,</a:t>
            </a:r>
            <a:r>
              <a:rPr sz="1200" spc="280" dirty="0">
                <a:latin typeface="Times New Roman"/>
                <a:cs typeface="Times New Roman"/>
              </a:rPr>
              <a:t> </a:t>
            </a:r>
            <a:r>
              <a:rPr sz="1200" dirty="0">
                <a:latin typeface="Times New Roman"/>
                <a:cs typeface="Times New Roman"/>
              </a:rPr>
              <a:t>elders</a:t>
            </a:r>
            <a:r>
              <a:rPr sz="1200" spc="275" dirty="0">
                <a:latin typeface="Times New Roman"/>
                <a:cs typeface="Times New Roman"/>
              </a:rPr>
              <a:t> </a:t>
            </a:r>
            <a:r>
              <a:rPr sz="1200" dirty="0">
                <a:latin typeface="Times New Roman"/>
                <a:cs typeface="Times New Roman"/>
              </a:rPr>
              <a:t>and</a:t>
            </a:r>
            <a:r>
              <a:rPr sz="1200" spc="265" dirty="0">
                <a:latin typeface="Times New Roman"/>
                <a:cs typeface="Times New Roman"/>
              </a:rPr>
              <a:t> </a:t>
            </a:r>
            <a:r>
              <a:rPr sz="1200" dirty="0">
                <a:latin typeface="Times New Roman"/>
                <a:cs typeface="Times New Roman"/>
              </a:rPr>
              <a:t>all</a:t>
            </a:r>
            <a:r>
              <a:rPr sz="1200" spc="270" dirty="0">
                <a:latin typeface="Times New Roman"/>
                <a:cs typeface="Times New Roman"/>
              </a:rPr>
              <a:t> </a:t>
            </a:r>
            <a:r>
              <a:rPr sz="1200" dirty="0">
                <a:latin typeface="Times New Roman"/>
                <a:cs typeface="Times New Roman"/>
              </a:rPr>
              <a:t>family</a:t>
            </a:r>
            <a:r>
              <a:rPr sz="1200" spc="265" dirty="0">
                <a:latin typeface="Times New Roman"/>
                <a:cs typeface="Times New Roman"/>
              </a:rPr>
              <a:t> </a:t>
            </a:r>
            <a:r>
              <a:rPr sz="1200" dirty="0">
                <a:latin typeface="Times New Roman"/>
                <a:cs typeface="Times New Roman"/>
              </a:rPr>
              <a:t>members</a:t>
            </a:r>
            <a:r>
              <a:rPr sz="1200" spc="270" dirty="0">
                <a:latin typeface="Times New Roman"/>
                <a:cs typeface="Times New Roman"/>
              </a:rPr>
              <a:t> </a:t>
            </a:r>
            <a:r>
              <a:rPr sz="1200" dirty="0">
                <a:latin typeface="Times New Roman"/>
                <a:cs typeface="Times New Roman"/>
              </a:rPr>
              <a:t>for</a:t>
            </a:r>
            <a:r>
              <a:rPr sz="1200" spc="254" dirty="0">
                <a:latin typeface="Times New Roman"/>
                <a:cs typeface="Times New Roman"/>
              </a:rPr>
              <a:t> </a:t>
            </a:r>
            <a:r>
              <a:rPr sz="1200" dirty="0">
                <a:latin typeface="Times New Roman"/>
                <a:cs typeface="Times New Roman"/>
              </a:rPr>
              <a:t>their</a:t>
            </a:r>
            <a:r>
              <a:rPr sz="1200" spc="265" dirty="0">
                <a:latin typeface="Times New Roman"/>
                <a:cs typeface="Times New Roman"/>
              </a:rPr>
              <a:t> </a:t>
            </a:r>
            <a:r>
              <a:rPr sz="1200" spc="-10" dirty="0">
                <a:latin typeface="Times New Roman"/>
                <a:cs typeface="Times New Roman"/>
              </a:rPr>
              <a:t>blessing, </a:t>
            </a:r>
            <a:r>
              <a:rPr sz="1200" dirty="0">
                <a:latin typeface="Times New Roman"/>
                <a:cs typeface="Times New Roman"/>
              </a:rPr>
              <a:t>motivation</a:t>
            </a:r>
            <a:r>
              <a:rPr sz="1200" spc="165" dirty="0">
                <a:latin typeface="Times New Roman"/>
                <a:cs typeface="Times New Roman"/>
              </a:rPr>
              <a:t> </a:t>
            </a:r>
            <a:r>
              <a:rPr sz="1200" dirty="0">
                <a:latin typeface="Times New Roman"/>
                <a:cs typeface="Times New Roman"/>
              </a:rPr>
              <a:t>and</a:t>
            </a:r>
            <a:r>
              <a:rPr sz="1200" spc="170" dirty="0">
                <a:latin typeface="Times New Roman"/>
                <a:cs typeface="Times New Roman"/>
              </a:rPr>
              <a:t> </a:t>
            </a:r>
            <a:r>
              <a:rPr sz="1200" dirty="0">
                <a:latin typeface="Times New Roman"/>
                <a:cs typeface="Times New Roman"/>
              </a:rPr>
              <a:t>inspiration</a:t>
            </a:r>
            <a:r>
              <a:rPr sz="1200" spc="165" dirty="0">
                <a:latin typeface="Times New Roman"/>
                <a:cs typeface="Times New Roman"/>
              </a:rPr>
              <a:t> </a:t>
            </a:r>
            <a:r>
              <a:rPr sz="1200" dirty="0">
                <a:latin typeface="Times New Roman"/>
                <a:cs typeface="Times New Roman"/>
              </a:rPr>
              <a:t>throughout</a:t>
            </a:r>
            <a:r>
              <a:rPr sz="1200" spc="170" dirty="0">
                <a:latin typeface="Times New Roman"/>
                <a:cs typeface="Times New Roman"/>
              </a:rPr>
              <a:t> </a:t>
            </a:r>
            <a:r>
              <a:rPr sz="1200" dirty="0">
                <a:latin typeface="Times New Roman"/>
                <a:cs typeface="Times New Roman"/>
              </a:rPr>
              <a:t>our</a:t>
            </a:r>
            <a:r>
              <a:rPr sz="1200" spc="170" dirty="0">
                <a:latin typeface="Times New Roman"/>
                <a:cs typeface="Times New Roman"/>
              </a:rPr>
              <a:t> </a:t>
            </a:r>
            <a:r>
              <a:rPr sz="1200" dirty="0">
                <a:latin typeface="Times New Roman"/>
                <a:cs typeface="Times New Roman"/>
              </a:rPr>
              <a:t>work</a:t>
            </a:r>
            <a:r>
              <a:rPr sz="1200" spc="180"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bearing</a:t>
            </a:r>
            <a:r>
              <a:rPr sz="1200" spc="180" dirty="0">
                <a:latin typeface="Times New Roman"/>
                <a:cs typeface="Times New Roman"/>
              </a:rPr>
              <a:t> </a:t>
            </a:r>
            <a:r>
              <a:rPr sz="1200" dirty="0">
                <a:latin typeface="Times New Roman"/>
                <a:cs typeface="Times New Roman"/>
              </a:rPr>
              <a:t>with</a:t>
            </a:r>
            <a:r>
              <a:rPr sz="1200" spc="165" dirty="0">
                <a:latin typeface="Times New Roman"/>
                <a:cs typeface="Times New Roman"/>
              </a:rPr>
              <a:t> </a:t>
            </a:r>
            <a:r>
              <a:rPr sz="1200" dirty="0">
                <a:latin typeface="Times New Roman"/>
                <a:cs typeface="Times New Roman"/>
              </a:rPr>
              <a:t>us</a:t>
            </a:r>
            <a:r>
              <a:rPr sz="1200" spc="180" dirty="0">
                <a:latin typeface="Times New Roman"/>
                <a:cs typeface="Times New Roman"/>
              </a:rPr>
              <a:t> </a:t>
            </a:r>
            <a:r>
              <a:rPr sz="1200" dirty="0">
                <a:latin typeface="Times New Roman"/>
                <a:cs typeface="Times New Roman"/>
              </a:rPr>
              <a:t>even</a:t>
            </a:r>
            <a:r>
              <a:rPr sz="1200" spc="165" dirty="0">
                <a:latin typeface="Times New Roman"/>
                <a:cs typeface="Times New Roman"/>
              </a:rPr>
              <a:t> </a:t>
            </a:r>
            <a:r>
              <a:rPr sz="1200" dirty="0">
                <a:latin typeface="Times New Roman"/>
                <a:cs typeface="Times New Roman"/>
              </a:rPr>
              <a:t>during</a:t>
            </a:r>
            <a:r>
              <a:rPr sz="1200" spc="165" dirty="0">
                <a:latin typeface="Times New Roman"/>
                <a:cs typeface="Times New Roman"/>
              </a:rPr>
              <a:t> </a:t>
            </a:r>
            <a:r>
              <a:rPr sz="1200" dirty="0">
                <a:latin typeface="Times New Roman"/>
                <a:cs typeface="Times New Roman"/>
              </a:rPr>
              <a:t>stress</a:t>
            </a:r>
            <a:r>
              <a:rPr sz="1200" spc="170" dirty="0">
                <a:latin typeface="Times New Roman"/>
                <a:cs typeface="Times New Roman"/>
              </a:rPr>
              <a:t> </a:t>
            </a:r>
            <a:r>
              <a:rPr sz="1200" dirty="0">
                <a:latin typeface="Times New Roman"/>
                <a:cs typeface="Times New Roman"/>
              </a:rPr>
              <a:t>and</a:t>
            </a:r>
            <a:r>
              <a:rPr sz="1200" spc="175" dirty="0">
                <a:latin typeface="Times New Roman"/>
                <a:cs typeface="Times New Roman"/>
              </a:rPr>
              <a:t> </a:t>
            </a:r>
            <a:r>
              <a:rPr sz="1200" spc="-25" dirty="0">
                <a:latin typeface="Times New Roman"/>
                <a:cs typeface="Times New Roman"/>
              </a:rPr>
              <a:t>bad </a:t>
            </a:r>
            <a:r>
              <a:rPr sz="1200" dirty="0">
                <a:latin typeface="Times New Roman"/>
                <a:cs typeface="Times New Roman"/>
              </a:rPr>
              <a:t>temper.</a:t>
            </a:r>
            <a:r>
              <a:rPr sz="1200" spc="30" dirty="0">
                <a:latin typeface="Times New Roman"/>
                <a:cs typeface="Times New Roman"/>
              </a:rPr>
              <a:t> </a:t>
            </a:r>
            <a:r>
              <a:rPr sz="1200" dirty="0">
                <a:latin typeface="Times New Roman"/>
                <a:cs typeface="Times New Roman"/>
              </a:rPr>
              <a:t>They</a:t>
            </a:r>
            <a:r>
              <a:rPr sz="1200" spc="30" dirty="0">
                <a:latin typeface="Times New Roman"/>
                <a:cs typeface="Times New Roman"/>
              </a:rPr>
              <a:t> </a:t>
            </a:r>
            <a:r>
              <a:rPr sz="1200" dirty="0">
                <a:latin typeface="Times New Roman"/>
                <a:cs typeface="Times New Roman"/>
              </a:rPr>
              <a:t>have</a:t>
            </a:r>
            <a:r>
              <a:rPr sz="1200" spc="25" dirty="0">
                <a:latin typeface="Times New Roman"/>
                <a:cs typeface="Times New Roman"/>
              </a:rPr>
              <a:t> </a:t>
            </a:r>
            <a:r>
              <a:rPr sz="1200" dirty="0">
                <a:latin typeface="Times New Roman"/>
                <a:cs typeface="Times New Roman"/>
              </a:rPr>
              <a:t>always</a:t>
            </a:r>
            <a:r>
              <a:rPr sz="1200" spc="35" dirty="0">
                <a:latin typeface="Times New Roman"/>
                <a:cs typeface="Times New Roman"/>
              </a:rPr>
              <a:t> </a:t>
            </a:r>
            <a:r>
              <a:rPr sz="1200" dirty="0">
                <a:latin typeface="Times New Roman"/>
                <a:cs typeface="Times New Roman"/>
              </a:rPr>
              <a:t>provided</a:t>
            </a:r>
            <a:r>
              <a:rPr sz="1200" spc="30" dirty="0">
                <a:latin typeface="Times New Roman"/>
                <a:cs typeface="Times New Roman"/>
              </a:rPr>
              <a:t> </a:t>
            </a:r>
            <a:r>
              <a:rPr sz="1200" dirty="0">
                <a:latin typeface="Times New Roman"/>
                <a:cs typeface="Times New Roman"/>
              </a:rPr>
              <a:t>us</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high</a:t>
            </a:r>
            <a:r>
              <a:rPr sz="1200" spc="20" dirty="0">
                <a:latin typeface="Times New Roman"/>
                <a:cs typeface="Times New Roman"/>
              </a:rPr>
              <a:t> </a:t>
            </a:r>
            <a:r>
              <a:rPr sz="1200" dirty="0">
                <a:latin typeface="Times New Roman"/>
                <a:cs typeface="Times New Roman"/>
              </a:rPr>
              <a:t>moral</a:t>
            </a:r>
            <a:r>
              <a:rPr sz="1200" spc="35"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contributed</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possible</a:t>
            </a:r>
            <a:r>
              <a:rPr sz="1200" spc="30" dirty="0">
                <a:latin typeface="Times New Roman"/>
                <a:cs typeface="Times New Roman"/>
              </a:rPr>
              <a:t> </a:t>
            </a:r>
            <a:r>
              <a:rPr sz="1200" dirty="0">
                <a:latin typeface="Times New Roman"/>
                <a:cs typeface="Times New Roman"/>
              </a:rPr>
              <a:t>ways</a:t>
            </a:r>
            <a:r>
              <a:rPr sz="1200" spc="35" dirty="0">
                <a:latin typeface="Times New Roman"/>
                <a:cs typeface="Times New Roman"/>
              </a:rPr>
              <a:t> </a:t>
            </a:r>
            <a:r>
              <a:rPr sz="1200" spc="-25" dirty="0">
                <a:latin typeface="Times New Roman"/>
                <a:cs typeface="Times New Roman"/>
              </a:rPr>
              <a:t>in </a:t>
            </a:r>
            <a:r>
              <a:rPr sz="1200" dirty="0">
                <a:latin typeface="Times New Roman"/>
                <a:cs typeface="Times New Roman"/>
              </a:rPr>
              <a:t>completion</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Capstone</a:t>
            </a:r>
            <a:r>
              <a:rPr sz="1200" spc="-30" dirty="0">
                <a:latin typeface="Times New Roman"/>
                <a:cs typeface="Times New Roman"/>
              </a:rPr>
              <a:t> </a:t>
            </a:r>
            <a:r>
              <a:rPr sz="1200" spc="-10" dirty="0">
                <a:latin typeface="Times New Roman"/>
                <a:cs typeface="Times New Roman"/>
              </a:rPr>
              <a:t>report.</a:t>
            </a:r>
            <a:endParaRPr sz="12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a:t>
            </a:fld>
            <a:r>
              <a:rPr spc="-2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2731" y="678179"/>
            <a:ext cx="6661150" cy="6350"/>
          </a:xfrm>
          <a:custGeom>
            <a:avLst/>
            <a:gdLst/>
            <a:ahLst/>
            <a:cxnLst/>
            <a:rect l="l" t="t" r="r" b="b"/>
            <a:pathLst>
              <a:path w="6661150" h="6350">
                <a:moveTo>
                  <a:pt x="6661150" y="0"/>
                </a:moveTo>
                <a:lnTo>
                  <a:pt x="0" y="0"/>
                </a:lnTo>
                <a:lnTo>
                  <a:pt x="0" y="6096"/>
                </a:lnTo>
                <a:lnTo>
                  <a:pt x="6661150" y="6096"/>
                </a:lnTo>
                <a:lnTo>
                  <a:pt x="6661150" y="0"/>
                </a:lnTo>
                <a:close/>
              </a:path>
            </a:pathLst>
          </a:custGeom>
          <a:solidFill>
            <a:srgbClr val="000000"/>
          </a:solidFill>
        </p:spPr>
        <p:txBody>
          <a:bodyPr wrap="square" lIns="0" tIns="0" rIns="0" bIns="0" rtlCol="0"/>
          <a:lstStyle/>
          <a:p>
            <a:endParaRPr/>
          </a:p>
        </p:txBody>
      </p:sp>
      <p:sp>
        <p:nvSpPr>
          <p:cNvPr id="3" name="object 3"/>
          <p:cNvSpPr txBox="1"/>
          <p:nvPr/>
        </p:nvSpPr>
        <p:spPr>
          <a:xfrm>
            <a:off x="528319" y="371348"/>
            <a:ext cx="6650990" cy="4790414"/>
          </a:xfrm>
          <a:prstGeom prst="rect">
            <a:avLst/>
          </a:prstGeom>
        </p:spPr>
        <p:txBody>
          <a:bodyPr vert="horz" wrap="square" lIns="0" tIns="12065" rIns="0" bIns="0" rtlCol="0">
            <a:spAutoFit/>
          </a:bodyPr>
          <a:lstStyle/>
          <a:p>
            <a:pPr algn="ctr">
              <a:lnSpc>
                <a:spcPct val="100000"/>
              </a:lnSpc>
              <a:spcBef>
                <a:spcPts val="95"/>
              </a:spcBef>
            </a:pPr>
            <a:r>
              <a:rPr sz="1600" b="1" spc="-10" dirty="0">
                <a:latin typeface="Times New Roman"/>
                <a:cs typeface="Times New Roman"/>
              </a:rPr>
              <a:t>ABSTRACT</a:t>
            </a:r>
            <a:endParaRPr sz="1600" dirty="0">
              <a:latin typeface="Times New Roman"/>
              <a:cs typeface="Times New Roman"/>
            </a:endParaRPr>
          </a:p>
          <a:p>
            <a:endParaRPr lang="en-US" sz="1200" dirty="0" smtClean="0"/>
          </a:p>
          <a:p>
            <a:endParaRPr lang="en-US" sz="1200" dirty="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Fitness Freak – A Gym Website is an innovative web-based platform designed to enhance user experience by integrating fitness services, subscription management, and gym product browsing into a single comprehensive system. Utilizing full-stack web development technologies, including HTML, CSS, JavaScript, PHP, and MySQL, the website provides users with an engaging online platform that caters to their fitness needs and wellness goals.</a:t>
            </a:r>
          </a:p>
          <a:p>
            <a:r>
              <a:rPr lang="en-US" sz="1200" dirty="0" smtClean="0">
                <a:latin typeface="Times New Roman" pitchFamily="18" charset="0"/>
                <a:cs typeface="Times New Roman" pitchFamily="18" charset="0"/>
              </a:rPr>
              <a:t>Upon registering or logging in, users can explore a wide range of features including detailed product listings for gym equipment and accessories, subscription options for fitness plans, and a contact section for submitting feedback and inquiries. The system intelligently manages user data through a secure backend, ensuring seamless subscription processing and feedback management, thereby creating a personalized service experience. Additionally, the platform offers informative content in the About section, fostering trust and transparency with its users.</a:t>
            </a:r>
          </a:p>
          <a:p>
            <a:r>
              <a:rPr lang="en-US" sz="1200" dirty="0" smtClean="0">
                <a:latin typeface="Times New Roman" pitchFamily="18" charset="0"/>
                <a:cs typeface="Times New Roman" pitchFamily="18" charset="0"/>
              </a:rPr>
              <a:t>The application features a user-friendly interface designed using modern frontend technologies, allowing for intuitive navigation and interaction. The responsive design ensures accessibility across multiple devices, providing a comfortable browsing experience on both desktop and mobile platforms. Interactive visual elements such as hover effects, smooth transitions, and clean layouts further enrich the user interface.</a:t>
            </a:r>
          </a:p>
          <a:p>
            <a:r>
              <a:rPr lang="en-US" sz="1200" dirty="0" smtClean="0">
                <a:latin typeface="Times New Roman" pitchFamily="18" charset="0"/>
                <a:cs typeface="Times New Roman" pitchFamily="18" charset="0"/>
              </a:rPr>
              <a:t>By combining essential gym services with a dynamic digital interface, the Fitness Freak – A Gym Website not only serves as a practical tool for accessing fitness products and services but also encourages healthy lifestyle habits through convenient online accessibility. This project exemplifies the effective integration of frontend and backend web technologies to create a holistic fitness management platform, making it a valuable resource for individuals pursuing health and wellness in the digital era.</a:t>
            </a:r>
          </a:p>
          <a:p>
            <a:pPr>
              <a:lnSpc>
                <a:spcPct val="100000"/>
              </a:lnSpc>
              <a:spcBef>
                <a:spcPts val="295"/>
              </a:spcBef>
            </a:pPr>
            <a:endParaRPr sz="16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a:t>
            </a:fld>
            <a:r>
              <a:rPr spc="-2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4</a:t>
            </a:fld>
            <a:r>
              <a:rPr spc="-20" dirty="0"/>
              <a:t>]</a:t>
            </a:r>
          </a:p>
        </p:txBody>
      </p:sp>
      <p:sp>
        <p:nvSpPr>
          <p:cNvPr id="2" name="object 2"/>
          <p:cNvSpPr txBox="1"/>
          <p:nvPr/>
        </p:nvSpPr>
        <p:spPr>
          <a:xfrm>
            <a:off x="2744851" y="369823"/>
            <a:ext cx="2214245" cy="269240"/>
          </a:xfrm>
          <a:prstGeom prst="rect">
            <a:avLst/>
          </a:prstGeom>
        </p:spPr>
        <p:txBody>
          <a:bodyPr vert="horz" wrap="square" lIns="0" tIns="12065" rIns="0" bIns="0" rtlCol="0">
            <a:spAutoFit/>
          </a:bodyPr>
          <a:lstStyle/>
          <a:p>
            <a:pPr marL="12700">
              <a:lnSpc>
                <a:spcPct val="100000"/>
              </a:lnSpc>
              <a:spcBef>
                <a:spcPts val="95"/>
              </a:spcBef>
            </a:pPr>
            <a:r>
              <a:rPr sz="1600" b="1" u="sng" dirty="0">
                <a:uFill>
                  <a:solidFill>
                    <a:srgbClr val="000000"/>
                  </a:solidFill>
                </a:uFill>
                <a:latin typeface="Times New Roman"/>
                <a:cs typeface="Times New Roman"/>
              </a:rPr>
              <a:t>TABLE</a:t>
            </a:r>
            <a:r>
              <a:rPr sz="1600" b="1" u="sng" spc="-15"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OF</a:t>
            </a:r>
            <a:r>
              <a:rPr sz="1600" b="1" u="sng" spc="-1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CONTENTS</a:t>
            </a:r>
            <a:endParaRPr sz="1600">
              <a:latin typeface="Times New Roman"/>
              <a:cs typeface="Times New Roman"/>
            </a:endParaRPr>
          </a:p>
        </p:txBody>
      </p:sp>
      <p:sp>
        <p:nvSpPr>
          <p:cNvPr id="3" name="object 3"/>
          <p:cNvSpPr txBox="1"/>
          <p:nvPr/>
        </p:nvSpPr>
        <p:spPr>
          <a:xfrm>
            <a:off x="528319" y="1221994"/>
            <a:ext cx="5458460" cy="3372485"/>
          </a:xfrm>
          <a:prstGeom prst="rect">
            <a:avLst/>
          </a:prstGeom>
        </p:spPr>
        <p:txBody>
          <a:bodyPr vert="horz" wrap="square" lIns="0" tIns="12700" rIns="0" bIns="0" rtlCol="0">
            <a:spAutoFit/>
          </a:bodyPr>
          <a:lstStyle/>
          <a:p>
            <a:pPr marL="12700">
              <a:lnSpc>
                <a:spcPct val="100000"/>
              </a:lnSpc>
              <a:spcBef>
                <a:spcPts val="100"/>
              </a:spcBef>
              <a:tabLst>
                <a:tab pos="2414905" algn="l"/>
                <a:tab pos="4771390" algn="l"/>
              </a:tabLst>
            </a:pPr>
            <a:r>
              <a:rPr sz="1400" b="1" dirty="0">
                <a:latin typeface="Times New Roman"/>
                <a:cs typeface="Times New Roman"/>
              </a:rPr>
              <a:t>Chapter</a:t>
            </a:r>
            <a:r>
              <a:rPr sz="1400" b="1" spc="-30" dirty="0">
                <a:latin typeface="Times New Roman"/>
                <a:cs typeface="Times New Roman"/>
              </a:rPr>
              <a:t> </a:t>
            </a:r>
            <a:r>
              <a:rPr sz="1400" b="1" spc="-25" dirty="0">
                <a:latin typeface="Times New Roman"/>
                <a:cs typeface="Times New Roman"/>
              </a:rPr>
              <a:t>No.</a:t>
            </a:r>
            <a:r>
              <a:rPr sz="1400" b="1" dirty="0">
                <a:latin typeface="Times New Roman"/>
                <a:cs typeface="Times New Roman"/>
              </a:rPr>
              <a:t>	</a:t>
            </a:r>
            <a:r>
              <a:rPr sz="1400" b="1" spc="-20" dirty="0">
                <a:latin typeface="Times New Roman"/>
                <a:cs typeface="Times New Roman"/>
              </a:rPr>
              <a:t>Title</a:t>
            </a:r>
            <a:r>
              <a:rPr sz="1400" b="1" dirty="0">
                <a:latin typeface="Times New Roman"/>
                <a:cs typeface="Times New Roman"/>
              </a:rPr>
              <a:t>	Page </a:t>
            </a:r>
            <a:r>
              <a:rPr sz="1400" b="1" spc="-25" dirty="0">
                <a:latin typeface="Times New Roman"/>
                <a:cs typeface="Times New Roman"/>
              </a:rPr>
              <a:t>No.</a:t>
            </a:r>
            <a:endParaRPr sz="1400" dirty="0">
              <a:latin typeface="Times New Roman"/>
              <a:cs typeface="Times New Roman"/>
            </a:endParaRPr>
          </a:p>
          <a:p>
            <a:pPr>
              <a:lnSpc>
                <a:spcPct val="100000"/>
              </a:lnSpc>
              <a:spcBef>
                <a:spcPts val="130"/>
              </a:spcBef>
            </a:pPr>
            <a:endParaRPr sz="1400" dirty="0">
              <a:latin typeface="Times New Roman"/>
              <a:cs typeface="Times New Roman"/>
            </a:endParaRPr>
          </a:p>
          <a:p>
            <a:pPr marL="12700">
              <a:lnSpc>
                <a:spcPct val="100000"/>
              </a:lnSpc>
            </a:pPr>
            <a:r>
              <a:rPr sz="1200" b="1" dirty="0">
                <a:latin typeface="Times New Roman"/>
                <a:cs typeface="Times New Roman"/>
              </a:rPr>
              <a:t>CANDIDATE’S</a:t>
            </a:r>
            <a:r>
              <a:rPr sz="1200" b="1" spc="45" dirty="0">
                <a:latin typeface="Times New Roman"/>
                <a:cs typeface="Times New Roman"/>
              </a:rPr>
              <a:t> </a:t>
            </a:r>
            <a:r>
              <a:rPr sz="1200" b="1" dirty="0">
                <a:latin typeface="Times New Roman"/>
                <a:cs typeface="Times New Roman"/>
              </a:rPr>
              <a:t>DECLARATION</a:t>
            </a:r>
            <a:r>
              <a:rPr sz="1200" b="1" spc="45" dirty="0">
                <a:latin typeface="Times New Roman"/>
                <a:cs typeface="Times New Roman"/>
              </a:rPr>
              <a:t> </a:t>
            </a:r>
            <a:r>
              <a:rPr lang="en-US" sz="1200" b="1" dirty="0" smtClean="0">
                <a:latin typeface="Times New Roman"/>
                <a:cs typeface="Times New Roman"/>
              </a:rPr>
              <a:t>………………………</a:t>
            </a:r>
            <a:r>
              <a:rPr sz="1200" b="1" spc="-10" dirty="0" smtClean="0">
                <a:latin typeface="Times New Roman"/>
                <a:cs typeface="Times New Roman"/>
              </a:rPr>
              <a:t>……………………..</a:t>
            </a:r>
            <a:r>
              <a:rPr lang="en-US" sz="1200" b="1" spc="-10" dirty="0" smtClean="0">
                <a:latin typeface="Times New Roman"/>
                <a:cs typeface="Times New Roman"/>
              </a:rPr>
              <a:t>1</a:t>
            </a:r>
            <a:endParaRPr sz="1200" dirty="0">
              <a:latin typeface="Times New Roman"/>
              <a:cs typeface="Times New Roman"/>
            </a:endParaRPr>
          </a:p>
          <a:p>
            <a:pPr marL="12700" marR="161925">
              <a:lnSpc>
                <a:spcPct val="213200"/>
              </a:lnSpc>
            </a:pPr>
            <a:r>
              <a:rPr sz="1200" b="1" spc="-10" dirty="0">
                <a:latin typeface="Times New Roman"/>
                <a:cs typeface="Times New Roman"/>
              </a:rPr>
              <a:t>ACKNOWLEDGMENT</a:t>
            </a:r>
            <a:r>
              <a:rPr sz="1200" b="1" spc="-10" dirty="0" smtClean="0">
                <a:latin typeface="Times New Roman"/>
                <a:cs typeface="Times New Roman"/>
              </a:rPr>
              <a:t>……………………………………….………………....</a:t>
            </a:r>
            <a:r>
              <a:rPr lang="en-US" sz="1200" b="1" spc="-10" dirty="0" smtClean="0">
                <a:latin typeface="Times New Roman"/>
                <a:cs typeface="Times New Roman"/>
              </a:rPr>
              <a:t>2</a:t>
            </a:r>
          </a:p>
          <a:p>
            <a:pPr marL="12700" marR="161925">
              <a:lnSpc>
                <a:spcPct val="213200"/>
              </a:lnSpc>
            </a:pPr>
            <a:r>
              <a:rPr sz="1200" b="1" spc="-10" dirty="0" smtClean="0">
                <a:latin typeface="Times New Roman"/>
                <a:cs typeface="Times New Roman"/>
              </a:rPr>
              <a:t>ABSTRACT…………………………………………………….…………..……..</a:t>
            </a:r>
            <a:r>
              <a:rPr lang="en-US" sz="1200" b="1" spc="-10" dirty="0">
                <a:latin typeface="Times New Roman"/>
                <a:cs typeface="Times New Roman"/>
              </a:rPr>
              <a:t>3</a:t>
            </a:r>
            <a:endParaRPr lang="en-US" sz="1200" b="1" spc="-10" dirty="0" smtClean="0">
              <a:latin typeface="Times New Roman"/>
              <a:cs typeface="Times New Roman"/>
            </a:endParaRPr>
          </a:p>
          <a:p>
            <a:pPr marL="12700" marR="161925">
              <a:lnSpc>
                <a:spcPct val="213200"/>
              </a:lnSpc>
            </a:pPr>
            <a:r>
              <a:rPr sz="1200" b="1" dirty="0" smtClean="0">
                <a:latin typeface="Times New Roman"/>
                <a:cs typeface="Times New Roman"/>
              </a:rPr>
              <a:t>TABLE</a:t>
            </a:r>
            <a:r>
              <a:rPr sz="1200" b="1" spc="150" dirty="0" smtClean="0">
                <a:latin typeface="Times New Roman"/>
                <a:cs typeface="Times New Roman"/>
              </a:rPr>
              <a:t> </a:t>
            </a:r>
            <a:r>
              <a:rPr sz="1200" b="1" dirty="0">
                <a:latin typeface="Times New Roman"/>
                <a:cs typeface="Times New Roman"/>
              </a:rPr>
              <a:t>OF</a:t>
            </a:r>
            <a:r>
              <a:rPr sz="1200" b="1" spc="155" dirty="0">
                <a:latin typeface="Times New Roman"/>
                <a:cs typeface="Times New Roman"/>
              </a:rPr>
              <a:t> </a:t>
            </a:r>
            <a:r>
              <a:rPr sz="1200" b="1" spc="-10" dirty="0">
                <a:latin typeface="Times New Roman"/>
                <a:cs typeface="Times New Roman"/>
              </a:rPr>
              <a:t>CONTENTS</a:t>
            </a:r>
            <a:r>
              <a:rPr sz="1200" b="1" spc="-10" dirty="0" smtClean="0">
                <a:latin typeface="Times New Roman"/>
                <a:cs typeface="Times New Roman"/>
              </a:rPr>
              <a:t>……………………………………….……..………….</a:t>
            </a:r>
            <a:r>
              <a:rPr lang="en-US" sz="1200" b="1" spc="-10" dirty="0" smtClean="0">
                <a:latin typeface="Times New Roman"/>
                <a:cs typeface="Times New Roman"/>
              </a:rPr>
              <a:t>4</a:t>
            </a:r>
            <a:r>
              <a:rPr sz="1200" b="1" spc="-10" dirty="0" smtClean="0">
                <a:latin typeface="Times New Roman"/>
                <a:cs typeface="Times New Roman"/>
              </a:rPr>
              <a:t>-</a:t>
            </a:r>
            <a:r>
              <a:rPr lang="en-US" sz="1200" b="1" spc="-25" dirty="0">
                <a:latin typeface="Times New Roman"/>
                <a:cs typeface="Times New Roman"/>
              </a:rPr>
              <a:t>6</a:t>
            </a:r>
            <a:r>
              <a:rPr sz="1200" b="1" spc="-25" dirty="0" smtClean="0">
                <a:latin typeface="Times New Roman"/>
                <a:cs typeface="Times New Roman"/>
              </a:rPr>
              <a:t> </a:t>
            </a:r>
            <a:r>
              <a:rPr sz="1200" b="1" dirty="0">
                <a:latin typeface="Times New Roman"/>
                <a:cs typeface="Times New Roman"/>
              </a:rPr>
              <a:t>LIST</a:t>
            </a:r>
            <a:r>
              <a:rPr sz="1200" b="1" spc="-15" dirty="0">
                <a:latin typeface="Times New Roman"/>
                <a:cs typeface="Times New Roman"/>
              </a:rPr>
              <a:t> </a:t>
            </a:r>
            <a:r>
              <a:rPr sz="1200" b="1" dirty="0">
                <a:latin typeface="Times New Roman"/>
                <a:cs typeface="Times New Roman"/>
              </a:rPr>
              <a:t>OF</a:t>
            </a:r>
            <a:r>
              <a:rPr sz="1200" b="1" spc="-10" dirty="0">
                <a:latin typeface="Times New Roman"/>
                <a:cs typeface="Times New Roman"/>
              </a:rPr>
              <a:t> FIGURES</a:t>
            </a:r>
            <a:r>
              <a:rPr sz="1200" b="1" spc="-10" dirty="0" smtClean="0">
                <a:latin typeface="Times New Roman"/>
                <a:cs typeface="Times New Roman"/>
              </a:rPr>
              <a:t>………………………………………………………………..</a:t>
            </a:r>
            <a:r>
              <a:rPr lang="en-US" sz="1200" b="1" spc="-10" dirty="0">
                <a:latin typeface="Times New Roman"/>
                <a:cs typeface="Times New Roman"/>
              </a:rPr>
              <a:t>7</a:t>
            </a:r>
            <a:r>
              <a:rPr sz="1200" b="1" spc="-10" dirty="0" smtClean="0">
                <a:latin typeface="Times New Roman"/>
                <a:cs typeface="Times New Roman"/>
              </a:rPr>
              <a:t> </a:t>
            </a:r>
            <a:r>
              <a:rPr sz="1200" b="1" dirty="0" smtClean="0">
                <a:latin typeface="Times New Roman"/>
                <a:cs typeface="Times New Roman"/>
              </a:rPr>
              <a:t>LIST</a:t>
            </a:r>
            <a:r>
              <a:rPr sz="1200" b="1" spc="-15" dirty="0" smtClean="0">
                <a:latin typeface="Times New Roman"/>
                <a:cs typeface="Times New Roman"/>
              </a:rPr>
              <a:t> </a:t>
            </a:r>
            <a:r>
              <a:rPr sz="1200" b="1" dirty="0">
                <a:latin typeface="Times New Roman"/>
                <a:cs typeface="Times New Roman"/>
              </a:rPr>
              <a:t>OF</a:t>
            </a:r>
            <a:r>
              <a:rPr sz="1200" b="1" spc="-10" dirty="0">
                <a:latin typeface="Times New Roman"/>
                <a:cs typeface="Times New Roman"/>
              </a:rPr>
              <a:t> TABLES</a:t>
            </a:r>
            <a:r>
              <a:rPr sz="1200" b="1" spc="-10" dirty="0" smtClean="0">
                <a:latin typeface="Times New Roman"/>
                <a:cs typeface="Times New Roman"/>
              </a:rPr>
              <a:t>…………………………………………………………………</a:t>
            </a:r>
            <a:r>
              <a:rPr lang="en-US" sz="1200" b="1" spc="-10" dirty="0">
                <a:latin typeface="Times New Roman"/>
                <a:cs typeface="Times New Roman"/>
              </a:rPr>
              <a:t>8</a:t>
            </a:r>
            <a:r>
              <a:rPr sz="1200" b="1" spc="-10" dirty="0" smtClean="0">
                <a:latin typeface="Times New Roman"/>
                <a:cs typeface="Times New Roman"/>
              </a:rPr>
              <a:t> </a:t>
            </a:r>
            <a:r>
              <a:rPr sz="1200" b="1" dirty="0">
                <a:latin typeface="Times New Roman"/>
                <a:cs typeface="Times New Roman"/>
              </a:rPr>
              <a:t>LIST</a:t>
            </a:r>
            <a:r>
              <a:rPr sz="1200" b="1" spc="-15" dirty="0">
                <a:latin typeface="Times New Roman"/>
                <a:cs typeface="Times New Roman"/>
              </a:rPr>
              <a:t> </a:t>
            </a:r>
            <a:r>
              <a:rPr sz="1200" b="1" dirty="0">
                <a:latin typeface="Times New Roman"/>
                <a:cs typeface="Times New Roman"/>
              </a:rPr>
              <a:t>OF</a:t>
            </a:r>
            <a:r>
              <a:rPr sz="1200" b="1" spc="-25" dirty="0">
                <a:latin typeface="Times New Roman"/>
                <a:cs typeface="Times New Roman"/>
              </a:rPr>
              <a:t> </a:t>
            </a:r>
            <a:r>
              <a:rPr sz="1200" b="1" spc="-10" dirty="0">
                <a:latin typeface="Times New Roman"/>
                <a:cs typeface="Times New Roman"/>
              </a:rPr>
              <a:t>SYMBOLS</a:t>
            </a:r>
            <a:r>
              <a:rPr sz="1200" b="1" spc="-10" dirty="0" smtClean="0">
                <a:latin typeface="Times New Roman"/>
                <a:cs typeface="Times New Roman"/>
              </a:rPr>
              <a:t>………………………………………………………………</a:t>
            </a:r>
            <a:r>
              <a:rPr lang="en-US" sz="1200" b="1" spc="-10" dirty="0">
                <a:latin typeface="Times New Roman"/>
                <a:cs typeface="Times New Roman"/>
              </a:rPr>
              <a:t>9</a:t>
            </a:r>
            <a:r>
              <a:rPr sz="1200" b="1" spc="-10" dirty="0" smtClean="0">
                <a:latin typeface="Times New Roman"/>
                <a:cs typeface="Times New Roman"/>
              </a:rPr>
              <a:t> </a:t>
            </a:r>
            <a:r>
              <a:rPr sz="1200" b="1" dirty="0" smtClean="0">
                <a:latin typeface="Times New Roman"/>
                <a:cs typeface="Times New Roman"/>
              </a:rPr>
              <a:t>LIST</a:t>
            </a:r>
            <a:r>
              <a:rPr sz="1200" b="1" spc="-15" dirty="0" smtClean="0">
                <a:latin typeface="Times New Roman"/>
                <a:cs typeface="Times New Roman"/>
              </a:rPr>
              <a:t> </a:t>
            </a:r>
            <a:r>
              <a:rPr sz="1200" b="1" dirty="0">
                <a:latin typeface="Times New Roman"/>
                <a:cs typeface="Times New Roman"/>
              </a:rPr>
              <a:t>OF</a:t>
            </a:r>
            <a:r>
              <a:rPr sz="1200" b="1" spc="-10" dirty="0">
                <a:latin typeface="Times New Roman"/>
                <a:cs typeface="Times New Roman"/>
              </a:rPr>
              <a:t> ABBREVIATIONS………………………………………….………….</a:t>
            </a:r>
            <a:r>
              <a:rPr sz="1200" b="1" spc="-10" dirty="0" smtClean="0">
                <a:latin typeface="Times New Roman"/>
                <a:cs typeface="Times New Roman"/>
              </a:rPr>
              <a:t>1</a:t>
            </a:r>
            <a:r>
              <a:rPr lang="en-US" sz="1200" b="1" spc="-10" dirty="0">
                <a:latin typeface="Times New Roman"/>
                <a:cs typeface="Times New Roman"/>
              </a:rPr>
              <a:t>0</a:t>
            </a:r>
            <a:endParaRPr sz="1200" dirty="0">
              <a:latin typeface="Times New Roman"/>
              <a:cs typeface="Times New Roman"/>
            </a:endParaRPr>
          </a:p>
        </p:txBody>
      </p:sp>
      <p:sp>
        <p:nvSpPr>
          <p:cNvPr id="4" name="object 4"/>
          <p:cNvSpPr txBox="1"/>
          <p:nvPr/>
        </p:nvSpPr>
        <p:spPr>
          <a:xfrm>
            <a:off x="528319" y="5031104"/>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1.</a:t>
            </a:r>
            <a:endParaRPr sz="1200">
              <a:latin typeface="Times New Roman"/>
              <a:cs typeface="Times New Roman"/>
            </a:endParaRPr>
          </a:p>
        </p:txBody>
      </p:sp>
      <p:sp>
        <p:nvSpPr>
          <p:cNvPr id="5" name="object 5"/>
          <p:cNvSpPr txBox="1"/>
          <p:nvPr/>
        </p:nvSpPr>
        <p:spPr>
          <a:xfrm>
            <a:off x="1595374" y="5031104"/>
            <a:ext cx="418401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25" dirty="0">
                <a:latin typeface="Times New Roman"/>
                <a:cs typeface="Times New Roman"/>
              </a:rPr>
              <a:t> </a:t>
            </a:r>
            <a:r>
              <a:rPr sz="1200" b="1" spc="-10" dirty="0">
                <a:latin typeface="Times New Roman"/>
                <a:cs typeface="Times New Roman"/>
              </a:rPr>
              <a:t>No.1……………………………………………………..</a:t>
            </a:r>
            <a:r>
              <a:rPr sz="1200" b="1" spc="-10" dirty="0" smtClean="0">
                <a:latin typeface="Times New Roman"/>
                <a:cs typeface="Times New Roman"/>
              </a:rPr>
              <a:t>1</a:t>
            </a:r>
            <a:r>
              <a:rPr lang="en-US" sz="1200" b="1" spc="-10" dirty="0">
                <a:latin typeface="Times New Roman"/>
                <a:cs typeface="Times New Roman"/>
              </a:rPr>
              <a:t>1</a:t>
            </a:r>
            <a:endParaRPr sz="1200" dirty="0">
              <a:latin typeface="Times New Roman"/>
              <a:cs typeface="Times New Roman"/>
            </a:endParaRPr>
          </a:p>
        </p:txBody>
      </p:sp>
      <p:sp>
        <p:nvSpPr>
          <p:cNvPr id="6" name="object 6"/>
          <p:cNvSpPr txBox="1"/>
          <p:nvPr/>
        </p:nvSpPr>
        <p:spPr>
          <a:xfrm>
            <a:off x="528319" y="5340477"/>
            <a:ext cx="215900" cy="553085"/>
          </a:xfrm>
          <a:prstGeom prst="rect">
            <a:avLst/>
          </a:prstGeom>
        </p:spPr>
        <p:txBody>
          <a:bodyPr vert="horz" wrap="square" lIns="0" tIns="93345" rIns="0" bIns="0" rtlCol="0">
            <a:spAutoFit/>
          </a:bodyPr>
          <a:lstStyle/>
          <a:p>
            <a:pPr marL="12700">
              <a:lnSpc>
                <a:spcPct val="100000"/>
              </a:lnSpc>
              <a:spcBef>
                <a:spcPts val="735"/>
              </a:spcBef>
            </a:pPr>
            <a:r>
              <a:rPr sz="1200" spc="-25" dirty="0">
                <a:latin typeface="Times New Roman"/>
                <a:cs typeface="Times New Roman"/>
              </a:rPr>
              <a:t>1.1</a:t>
            </a:r>
            <a:endParaRPr sz="1200">
              <a:latin typeface="Times New Roman"/>
              <a:cs typeface="Times New Roman"/>
            </a:endParaRPr>
          </a:p>
          <a:p>
            <a:pPr marL="12700">
              <a:lnSpc>
                <a:spcPct val="100000"/>
              </a:lnSpc>
              <a:spcBef>
                <a:spcPts val="635"/>
              </a:spcBef>
            </a:pPr>
            <a:r>
              <a:rPr sz="1200" spc="-25" dirty="0">
                <a:latin typeface="Times New Roman"/>
                <a:cs typeface="Times New Roman"/>
              </a:rPr>
              <a:t>1.2</a:t>
            </a:r>
            <a:endParaRPr sz="1200">
              <a:latin typeface="Times New Roman"/>
              <a:cs typeface="Times New Roman"/>
            </a:endParaRPr>
          </a:p>
        </p:txBody>
      </p:sp>
      <p:sp>
        <p:nvSpPr>
          <p:cNvPr id="7" name="object 7"/>
          <p:cNvSpPr txBox="1"/>
          <p:nvPr/>
        </p:nvSpPr>
        <p:spPr>
          <a:xfrm>
            <a:off x="1595374" y="5340477"/>
            <a:ext cx="4226560" cy="553085"/>
          </a:xfrm>
          <a:prstGeom prst="rect">
            <a:avLst/>
          </a:prstGeom>
        </p:spPr>
        <p:txBody>
          <a:bodyPr vert="horz" wrap="square" lIns="0" tIns="12700" rIns="0" bIns="0" rtlCol="0">
            <a:spAutoFit/>
          </a:bodyPr>
          <a:lstStyle/>
          <a:p>
            <a:pPr marL="50800" marR="5080" indent="-38100">
              <a:lnSpc>
                <a:spcPct val="144200"/>
              </a:lnSpc>
              <a:spcBef>
                <a:spcPts val="100"/>
              </a:spcBef>
            </a:pPr>
            <a:r>
              <a:rPr sz="1200" dirty="0">
                <a:latin typeface="Times New Roman"/>
                <a:cs typeface="Times New Roman"/>
              </a:rPr>
              <a:t>Introduction</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lang="en-US" sz="1200" spc="-20" dirty="0" smtClean="0">
                <a:latin typeface="Times New Roman"/>
                <a:cs typeface="Times New Roman"/>
              </a:rPr>
              <a:t>Fitness Freak………………</a:t>
            </a:r>
            <a:r>
              <a:rPr sz="1200" spc="-10" dirty="0" smtClean="0">
                <a:latin typeface="Times New Roman"/>
                <a:cs typeface="Times New Roman"/>
              </a:rPr>
              <a:t>………………………1</a:t>
            </a:r>
            <a:r>
              <a:rPr lang="en-US" sz="1200" spc="-10" dirty="0" smtClean="0">
                <a:latin typeface="Times New Roman"/>
                <a:cs typeface="Times New Roman"/>
              </a:rPr>
              <a:t>1</a:t>
            </a:r>
            <a:r>
              <a:rPr sz="1200" spc="-10" dirty="0" smtClean="0">
                <a:latin typeface="Times New Roman"/>
                <a:cs typeface="Times New Roman"/>
              </a:rPr>
              <a:t> </a:t>
            </a:r>
            <a:r>
              <a:rPr sz="1200" dirty="0" smtClean="0">
                <a:latin typeface="Times New Roman"/>
                <a:cs typeface="Times New Roman"/>
              </a:rPr>
              <a:t>Key</a:t>
            </a:r>
            <a:r>
              <a:rPr lang="en-US" sz="1200" spc="-25" dirty="0">
                <a:latin typeface="Times New Roman"/>
                <a:cs typeface="Times New Roman"/>
              </a:rPr>
              <a:t> </a:t>
            </a:r>
            <a:r>
              <a:rPr sz="1200" spc="-10" dirty="0" smtClean="0">
                <a:latin typeface="Times New Roman"/>
                <a:cs typeface="Times New Roman"/>
              </a:rPr>
              <a:t>Features</a:t>
            </a:r>
            <a:r>
              <a:rPr sz="1200" spc="-10" dirty="0">
                <a:latin typeface="Times New Roman"/>
                <a:cs typeface="Times New Roman"/>
              </a:rPr>
              <a:t>…………………………………………………..…..</a:t>
            </a:r>
            <a:r>
              <a:rPr sz="1200" spc="-10" dirty="0" smtClean="0">
                <a:latin typeface="Times New Roman"/>
                <a:cs typeface="Times New Roman"/>
              </a:rPr>
              <a:t>1</a:t>
            </a:r>
            <a:r>
              <a:rPr lang="en-US" sz="1200" spc="-10" dirty="0" smtClean="0">
                <a:latin typeface="Times New Roman"/>
                <a:cs typeface="Times New Roman"/>
              </a:rPr>
              <a:t>1</a:t>
            </a:r>
            <a:endParaRPr sz="1200" dirty="0">
              <a:latin typeface="Times New Roman"/>
              <a:cs typeface="Times New Roman"/>
            </a:endParaRPr>
          </a:p>
        </p:txBody>
      </p:sp>
      <p:sp>
        <p:nvSpPr>
          <p:cNvPr id="8" name="object 8"/>
          <p:cNvSpPr txBox="1"/>
          <p:nvPr/>
        </p:nvSpPr>
        <p:spPr>
          <a:xfrm>
            <a:off x="528319" y="607504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1.3</a:t>
            </a:r>
            <a:endParaRPr sz="1200">
              <a:latin typeface="Times New Roman"/>
              <a:cs typeface="Times New Roman"/>
            </a:endParaRPr>
          </a:p>
        </p:txBody>
      </p:sp>
      <p:sp>
        <p:nvSpPr>
          <p:cNvPr id="9" name="object 9"/>
          <p:cNvSpPr txBox="1"/>
          <p:nvPr/>
        </p:nvSpPr>
        <p:spPr>
          <a:xfrm>
            <a:off x="1633473" y="6075044"/>
            <a:ext cx="421005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Why</a:t>
            </a:r>
            <a:r>
              <a:rPr sz="1200" spc="-15"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This</a:t>
            </a:r>
            <a:r>
              <a:rPr sz="1200" spc="-15" dirty="0">
                <a:latin typeface="Times New Roman"/>
                <a:cs typeface="Times New Roman"/>
              </a:rPr>
              <a:t> </a:t>
            </a:r>
            <a:r>
              <a:rPr lang="en-US" sz="1200" spc="-10" dirty="0" smtClean="0">
                <a:latin typeface="Times New Roman"/>
                <a:cs typeface="Times New Roman"/>
              </a:rPr>
              <a:t>Website</a:t>
            </a:r>
            <a:r>
              <a:rPr sz="1200" spc="-10" dirty="0" smtClean="0">
                <a:latin typeface="Times New Roman"/>
                <a:cs typeface="Times New Roman"/>
              </a:rPr>
              <a:t>?………………………………………….1</a:t>
            </a:r>
            <a:r>
              <a:rPr lang="en-US" sz="1200" spc="-10" dirty="0" smtClean="0">
                <a:latin typeface="Times New Roman"/>
                <a:cs typeface="Times New Roman"/>
              </a:rPr>
              <a:t>1</a:t>
            </a:r>
            <a:endParaRPr sz="1200" dirty="0">
              <a:latin typeface="Times New Roman"/>
              <a:cs typeface="Times New Roman"/>
            </a:endParaRPr>
          </a:p>
        </p:txBody>
      </p:sp>
      <p:sp>
        <p:nvSpPr>
          <p:cNvPr id="10" name="object 10"/>
          <p:cNvSpPr txBox="1"/>
          <p:nvPr/>
        </p:nvSpPr>
        <p:spPr>
          <a:xfrm>
            <a:off x="528319" y="646366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1.4</a:t>
            </a:r>
            <a:endParaRPr sz="1200">
              <a:latin typeface="Times New Roman"/>
              <a:cs typeface="Times New Roman"/>
            </a:endParaRPr>
          </a:p>
        </p:txBody>
      </p:sp>
      <p:sp>
        <p:nvSpPr>
          <p:cNvPr id="11" name="object 11"/>
          <p:cNvSpPr txBox="1"/>
          <p:nvPr/>
        </p:nvSpPr>
        <p:spPr>
          <a:xfrm>
            <a:off x="1595374" y="6463664"/>
            <a:ext cx="448310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Aim</a:t>
            </a:r>
            <a:r>
              <a:rPr sz="1200" spc="70"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spc="-10" dirty="0">
                <a:latin typeface="Times New Roman"/>
                <a:cs typeface="Times New Roman"/>
              </a:rPr>
              <a:t>Project…………………………………………………..</a:t>
            </a:r>
            <a:r>
              <a:rPr sz="1200" spc="-10" dirty="0" smtClean="0">
                <a:latin typeface="Times New Roman"/>
                <a:cs typeface="Times New Roman"/>
              </a:rPr>
              <a:t>1</a:t>
            </a:r>
            <a:r>
              <a:rPr lang="en-US" sz="1200" spc="-10" dirty="0" smtClean="0">
                <a:latin typeface="Times New Roman"/>
                <a:cs typeface="Times New Roman"/>
              </a:rPr>
              <a:t>2-14</a:t>
            </a:r>
            <a:endParaRPr sz="1200" dirty="0">
              <a:latin typeface="Times New Roman"/>
              <a:cs typeface="Times New Roman"/>
            </a:endParaRPr>
          </a:p>
        </p:txBody>
      </p:sp>
      <p:sp>
        <p:nvSpPr>
          <p:cNvPr id="12" name="object 12"/>
          <p:cNvSpPr txBox="1"/>
          <p:nvPr/>
        </p:nvSpPr>
        <p:spPr>
          <a:xfrm>
            <a:off x="528319" y="6853808"/>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2.</a:t>
            </a:r>
            <a:endParaRPr sz="1200">
              <a:latin typeface="Times New Roman"/>
              <a:cs typeface="Times New Roman"/>
            </a:endParaRPr>
          </a:p>
        </p:txBody>
      </p:sp>
      <p:sp>
        <p:nvSpPr>
          <p:cNvPr id="13" name="object 13"/>
          <p:cNvSpPr txBox="1"/>
          <p:nvPr/>
        </p:nvSpPr>
        <p:spPr>
          <a:xfrm>
            <a:off x="1633473" y="6853808"/>
            <a:ext cx="422211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25" dirty="0">
                <a:latin typeface="Times New Roman"/>
                <a:cs typeface="Times New Roman"/>
              </a:rPr>
              <a:t> </a:t>
            </a:r>
            <a:r>
              <a:rPr sz="1200" b="1" spc="-10" dirty="0">
                <a:latin typeface="Times New Roman"/>
                <a:cs typeface="Times New Roman"/>
              </a:rPr>
              <a:t>No.2</a:t>
            </a:r>
            <a:r>
              <a:rPr sz="1200" b="1" spc="-10" dirty="0" smtClean="0">
                <a:latin typeface="Times New Roman"/>
                <a:cs typeface="Times New Roman"/>
              </a:rPr>
              <a:t>……………………………………………………...</a:t>
            </a:r>
            <a:r>
              <a:rPr lang="en-US" sz="1200" b="1" spc="-10" dirty="0" smtClean="0">
                <a:latin typeface="Times New Roman"/>
                <a:cs typeface="Times New Roman"/>
              </a:rPr>
              <a:t>15</a:t>
            </a:r>
            <a:endParaRPr sz="1200" dirty="0">
              <a:latin typeface="Times New Roman"/>
              <a:cs typeface="Times New Roman"/>
            </a:endParaRPr>
          </a:p>
        </p:txBody>
      </p:sp>
      <p:sp>
        <p:nvSpPr>
          <p:cNvPr id="14" name="object 14"/>
          <p:cNvSpPr txBox="1"/>
          <p:nvPr/>
        </p:nvSpPr>
        <p:spPr>
          <a:xfrm>
            <a:off x="528319" y="7244333"/>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2.1</a:t>
            </a:r>
            <a:endParaRPr sz="1200">
              <a:latin typeface="Times New Roman"/>
              <a:cs typeface="Times New Roman"/>
            </a:endParaRPr>
          </a:p>
        </p:txBody>
      </p:sp>
      <p:sp>
        <p:nvSpPr>
          <p:cNvPr id="15" name="object 15"/>
          <p:cNvSpPr txBox="1"/>
          <p:nvPr/>
        </p:nvSpPr>
        <p:spPr>
          <a:xfrm>
            <a:off x="1633473" y="7244333"/>
            <a:ext cx="424942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Software</a:t>
            </a:r>
            <a:r>
              <a:rPr sz="1200" spc="-50" dirty="0">
                <a:latin typeface="Times New Roman"/>
                <a:cs typeface="Times New Roman"/>
              </a:rPr>
              <a:t> </a:t>
            </a:r>
            <a:r>
              <a:rPr sz="1200" dirty="0">
                <a:latin typeface="Times New Roman"/>
                <a:cs typeface="Times New Roman"/>
              </a:rPr>
              <a:t>Used</a:t>
            </a:r>
            <a:r>
              <a:rPr sz="1200" spc="-4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lang="en-US" sz="1200" dirty="0" smtClean="0">
                <a:latin typeface="Times New Roman"/>
                <a:cs typeface="Times New Roman"/>
              </a:rPr>
              <a:t>Fitness Freak Website……..</a:t>
            </a:r>
            <a:r>
              <a:rPr sz="1200" spc="-10" dirty="0" smtClean="0">
                <a:latin typeface="Times New Roman"/>
                <a:cs typeface="Times New Roman"/>
              </a:rPr>
              <a:t>………...…………..1</a:t>
            </a:r>
            <a:r>
              <a:rPr lang="en-US" sz="1200" spc="-10" dirty="0" smtClean="0">
                <a:latin typeface="Times New Roman"/>
                <a:cs typeface="Times New Roman"/>
              </a:rPr>
              <a:t>5</a:t>
            </a:r>
            <a:endParaRPr sz="1200" dirty="0">
              <a:latin typeface="Times New Roman"/>
              <a:cs typeface="Times New Roman"/>
            </a:endParaRPr>
          </a:p>
        </p:txBody>
      </p:sp>
      <p:sp>
        <p:nvSpPr>
          <p:cNvPr id="16" name="object 16"/>
          <p:cNvSpPr txBox="1"/>
          <p:nvPr/>
        </p:nvSpPr>
        <p:spPr>
          <a:xfrm>
            <a:off x="528319" y="7634478"/>
            <a:ext cx="330200" cy="197490"/>
          </a:xfrm>
          <a:prstGeom prst="rect">
            <a:avLst/>
          </a:prstGeom>
        </p:spPr>
        <p:txBody>
          <a:bodyPr vert="horz" wrap="square" lIns="0" tIns="12700" rIns="0" bIns="0" rtlCol="0">
            <a:spAutoFit/>
          </a:bodyPr>
          <a:lstStyle/>
          <a:p>
            <a:pPr marL="12700">
              <a:lnSpc>
                <a:spcPct val="100000"/>
              </a:lnSpc>
              <a:spcBef>
                <a:spcPts val="100"/>
              </a:spcBef>
            </a:pPr>
            <a:r>
              <a:rPr sz="1200" spc="-10" dirty="0" smtClean="0">
                <a:latin typeface="Times New Roman"/>
                <a:cs typeface="Times New Roman"/>
              </a:rPr>
              <a:t>2.</a:t>
            </a:r>
            <a:r>
              <a:rPr lang="en-US" sz="1200" spc="-10" dirty="0" smtClean="0">
                <a:latin typeface="Times New Roman"/>
                <a:cs typeface="Times New Roman"/>
              </a:rPr>
              <a:t>2</a:t>
            </a:r>
            <a:endParaRPr sz="1200" dirty="0">
              <a:latin typeface="Times New Roman"/>
              <a:cs typeface="Times New Roman"/>
            </a:endParaRPr>
          </a:p>
        </p:txBody>
      </p:sp>
      <p:sp>
        <p:nvSpPr>
          <p:cNvPr id="17" name="object 17"/>
          <p:cNvSpPr txBox="1"/>
          <p:nvPr/>
        </p:nvSpPr>
        <p:spPr>
          <a:xfrm>
            <a:off x="1595374" y="7634478"/>
            <a:ext cx="5638799"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Web Development technology</a:t>
            </a:r>
            <a:r>
              <a:rPr sz="1200" spc="-10" dirty="0" smtClean="0">
                <a:latin typeface="Times New Roman"/>
                <a:cs typeface="Times New Roman"/>
              </a:rPr>
              <a:t>………………………………………...1</a:t>
            </a:r>
            <a:r>
              <a:rPr lang="en-US" sz="1200" spc="-10" dirty="0" smtClean="0">
                <a:latin typeface="Times New Roman"/>
                <a:cs typeface="Times New Roman"/>
              </a:rPr>
              <a:t>5</a:t>
            </a:r>
            <a:endParaRPr sz="1200" dirty="0">
              <a:latin typeface="Times New Roman"/>
              <a:cs typeface="Times New Roman"/>
            </a:endParaRPr>
          </a:p>
        </p:txBody>
      </p:sp>
      <p:sp>
        <p:nvSpPr>
          <p:cNvPr id="18" name="object 18"/>
          <p:cNvSpPr txBox="1"/>
          <p:nvPr/>
        </p:nvSpPr>
        <p:spPr>
          <a:xfrm>
            <a:off x="528319" y="8024621"/>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2.</a:t>
            </a:r>
            <a:r>
              <a:rPr lang="en-US" sz="1200" spc="-25" dirty="0" smtClean="0">
                <a:latin typeface="Times New Roman"/>
                <a:cs typeface="Times New Roman"/>
              </a:rPr>
              <a:t>3</a:t>
            </a:r>
            <a:endParaRPr sz="1200" dirty="0">
              <a:latin typeface="Times New Roman"/>
              <a:cs typeface="Times New Roman"/>
            </a:endParaRPr>
          </a:p>
        </p:txBody>
      </p:sp>
      <p:sp>
        <p:nvSpPr>
          <p:cNvPr id="19" name="object 19"/>
          <p:cNvSpPr txBox="1"/>
          <p:nvPr/>
        </p:nvSpPr>
        <p:spPr>
          <a:xfrm>
            <a:off x="1633220" y="8024621"/>
            <a:ext cx="425323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Common uses of th</a:t>
            </a:r>
            <a:r>
              <a:rPr lang="en-US" sz="1200" spc="-10" dirty="0" smtClean="0">
                <a:latin typeface="Times New Roman"/>
                <a:cs typeface="Times New Roman"/>
              </a:rPr>
              <a:t>e project………………….</a:t>
            </a:r>
            <a:r>
              <a:rPr sz="1200" spc="-10" dirty="0" smtClean="0">
                <a:latin typeface="Times New Roman"/>
                <a:cs typeface="Times New Roman"/>
              </a:rPr>
              <a:t>…………………….1</a:t>
            </a:r>
            <a:r>
              <a:rPr lang="en-US" sz="1200" spc="-10" dirty="0" smtClean="0">
                <a:latin typeface="Times New Roman"/>
                <a:cs typeface="Times New Roman"/>
              </a:rPr>
              <a:t>6</a:t>
            </a:r>
            <a:endParaRPr sz="1200" dirty="0">
              <a:latin typeface="Times New Roman"/>
              <a:cs typeface="Times New Roman"/>
            </a:endParaRPr>
          </a:p>
        </p:txBody>
      </p:sp>
      <p:sp>
        <p:nvSpPr>
          <p:cNvPr id="20" name="object 20"/>
          <p:cNvSpPr txBox="1"/>
          <p:nvPr/>
        </p:nvSpPr>
        <p:spPr>
          <a:xfrm>
            <a:off x="528319" y="8413241"/>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2.</a:t>
            </a:r>
            <a:r>
              <a:rPr lang="en-US" sz="1200" spc="-25" dirty="0" smtClean="0">
                <a:latin typeface="Times New Roman"/>
                <a:cs typeface="Times New Roman"/>
              </a:rPr>
              <a:t>4</a:t>
            </a:r>
            <a:endParaRPr sz="1200" dirty="0">
              <a:latin typeface="Times New Roman"/>
              <a:cs typeface="Times New Roman"/>
            </a:endParaRPr>
          </a:p>
        </p:txBody>
      </p:sp>
      <p:sp>
        <p:nvSpPr>
          <p:cNvPr id="21" name="object 21"/>
          <p:cNvSpPr txBox="1"/>
          <p:nvPr/>
        </p:nvSpPr>
        <p:spPr>
          <a:xfrm>
            <a:off x="1633220" y="8413241"/>
            <a:ext cx="423037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Popular libraries and framework…………………</a:t>
            </a:r>
            <a:r>
              <a:rPr sz="1200" spc="-10" dirty="0" smtClean="0">
                <a:latin typeface="Times New Roman"/>
                <a:cs typeface="Times New Roman"/>
              </a:rPr>
              <a:t>………………..</a:t>
            </a:r>
            <a:r>
              <a:rPr lang="en-US" sz="1200" spc="-10" dirty="0" smtClean="0">
                <a:latin typeface="Times New Roman"/>
                <a:cs typeface="Times New Roman"/>
              </a:rPr>
              <a:t>16</a:t>
            </a:r>
            <a:endParaRPr sz="1200" dirty="0">
              <a:latin typeface="Times New Roman"/>
              <a:cs typeface="Times New Roman"/>
            </a:endParaRPr>
          </a:p>
        </p:txBody>
      </p:sp>
      <p:sp>
        <p:nvSpPr>
          <p:cNvPr id="22" name="object 22"/>
          <p:cNvSpPr txBox="1"/>
          <p:nvPr/>
        </p:nvSpPr>
        <p:spPr>
          <a:xfrm>
            <a:off x="528319" y="8803385"/>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2.</a:t>
            </a:r>
            <a:r>
              <a:rPr lang="en-US" sz="1200" spc="-25" dirty="0" smtClean="0">
                <a:latin typeface="Times New Roman"/>
                <a:cs typeface="Times New Roman"/>
              </a:rPr>
              <a:t>5</a:t>
            </a:r>
            <a:endParaRPr sz="1200" dirty="0">
              <a:latin typeface="Times New Roman"/>
              <a:cs typeface="Times New Roman"/>
            </a:endParaRPr>
          </a:p>
        </p:txBody>
      </p:sp>
      <p:sp>
        <p:nvSpPr>
          <p:cNvPr id="23" name="object 23"/>
          <p:cNvSpPr txBox="1"/>
          <p:nvPr/>
        </p:nvSpPr>
        <p:spPr>
          <a:xfrm>
            <a:off x="1633220" y="8803385"/>
            <a:ext cx="4297045"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Development Environment……………………..</a:t>
            </a:r>
            <a:r>
              <a:rPr sz="1200" spc="-10" dirty="0" smtClean="0">
                <a:latin typeface="Times New Roman"/>
                <a:cs typeface="Times New Roman"/>
              </a:rPr>
              <a:t>…………………..</a:t>
            </a:r>
            <a:r>
              <a:rPr lang="en-US" sz="1200" spc="-10" dirty="0" smtClean="0">
                <a:latin typeface="Times New Roman"/>
                <a:cs typeface="Times New Roman"/>
              </a:rPr>
              <a:t>16</a:t>
            </a:r>
            <a:endParaRPr sz="1200" dirty="0">
              <a:latin typeface="Times New Roman"/>
              <a:cs typeface="Times New Roman"/>
            </a:endParaRPr>
          </a:p>
        </p:txBody>
      </p:sp>
      <p:sp>
        <p:nvSpPr>
          <p:cNvPr id="24" name="object 24"/>
          <p:cNvSpPr txBox="1"/>
          <p:nvPr/>
        </p:nvSpPr>
        <p:spPr>
          <a:xfrm>
            <a:off x="528319" y="9193783"/>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2.</a:t>
            </a:r>
            <a:r>
              <a:rPr lang="en-US" sz="1200" spc="-25" dirty="0">
                <a:latin typeface="Times New Roman"/>
                <a:cs typeface="Times New Roman"/>
              </a:rPr>
              <a:t>6</a:t>
            </a:r>
            <a:endParaRPr sz="1200" dirty="0">
              <a:latin typeface="Times New Roman"/>
              <a:cs typeface="Times New Roman"/>
            </a:endParaRPr>
          </a:p>
        </p:txBody>
      </p:sp>
      <p:sp>
        <p:nvSpPr>
          <p:cNvPr id="25" name="object 25"/>
          <p:cNvSpPr txBox="1"/>
          <p:nvPr/>
        </p:nvSpPr>
        <p:spPr>
          <a:xfrm>
            <a:off x="1633220" y="9193783"/>
            <a:ext cx="4272915"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Getting started with development……………..</a:t>
            </a:r>
            <a:r>
              <a:rPr sz="1200" spc="-10" dirty="0" smtClean="0">
                <a:latin typeface="Times New Roman"/>
                <a:cs typeface="Times New Roman"/>
              </a:rPr>
              <a:t>……………………</a:t>
            </a:r>
            <a:r>
              <a:rPr lang="en-US" sz="1200" spc="-10" dirty="0" smtClean="0">
                <a:latin typeface="Times New Roman"/>
                <a:cs typeface="Times New Roman"/>
              </a:rPr>
              <a:t>16</a:t>
            </a:r>
            <a:endParaRPr sz="1200" dirty="0">
              <a:latin typeface="Times New Roman"/>
              <a:cs typeface="Times New Roman"/>
            </a:endParaRPr>
          </a:p>
        </p:txBody>
      </p:sp>
      <p:sp>
        <p:nvSpPr>
          <p:cNvPr id="28" name="object 28"/>
          <p:cNvSpPr txBox="1"/>
          <p:nvPr/>
        </p:nvSpPr>
        <p:spPr>
          <a:xfrm>
            <a:off x="528319" y="9974071"/>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3.</a:t>
            </a:r>
            <a:endParaRPr sz="1200">
              <a:latin typeface="Times New Roman"/>
              <a:cs typeface="Times New Roman"/>
            </a:endParaRPr>
          </a:p>
        </p:txBody>
      </p:sp>
      <p:sp>
        <p:nvSpPr>
          <p:cNvPr id="29" name="object 29"/>
          <p:cNvSpPr txBox="1"/>
          <p:nvPr/>
        </p:nvSpPr>
        <p:spPr>
          <a:xfrm>
            <a:off x="1595374" y="9974071"/>
            <a:ext cx="433641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40" dirty="0">
                <a:latin typeface="Times New Roman"/>
                <a:cs typeface="Times New Roman"/>
              </a:rPr>
              <a:t> </a:t>
            </a:r>
            <a:r>
              <a:rPr sz="1200" b="1" spc="-10" dirty="0">
                <a:latin typeface="Times New Roman"/>
                <a:cs typeface="Times New Roman"/>
              </a:rPr>
              <a:t>No.3</a:t>
            </a:r>
            <a:r>
              <a:rPr sz="1200" b="1" spc="-10" dirty="0" smtClean="0">
                <a:latin typeface="Times New Roman"/>
                <a:cs typeface="Times New Roman"/>
              </a:rPr>
              <a:t>………………………………………………………..</a:t>
            </a:r>
            <a:r>
              <a:rPr lang="en-US" sz="1200" b="1" spc="-10" dirty="0" smtClean="0">
                <a:latin typeface="Times New Roman"/>
                <a:cs typeface="Times New Roman"/>
              </a:rPr>
              <a:t>17</a:t>
            </a:r>
            <a:endParaRPr sz="12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 name="object 52"/>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5</a:t>
            </a:fld>
            <a:r>
              <a:rPr spc="-20" dirty="0"/>
              <a:t>]</a:t>
            </a:r>
          </a:p>
        </p:txBody>
      </p:sp>
      <p:sp>
        <p:nvSpPr>
          <p:cNvPr id="2" name="object 2"/>
          <p:cNvSpPr txBox="1"/>
          <p:nvPr/>
        </p:nvSpPr>
        <p:spPr>
          <a:xfrm>
            <a:off x="528319" y="372871"/>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3.1</a:t>
            </a:r>
            <a:endParaRPr sz="1200">
              <a:latin typeface="Times New Roman"/>
              <a:cs typeface="Times New Roman"/>
            </a:endParaRPr>
          </a:p>
        </p:txBody>
      </p:sp>
      <p:sp>
        <p:nvSpPr>
          <p:cNvPr id="3" name="object 3"/>
          <p:cNvSpPr txBox="1"/>
          <p:nvPr/>
        </p:nvSpPr>
        <p:spPr>
          <a:xfrm>
            <a:off x="1595120" y="372871"/>
            <a:ext cx="438848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30" dirty="0">
                <a:latin typeface="Times New Roman"/>
                <a:cs typeface="Times New Roman"/>
              </a:rPr>
              <a:t> </a:t>
            </a:r>
            <a:r>
              <a:rPr sz="1200" spc="-10" dirty="0" smtClean="0">
                <a:latin typeface="Times New Roman"/>
                <a:cs typeface="Times New Roman"/>
              </a:rPr>
              <a:t>Requirement………………………</a:t>
            </a:r>
            <a:r>
              <a:rPr lang="en-US" sz="1200" spc="-10" dirty="0" smtClean="0">
                <a:latin typeface="Times New Roman"/>
                <a:cs typeface="Times New Roman"/>
              </a:rPr>
              <a:t>..</a:t>
            </a:r>
            <a:r>
              <a:rPr sz="1200" spc="-10" dirty="0" smtClean="0">
                <a:latin typeface="Times New Roman"/>
                <a:cs typeface="Times New Roman"/>
              </a:rPr>
              <a:t>…………………….</a:t>
            </a:r>
            <a:r>
              <a:rPr lang="en-US" sz="1200" spc="-10" dirty="0" smtClean="0">
                <a:latin typeface="Times New Roman"/>
                <a:cs typeface="Times New Roman"/>
              </a:rPr>
              <a:t>17-18</a:t>
            </a:r>
            <a:endParaRPr sz="1200" dirty="0">
              <a:latin typeface="Times New Roman"/>
              <a:cs typeface="Times New Roman"/>
            </a:endParaRPr>
          </a:p>
        </p:txBody>
      </p:sp>
      <p:sp>
        <p:nvSpPr>
          <p:cNvPr id="4" name="object 4"/>
          <p:cNvSpPr txBox="1"/>
          <p:nvPr/>
        </p:nvSpPr>
        <p:spPr>
          <a:xfrm>
            <a:off x="528319" y="763015"/>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3.2</a:t>
            </a:r>
            <a:endParaRPr sz="1200">
              <a:latin typeface="Times New Roman"/>
              <a:cs typeface="Times New Roman"/>
            </a:endParaRPr>
          </a:p>
        </p:txBody>
      </p:sp>
      <p:sp>
        <p:nvSpPr>
          <p:cNvPr id="5" name="object 5"/>
          <p:cNvSpPr txBox="1"/>
          <p:nvPr/>
        </p:nvSpPr>
        <p:spPr>
          <a:xfrm>
            <a:off x="1595120" y="763015"/>
            <a:ext cx="441325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Software</a:t>
            </a:r>
            <a:r>
              <a:rPr sz="1200" spc="-65" dirty="0">
                <a:latin typeface="Times New Roman"/>
                <a:cs typeface="Times New Roman"/>
              </a:rPr>
              <a:t> </a:t>
            </a:r>
            <a:r>
              <a:rPr sz="1200" spc="-10" dirty="0">
                <a:latin typeface="Times New Roman"/>
                <a:cs typeface="Times New Roman"/>
              </a:rPr>
              <a:t>Requirement</a:t>
            </a:r>
            <a:r>
              <a:rPr sz="1200" spc="-10" dirty="0" smtClean="0">
                <a:latin typeface="Times New Roman"/>
                <a:cs typeface="Times New Roman"/>
              </a:rPr>
              <a:t>………………………………………………...</a:t>
            </a:r>
            <a:r>
              <a:rPr lang="en-US" sz="1200" spc="-10" dirty="0" smtClean="0">
                <a:latin typeface="Times New Roman"/>
                <a:cs typeface="Times New Roman"/>
              </a:rPr>
              <a:t>19</a:t>
            </a:r>
            <a:endParaRPr sz="1200" dirty="0">
              <a:latin typeface="Times New Roman"/>
              <a:cs typeface="Times New Roman"/>
            </a:endParaRPr>
          </a:p>
        </p:txBody>
      </p:sp>
      <p:sp>
        <p:nvSpPr>
          <p:cNvPr id="6" name="object 6"/>
          <p:cNvSpPr txBox="1"/>
          <p:nvPr/>
        </p:nvSpPr>
        <p:spPr>
          <a:xfrm>
            <a:off x="528319" y="115341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3.3</a:t>
            </a:r>
            <a:endParaRPr sz="1200">
              <a:latin typeface="Times New Roman"/>
              <a:cs typeface="Times New Roman"/>
            </a:endParaRPr>
          </a:p>
        </p:txBody>
      </p:sp>
      <p:sp>
        <p:nvSpPr>
          <p:cNvPr id="7" name="object 7"/>
          <p:cNvSpPr txBox="1"/>
          <p:nvPr/>
        </p:nvSpPr>
        <p:spPr>
          <a:xfrm>
            <a:off x="1595120" y="1153414"/>
            <a:ext cx="436753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Additional</a:t>
            </a:r>
            <a:r>
              <a:rPr sz="1200" spc="-60" dirty="0">
                <a:latin typeface="Times New Roman"/>
                <a:cs typeface="Times New Roman"/>
              </a:rPr>
              <a:t> </a:t>
            </a:r>
            <a:r>
              <a:rPr sz="1200" spc="-10" dirty="0">
                <a:latin typeface="Times New Roman"/>
                <a:cs typeface="Times New Roman"/>
              </a:rPr>
              <a:t>Recommendations</a:t>
            </a:r>
            <a:r>
              <a:rPr sz="1200" spc="-10" dirty="0" smtClean="0">
                <a:latin typeface="Times New Roman"/>
                <a:cs typeface="Times New Roman"/>
              </a:rPr>
              <a:t>………………………………………..</a:t>
            </a:r>
            <a:r>
              <a:rPr lang="en-US" sz="1200" spc="-10" dirty="0" smtClean="0">
                <a:latin typeface="Times New Roman"/>
                <a:cs typeface="Times New Roman"/>
              </a:rPr>
              <a:t>19</a:t>
            </a:r>
            <a:endParaRPr sz="1200" dirty="0">
              <a:latin typeface="Times New Roman"/>
              <a:cs typeface="Times New Roman"/>
            </a:endParaRPr>
          </a:p>
        </p:txBody>
      </p:sp>
      <p:sp>
        <p:nvSpPr>
          <p:cNvPr id="8" name="object 8"/>
          <p:cNvSpPr txBox="1"/>
          <p:nvPr/>
        </p:nvSpPr>
        <p:spPr>
          <a:xfrm>
            <a:off x="528319" y="1542033"/>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4.</a:t>
            </a:r>
            <a:endParaRPr sz="1200">
              <a:latin typeface="Times New Roman"/>
              <a:cs typeface="Times New Roman"/>
            </a:endParaRPr>
          </a:p>
        </p:txBody>
      </p:sp>
      <p:sp>
        <p:nvSpPr>
          <p:cNvPr id="9" name="object 9"/>
          <p:cNvSpPr txBox="1"/>
          <p:nvPr/>
        </p:nvSpPr>
        <p:spPr>
          <a:xfrm>
            <a:off x="1595120" y="1542033"/>
            <a:ext cx="44132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40" dirty="0">
                <a:latin typeface="Times New Roman"/>
                <a:cs typeface="Times New Roman"/>
              </a:rPr>
              <a:t> </a:t>
            </a:r>
            <a:r>
              <a:rPr sz="1200" b="1" spc="-10" dirty="0">
                <a:latin typeface="Times New Roman"/>
                <a:cs typeface="Times New Roman"/>
              </a:rPr>
              <a:t>No.4…………………………………………………………</a:t>
            </a:r>
            <a:r>
              <a:rPr sz="1200" b="1" spc="-10" dirty="0" smtClean="0">
                <a:latin typeface="Times New Roman"/>
                <a:cs typeface="Times New Roman"/>
              </a:rPr>
              <a:t>2</a:t>
            </a:r>
            <a:r>
              <a:rPr lang="en-US" sz="1200" b="1" spc="-10" dirty="0" smtClean="0">
                <a:latin typeface="Times New Roman"/>
                <a:cs typeface="Times New Roman"/>
              </a:rPr>
              <a:t>0</a:t>
            </a:r>
            <a:endParaRPr sz="1200" dirty="0">
              <a:latin typeface="Times New Roman"/>
              <a:cs typeface="Times New Roman"/>
            </a:endParaRPr>
          </a:p>
        </p:txBody>
      </p:sp>
      <p:sp>
        <p:nvSpPr>
          <p:cNvPr id="10" name="object 10"/>
          <p:cNvSpPr txBox="1"/>
          <p:nvPr/>
        </p:nvSpPr>
        <p:spPr>
          <a:xfrm>
            <a:off x="528319" y="1932177"/>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4.1</a:t>
            </a:r>
            <a:endParaRPr sz="1200">
              <a:latin typeface="Times New Roman"/>
              <a:cs typeface="Times New Roman"/>
            </a:endParaRPr>
          </a:p>
        </p:txBody>
      </p:sp>
      <p:sp>
        <p:nvSpPr>
          <p:cNvPr id="11" name="object 11"/>
          <p:cNvSpPr txBox="1"/>
          <p:nvPr/>
        </p:nvSpPr>
        <p:spPr>
          <a:xfrm>
            <a:off x="1595120" y="1932177"/>
            <a:ext cx="442531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Literature</a:t>
            </a:r>
            <a:r>
              <a:rPr sz="1200" spc="-60" dirty="0">
                <a:latin typeface="Times New Roman"/>
                <a:cs typeface="Times New Roman"/>
              </a:rPr>
              <a:t> </a:t>
            </a:r>
            <a:r>
              <a:rPr sz="1200" dirty="0">
                <a:latin typeface="Times New Roman"/>
                <a:cs typeface="Times New Roman"/>
              </a:rPr>
              <a:t>Review</a:t>
            </a:r>
            <a:r>
              <a:rPr sz="1200" spc="-5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lang="en-US" sz="1200" spc="-40" dirty="0" smtClean="0">
                <a:latin typeface="Times New Roman"/>
                <a:cs typeface="Times New Roman"/>
              </a:rPr>
              <a:t>fitness Freak Website……….</a:t>
            </a:r>
            <a:r>
              <a:rPr sz="1200" spc="-10" dirty="0" smtClean="0">
                <a:latin typeface="Times New Roman"/>
                <a:cs typeface="Times New Roman"/>
              </a:rPr>
              <a:t>……………………2</a:t>
            </a:r>
            <a:r>
              <a:rPr lang="en-US" sz="1200" spc="-10" dirty="0" smtClean="0">
                <a:latin typeface="Times New Roman"/>
                <a:cs typeface="Times New Roman"/>
              </a:rPr>
              <a:t>0</a:t>
            </a:r>
            <a:endParaRPr sz="1200" dirty="0">
              <a:latin typeface="Times New Roman"/>
              <a:cs typeface="Times New Roman"/>
            </a:endParaRPr>
          </a:p>
        </p:txBody>
      </p:sp>
      <p:sp>
        <p:nvSpPr>
          <p:cNvPr id="12" name="object 12"/>
          <p:cNvSpPr txBox="1"/>
          <p:nvPr/>
        </p:nvSpPr>
        <p:spPr>
          <a:xfrm>
            <a:off x="528319" y="2322321"/>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4.2</a:t>
            </a:r>
            <a:endParaRPr sz="1200">
              <a:latin typeface="Times New Roman"/>
              <a:cs typeface="Times New Roman"/>
            </a:endParaRPr>
          </a:p>
        </p:txBody>
      </p:sp>
      <p:sp>
        <p:nvSpPr>
          <p:cNvPr id="13" name="object 13"/>
          <p:cNvSpPr txBox="1"/>
          <p:nvPr/>
        </p:nvSpPr>
        <p:spPr>
          <a:xfrm>
            <a:off x="1595120" y="2322321"/>
            <a:ext cx="4436110" cy="382156"/>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Health and Fitness </a:t>
            </a:r>
            <a:r>
              <a:rPr lang="en-US" sz="1200" spc="-10" dirty="0" err="1" smtClean="0">
                <a:latin typeface="Times New Roman"/>
                <a:cs typeface="Times New Roman"/>
              </a:rPr>
              <a:t>Websitelication</a:t>
            </a:r>
            <a:r>
              <a:rPr lang="en-US" sz="1200" spc="-10" dirty="0" smtClean="0">
                <a:latin typeface="Times New Roman"/>
                <a:cs typeface="Times New Roman"/>
              </a:rPr>
              <a:t>….</a:t>
            </a:r>
            <a:r>
              <a:rPr sz="1200" spc="-10" dirty="0" smtClean="0">
                <a:latin typeface="Times New Roman"/>
                <a:cs typeface="Times New Roman"/>
              </a:rPr>
              <a:t>……………………………………2</a:t>
            </a:r>
            <a:r>
              <a:rPr lang="en-US" sz="1200" spc="-10" dirty="0" smtClean="0">
                <a:latin typeface="Times New Roman"/>
                <a:cs typeface="Times New Roman"/>
              </a:rPr>
              <a:t>0</a:t>
            </a:r>
            <a:endParaRPr sz="1200" dirty="0">
              <a:latin typeface="Times New Roman"/>
              <a:cs typeface="Times New Roman"/>
            </a:endParaRPr>
          </a:p>
        </p:txBody>
      </p:sp>
      <p:sp>
        <p:nvSpPr>
          <p:cNvPr id="14" name="object 14"/>
          <p:cNvSpPr txBox="1"/>
          <p:nvPr/>
        </p:nvSpPr>
        <p:spPr>
          <a:xfrm>
            <a:off x="528319" y="2712465"/>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4.3</a:t>
            </a:r>
            <a:endParaRPr sz="1200">
              <a:latin typeface="Times New Roman"/>
              <a:cs typeface="Times New Roman"/>
            </a:endParaRPr>
          </a:p>
        </p:txBody>
      </p:sp>
      <p:sp>
        <p:nvSpPr>
          <p:cNvPr id="15" name="object 15"/>
          <p:cNvSpPr txBox="1"/>
          <p:nvPr/>
        </p:nvSpPr>
        <p:spPr>
          <a:xfrm>
            <a:off x="1595120" y="2712465"/>
            <a:ext cx="4417695"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Subscription Method </a:t>
            </a:r>
            <a:r>
              <a:rPr sz="1200" spc="-10" dirty="0" smtClean="0">
                <a:latin typeface="Times New Roman"/>
                <a:cs typeface="Times New Roman"/>
              </a:rPr>
              <a:t>System…</a:t>
            </a:r>
            <a:r>
              <a:rPr lang="en-US" sz="1200" spc="-10" dirty="0" smtClean="0">
                <a:latin typeface="Times New Roman"/>
                <a:cs typeface="Times New Roman"/>
              </a:rPr>
              <a:t>……………</a:t>
            </a:r>
            <a:r>
              <a:rPr sz="1200" spc="-10" dirty="0" smtClean="0">
                <a:latin typeface="Times New Roman"/>
                <a:cs typeface="Times New Roman"/>
              </a:rPr>
              <a:t>………………………….2</a:t>
            </a:r>
            <a:r>
              <a:rPr lang="en-US" sz="1200" spc="-10" dirty="0" smtClean="0">
                <a:latin typeface="Times New Roman"/>
                <a:cs typeface="Times New Roman"/>
              </a:rPr>
              <a:t>0</a:t>
            </a:r>
            <a:endParaRPr sz="1200" dirty="0">
              <a:latin typeface="Times New Roman"/>
              <a:cs typeface="Times New Roman"/>
            </a:endParaRPr>
          </a:p>
        </p:txBody>
      </p:sp>
      <p:sp>
        <p:nvSpPr>
          <p:cNvPr id="16" name="object 16"/>
          <p:cNvSpPr txBox="1"/>
          <p:nvPr/>
        </p:nvSpPr>
        <p:spPr>
          <a:xfrm>
            <a:off x="528319" y="3102990"/>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4.4</a:t>
            </a:r>
            <a:endParaRPr sz="1200">
              <a:latin typeface="Times New Roman"/>
              <a:cs typeface="Times New Roman"/>
            </a:endParaRPr>
          </a:p>
        </p:txBody>
      </p:sp>
      <p:sp>
        <p:nvSpPr>
          <p:cNvPr id="17" name="object 17"/>
          <p:cNvSpPr txBox="1"/>
          <p:nvPr/>
        </p:nvSpPr>
        <p:spPr>
          <a:xfrm>
            <a:off x="1595374" y="3102990"/>
            <a:ext cx="442468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E-Commerce Integration in </a:t>
            </a:r>
            <a:r>
              <a:rPr lang="en-US" sz="1200" spc="-10" dirty="0">
                <a:latin typeface="Times New Roman"/>
                <a:cs typeface="Times New Roman"/>
              </a:rPr>
              <a:t>F</a:t>
            </a:r>
            <a:r>
              <a:rPr lang="en-US" sz="1200" spc="-10" dirty="0" smtClean="0">
                <a:latin typeface="Times New Roman"/>
                <a:cs typeface="Times New Roman"/>
              </a:rPr>
              <a:t>itness Platform</a:t>
            </a:r>
            <a:r>
              <a:rPr sz="1200" spc="-10" dirty="0" smtClean="0">
                <a:latin typeface="Times New Roman"/>
                <a:cs typeface="Times New Roman"/>
              </a:rPr>
              <a:t>…………………………..</a:t>
            </a:r>
            <a:r>
              <a:rPr lang="en-US" sz="1200" spc="-10" dirty="0" smtClean="0">
                <a:latin typeface="Times New Roman"/>
                <a:cs typeface="Times New Roman"/>
              </a:rPr>
              <a:t>20</a:t>
            </a:r>
            <a:endParaRPr sz="1200" dirty="0">
              <a:latin typeface="Times New Roman"/>
              <a:cs typeface="Times New Roman"/>
            </a:endParaRPr>
          </a:p>
        </p:txBody>
      </p:sp>
      <p:sp>
        <p:nvSpPr>
          <p:cNvPr id="18" name="object 18"/>
          <p:cNvSpPr txBox="1"/>
          <p:nvPr/>
        </p:nvSpPr>
        <p:spPr>
          <a:xfrm>
            <a:off x="528319" y="349313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4.5</a:t>
            </a:r>
            <a:endParaRPr sz="1200">
              <a:latin typeface="Times New Roman"/>
              <a:cs typeface="Times New Roman"/>
            </a:endParaRPr>
          </a:p>
        </p:txBody>
      </p:sp>
      <p:sp>
        <p:nvSpPr>
          <p:cNvPr id="19" name="object 19"/>
          <p:cNvSpPr txBox="1"/>
          <p:nvPr/>
        </p:nvSpPr>
        <p:spPr>
          <a:xfrm>
            <a:off x="1567941" y="3493134"/>
            <a:ext cx="4461510" cy="197490"/>
          </a:xfrm>
          <a:prstGeom prst="rect">
            <a:avLst/>
          </a:prstGeom>
        </p:spPr>
        <p:txBody>
          <a:bodyPr vert="horz" wrap="square" lIns="0" tIns="12700" rIns="0" bIns="0" rtlCol="0">
            <a:spAutoFit/>
          </a:bodyPr>
          <a:lstStyle/>
          <a:p>
            <a:pPr marL="12700">
              <a:lnSpc>
                <a:spcPct val="100000"/>
              </a:lnSpc>
              <a:spcBef>
                <a:spcPts val="100"/>
              </a:spcBef>
            </a:pPr>
            <a:r>
              <a:rPr lang="en-US" sz="1200" dirty="0" smtClean="0">
                <a:latin typeface="Times New Roman"/>
                <a:cs typeface="Times New Roman"/>
              </a:rPr>
              <a:t>User experience(UX) and Interface Design</a:t>
            </a:r>
            <a:r>
              <a:rPr lang="en-US" sz="1200" spc="-10" dirty="0" smtClean="0">
                <a:latin typeface="Times New Roman"/>
                <a:cs typeface="Times New Roman"/>
              </a:rPr>
              <a:t>.</a:t>
            </a:r>
            <a:r>
              <a:rPr sz="1200" spc="-10" dirty="0" smtClean="0">
                <a:latin typeface="Times New Roman"/>
                <a:cs typeface="Times New Roman"/>
              </a:rPr>
              <a:t>…………………………..</a:t>
            </a:r>
            <a:r>
              <a:rPr lang="en-US" sz="1200" spc="-10" dirty="0">
                <a:latin typeface="Times New Roman"/>
                <a:cs typeface="Times New Roman"/>
              </a:rPr>
              <a:t>2</a:t>
            </a:r>
            <a:r>
              <a:rPr sz="1200" spc="-10" dirty="0" smtClean="0">
                <a:latin typeface="Times New Roman"/>
                <a:cs typeface="Times New Roman"/>
              </a:rPr>
              <a:t>0</a:t>
            </a:r>
            <a:endParaRPr sz="1200" dirty="0">
              <a:latin typeface="Times New Roman"/>
              <a:cs typeface="Times New Roman"/>
            </a:endParaRPr>
          </a:p>
        </p:txBody>
      </p:sp>
      <p:sp>
        <p:nvSpPr>
          <p:cNvPr id="20" name="object 20"/>
          <p:cNvSpPr txBox="1"/>
          <p:nvPr/>
        </p:nvSpPr>
        <p:spPr>
          <a:xfrm>
            <a:off x="528319" y="388175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4.6</a:t>
            </a:r>
            <a:endParaRPr sz="1200">
              <a:latin typeface="Times New Roman"/>
              <a:cs typeface="Times New Roman"/>
            </a:endParaRPr>
          </a:p>
        </p:txBody>
      </p:sp>
      <p:sp>
        <p:nvSpPr>
          <p:cNvPr id="21" name="object 21"/>
          <p:cNvSpPr txBox="1"/>
          <p:nvPr/>
        </p:nvSpPr>
        <p:spPr>
          <a:xfrm>
            <a:off x="1595374" y="3881754"/>
            <a:ext cx="4441825"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Times New Roman"/>
                <a:cs typeface="Times New Roman"/>
              </a:rPr>
              <a:t>API Integration and Third-Party Service</a:t>
            </a:r>
            <a:r>
              <a:rPr lang="en-US" sz="1200" spc="-10" dirty="0">
                <a:latin typeface="Times New Roman"/>
                <a:cs typeface="Times New Roman"/>
              </a:rPr>
              <a:t>s</a:t>
            </a:r>
            <a:r>
              <a:rPr sz="1200" spc="-10" dirty="0" smtClean="0">
                <a:latin typeface="Times New Roman"/>
                <a:cs typeface="Times New Roman"/>
              </a:rPr>
              <a:t>……………………………</a:t>
            </a:r>
            <a:r>
              <a:rPr lang="en-US" sz="1200" spc="-10" dirty="0" smtClean="0">
                <a:latin typeface="Times New Roman"/>
                <a:cs typeface="Times New Roman"/>
              </a:rPr>
              <a:t>21</a:t>
            </a:r>
            <a:endParaRPr sz="1200" dirty="0">
              <a:latin typeface="Times New Roman"/>
              <a:cs typeface="Times New Roman"/>
            </a:endParaRPr>
          </a:p>
        </p:txBody>
      </p:sp>
      <p:sp>
        <p:nvSpPr>
          <p:cNvPr id="22" name="object 22"/>
          <p:cNvSpPr txBox="1"/>
          <p:nvPr/>
        </p:nvSpPr>
        <p:spPr>
          <a:xfrm>
            <a:off x="528319" y="427189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4.7</a:t>
            </a:r>
            <a:endParaRPr sz="1200">
              <a:latin typeface="Times New Roman"/>
              <a:cs typeface="Times New Roman"/>
            </a:endParaRPr>
          </a:p>
        </p:txBody>
      </p:sp>
      <p:sp>
        <p:nvSpPr>
          <p:cNvPr id="23" name="object 23"/>
          <p:cNvSpPr txBox="1"/>
          <p:nvPr/>
        </p:nvSpPr>
        <p:spPr>
          <a:xfrm>
            <a:off x="1599946" y="4271898"/>
            <a:ext cx="446024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Cross-</a:t>
            </a:r>
            <a:r>
              <a:rPr sz="1200" dirty="0">
                <a:latin typeface="Times New Roman"/>
                <a:cs typeface="Times New Roman"/>
              </a:rPr>
              <a:t>Platform </a:t>
            </a:r>
            <a:r>
              <a:rPr sz="1200" spc="-10" dirty="0">
                <a:latin typeface="Times New Roman"/>
                <a:cs typeface="Times New Roman"/>
              </a:rPr>
              <a:t>Accessibility</a:t>
            </a:r>
            <a:r>
              <a:rPr sz="1200" spc="-10" dirty="0" smtClean="0">
                <a:latin typeface="Times New Roman"/>
                <a:cs typeface="Times New Roman"/>
              </a:rPr>
              <a:t>………………………………..…………</a:t>
            </a:r>
            <a:r>
              <a:rPr lang="en-US" sz="1200" spc="-10" dirty="0" smtClean="0">
                <a:latin typeface="Times New Roman"/>
                <a:cs typeface="Times New Roman"/>
              </a:rPr>
              <a:t>21</a:t>
            </a:r>
            <a:endParaRPr sz="1200" dirty="0">
              <a:latin typeface="Times New Roman"/>
              <a:cs typeface="Times New Roman"/>
            </a:endParaRPr>
          </a:p>
        </p:txBody>
      </p:sp>
      <p:sp>
        <p:nvSpPr>
          <p:cNvPr id="24" name="object 24"/>
          <p:cNvSpPr txBox="1"/>
          <p:nvPr/>
        </p:nvSpPr>
        <p:spPr>
          <a:xfrm>
            <a:off x="528319" y="4662042"/>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5.</a:t>
            </a:r>
            <a:endParaRPr sz="1200">
              <a:latin typeface="Times New Roman"/>
              <a:cs typeface="Times New Roman"/>
            </a:endParaRPr>
          </a:p>
        </p:txBody>
      </p:sp>
      <p:sp>
        <p:nvSpPr>
          <p:cNvPr id="25" name="object 25"/>
          <p:cNvSpPr txBox="1"/>
          <p:nvPr/>
        </p:nvSpPr>
        <p:spPr>
          <a:xfrm>
            <a:off x="1595120" y="4662042"/>
            <a:ext cx="44513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40" dirty="0">
                <a:latin typeface="Times New Roman"/>
                <a:cs typeface="Times New Roman"/>
              </a:rPr>
              <a:t> </a:t>
            </a:r>
            <a:r>
              <a:rPr sz="1200" b="1" spc="-10" dirty="0">
                <a:latin typeface="Times New Roman"/>
                <a:cs typeface="Times New Roman"/>
              </a:rPr>
              <a:t>No.5</a:t>
            </a:r>
            <a:r>
              <a:rPr sz="1200" b="1" spc="-10" dirty="0" smtClean="0">
                <a:latin typeface="Times New Roman"/>
                <a:cs typeface="Times New Roman"/>
              </a:rPr>
              <a:t>…………………………………………………….........</a:t>
            </a:r>
            <a:r>
              <a:rPr lang="en-US" sz="1200" b="1" spc="-10" dirty="0" smtClean="0">
                <a:latin typeface="Times New Roman"/>
                <a:cs typeface="Times New Roman"/>
              </a:rPr>
              <a:t>22</a:t>
            </a:r>
            <a:endParaRPr sz="1200" dirty="0">
              <a:latin typeface="Times New Roman"/>
              <a:cs typeface="Times New Roman"/>
            </a:endParaRPr>
          </a:p>
        </p:txBody>
      </p:sp>
      <p:sp>
        <p:nvSpPr>
          <p:cNvPr id="26" name="object 26"/>
          <p:cNvSpPr txBox="1"/>
          <p:nvPr/>
        </p:nvSpPr>
        <p:spPr>
          <a:xfrm>
            <a:off x="528319" y="5052440"/>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5.1</a:t>
            </a:r>
            <a:endParaRPr sz="1200">
              <a:latin typeface="Times New Roman"/>
              <a:cs typeface="Times New Roman"/>
            </a:endParaRPr>
          </a:p>
        </p:txBody>
      </p:sp>
      <p:sp>
        <p:nvSpPr>
          <p:cNvPr id="27" name="object 27"/>
          <p:cNvSpPr txBox="1"/>
          <p:nvPr/>
        </p:nvSpPr>
        <p:spPr>
          <a:xfrm>
            <a:off x="1595374" y="5052440"/>
            <a:ext cx="445389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Methodology</a:t>
            </a:r>
            <a:r>
              <a:rPr sz="1200" spc="-4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lang="en-US" sz="1200" spc="-50" dirty="0" smtClean="0">
                <a:latin typeface="Times New Roman"/>
                <a:cs typeface="Times New Roman"/>
              </a:rPr>
              <a:t>Fitness Freak Website………...</a:t>
            </a:r>
            <a:r>
              <a:rPr sz="1200" spc="-10" dirty="0" smtClean="0">
                <a:latin typeface="Times New Roman"/>
                <a:cs typeface="Times New Roman"/>
              </a:rPr>
              <a:t>…………………….</a:t>
            </a:r>
            <a:r>
              <a:rPr lang="en-US" sz="1200" spc="-10" dirty="0" smtClean="0">
                <a:latin typeface="Times New Roman"/>
                <a:cs typeface="Times New Roman"/>
              </a:rPr>
              <a:t>22</a:t>
            </a:r>
            <a:endParaRPr sz="1200" dirty="0">
              <a:latin typeface="Times New Roman"/>
              <a:cs typeface="Times New Roman"/>
            </a:endParaRPr>
          </a:p>
        </p:txBody>
      </p:sp>
      <p:sp>
        <p:nvSpPr>
          <p:cNvPr id="28" name="object 28"/>
          <p:cNvSpPr txBox="1"/>
          <p:nvPr/>
        </p:nvSpPr>
        <p:spPr>
          <a:xfrm>
            <a:off x="528319" y="544258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5.2</a:t>
            </a:r>
            <a:endParaRPr sz="1200">
              <a:latin typeface="Times New Roman"/>
              <a:cs typeface="Times New Roman"/>
            </a:endParaRPr>
          </a:p>
        </p:txBody>
      </p:sp>
      <p:sp>
        <p:nvSpPr>
          <p:cNvPr id="29" name="object 29"/>
          <p:cNvSpPr txBox="1"/>
          <p:nvPr/>
        </p:nvSpPr>
        <p:spPr>
          <a:xfrm>
            <a:off x="1557274" y="5442584"/>
            <a:ext cx="450850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Project</a:t>
            </a:r>
            <a:r>
              <a:rPr sz="1200" spc="-30" dirty="0">
                <a:latin typeface="Times New Roman"/>
                <a:cs typeface="Times New Roman"/>
              </a:rPr>
              <a:t> </a:t>
            </a:r>
            <a:r>
              <a:rPr sz="1200" dirty="0">
                <a:latin typeface="Times New Roman"/>
                <a:cs typeface="Times New Roman"/>
              </a:rPr>
              <a:t>Design</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Planning</a:t>
            </a:r>
            <a:r>
              <a:rPr sz="1200" spc="-10" dirty="0" smtClean="0">
                <a:latin typeface="Times New Roman"/>
                <a:cs typeface="Times New Roman"/>
              </a:rPr>
              <a:t>……………………………………………</a:t>
            </a:r>
            <a:r>
              <a:rPr lang="en-US" sz="1200" spc="-10" dirty="0" smtClean="0">
                <a:latin typeface="Times New Roman"/>
                <a:cs typeface="Times New Roman"/>
              </a:rPr>
              <a:t>22</a:t>
            </a:r>
            <a:endParaRPr sz="1200" dirty="0">
              <a:latin typeface="Times New Roman"/>
              <a:cs typeface="Times New Roman"/>
            </a:endParaRPr>
          </a:p>
        </p:txBody>
      </p:sp>
      <p:sp>
        <p:nvSpPr>
          <p:cNvPr id="30" name="object 30"/>
          <p:cNvSpPr txBox="1"/>
          <p:nvPr/>
        </p:nvSpPr>
        <p:spPr>
          <a:xfrm>
            <a:off x="528319" y="583120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5.3</a:t>
            </a:r>
            <a:endParaRPr sz="1200">
              <a:latin typeface="Times New Roman"/>
              <a:cs typeface="Times New Roman"/>
            </a:endParaRPr>
          </a:p>
        </p:txBody>
      </p:sp>
      <p:sp>
        <p:nvSpPr>
          <p:cNvPr id="32" name="object 32"/>
          <p:cNvSpPr txBox="1"/>
          <p:nvPr/>
        </p:nvSpPr>
        <p:spPr>
          <a:xfrm>
            <a:off x="528319" y="622134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5.4</a:t>
            </a:r>
            <a:endParaRPr sz="1200" dirty="0">
              <a:latin typeface="Times New Roman"/>
              <a:cs typeface="Times New Roman"/>
            </a:endParaRPr>
          </a:p>
        </p:txBody>
      </p:sp>
      <p:sp>
        <p:nvSpPr>
          <p:cNvPr id="34" name="object 34"/>
          <p:cNvSpPr txBox="1"/>
          <p:nvPr/>
        </p:nvSpPr>
        <p:spPr>
          <a:xfrm>
            <a:off x="528319" y="6611492"/>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5.5</a:t>
            </a:r>
            <a:endParaRPr sz="1200">
              <a:latin typeface="Times New Roman"/>
              <a:cs typeface="Times New Roman"/>
            </a:endParaRPr>
          </a:p>
        </p:txBody>
      </p:sp>
      <p:sp>
        <p:nvSpPr>
          <p:cNvPr id="35" name="object 35"/>
          <p:cNvSpPr txBox="1"/>
          <p:nvPr/>
        </p:nvSpPr>
        <p:spPr>
          <a:xfrm>
            <a:off x="1481074" y="5831204"/>
            <a:ext cx="455295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Development</a:t>
            </a:r>
            <a:r>
              <a:rPr sz="1200" spc="-70" dirty="0">
                <a:latin typeface="Times New Roman"/>
                <a:cs typeface="Times New Roman"/>
              </a:rPr>
              <a:t> </a:t>
            </a:r>
            <a:r>
              <a:rPr sz="1200" spc="-10" dirty="0">
                <a:latin typeface="Times New Roman"/>
                <a:cs typeface="Times New Roman"/>
              </a:rPr>
              <a:t>Process</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3</a:t>
            </a:r>
            <a:endParaRPr sz="1200" dirty="0">
              <a:latin typeface="Times New Roman"/>
              <a:cs typeface="Times New Roman"/>
            </a:endParaRPr>
          </a:p>
        </p:txBody>
      </p:sp>
      <p:sp>
        <p:nvSpPr>
          <p:cNvPr id="36" name="object 36"/>
          <p:cNvSpPr txBox="1"/>
          <p:nvPr/>
        </p:nvSpPr>
        <p:spPr>
          <a:xfrm>
            <a:off x="528319" y="7002017"/>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5.6</a:t>
            </a:r>
            <a:endParaRPr sz="1200">
              <a:latin typeface="Times New Roman"/>
              <a:cs typeface="Times New Roman"/>
            </a:endParaRPr>
          </a:p>
        </p:txBody>
      </p:sp>
      <p:sp>
        <p:nvSpPr>
          <p:cNvPr id="37" name="object 37"/>
          <p:cNvSpPr txBox="1"/>
          <p:nvPr/>
        </p:nvSpPr>
        <p:spPr>
          <a:xfrm>
            <a:off x="1464436" y="6221348"/>
            <a:ext cx="456501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Evaluation</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3</a:t>
            </a:r>
            <a:endParaRPr sz="1200" dirty="0">
              <a:latin typeface="Times New Roman"/>
              <a:cs typeface="Times New Roman"/>
            </a:endParaRPr>
          </a:p>
        </p:txBody>
      </p:sp>
      <p:sp>
        <p:nvSpPr>
          <p:cNvPr id="38" name="object 38"/>
          <p:cNvSpPr txBox="1"/>
          <p:nvPr/>
        </p:nvSpPr>
        <p:spPr>
          <a:xfrm>
            <a:off x="528319" y="7392161"/>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5.7</a:t>
            </a:r>
            <a:endParaRPr sz="1200">
              <a:latin typeface="Times New Roman"/>
              <a:cs typeface="Times New Roman"/>
            </a:endParaRPr>
          </a:p>
        </p:txBody>
      </p:sp>
      <p:sp>
        <p:nvSpPr>
          <p:cNvPr id="39" name="object 39"/>
          <p:cNvSpPr txBox="1"/>
          <p:nvPr/>
        </p:nvSpPr>
        <p:spPr>
          <a:xfrm>
            <a:off x="1444625" y="6611492"/>
            <a:ext cx="456819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Feedback</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Iteration</a:t>
            </a:r>
            <a:r>
              <a:rPr sz="1200" spc="-10" dirty="0" smtClean="0">
                <a:latin typeface="Times New Roman"/>
                <a:cs typeface="Times New Roman"/>
              </a:rPr>
              <a:t>……………………………………………..</a:t>
            </a:r>
            <a:r>
              <a:rPr lang="en-US" sz="1200" spc="-10" dirty="0">
                <a:latin typeface="Times New Roman"/>
                <a:cs typeface="Times New Roman"/>
              </a:rPr>
              <a:t>2</a:t>
            </a:r>
            <a:r>
              <a:rPr sz="1200" spc="-10" dirty="0" smtClean="0">
                <a:latin typeface="Times New Roman"/>
                <a:cs typeface="Times New Roman"/>
              </a:rPr>
              <a:t>4</a:t>
            </a:r>
            <a:endParaRPr sz="1200" dirty="0">
              <a:latin typeface="Times New Roman"/>
              <a:cs typeface="Times New Roman"/>
            </a:endParaRPr>
          </a:p>
        </p:txBody>
      </p:sp>
      <p:sp>
        <p:nvSpPr>
          <p:cNvPr id="41" name="object 41"/>
          <p:cNvSpPr txBox="1"/>
          <p:nvPr/>
        </p:nvSpPr>
        <p:spPr>
          <a:xfrm>
            <a:off x="1481074" y="7002014"/>
            <a:ext cx="456819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Deployment</a:t>
            </a:r>
            <a:r>
              <a:rPr sz="1200" spc="-5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Maintenance</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5</a:t>
            </a:r>
            <a:endParaRPr sz="1200" dirty="0">
              <a:latin typeface="Times New Roman"/>
              <a:cs typeface="Times New Roman"/>
            </a:endParaRPr>
          </a:p>
        </p:txBody>
      </p:sp>
      <p:sp>
        <p:nvSpPr>
          <p:cNvPr id="43" name="object 43"/>
          <p:cNvSpPr txBox="1"/>
          <p:nvPr/>
        </p:nvSpPr>
        <p:spPr>
          <a:xfrm>
            <a:off x="1475740" y="7392161"/>
            <a:ext cx="4606290" cy="197490"/>
          </a:xfrm>
          <a:prstGeom prst="rect">
            <a:avLst/>
          </a:prstGeom>
        </p:spPr>
        <p:txBody>
          <a:bodyPr vert="horz" wrap="square" lIns="0" tIns="12700" rIns="0" bIns="0" rtlCol="0">
            <a:spAutoFit/>
          </a:bodyPr>
          <a:lstStyle/>
          <a:p>
            <a:pPr marL="12700">
              <a:lnSpc>
                <a:spcPct val="100000"/>
              </a:lnSpc>
              <a:spcBef>
                <a:spcPts val="100"/>
              </a:spcBef>
            </a:pPr>
            <a:r>
              <a:rPr lang="en-US" sz="1200" dirty="0" smtClean="0">
                <a:latin typeface="Times New Roman"/>
                <a:cs typeface="Times New Roman"/>
              </a:rPr>
              <a:t> </a:t>
            </a:r>
            <a:r>
              <a:rPr sz="1200" dirty="0" smtClean="0">
                <a:latin typeface="Times New Roman"/>
                <a:cs typeface="Times New Roman"/>
              </a:rPr>
              <a:t>Evaluation</a:t>
            </a:r>
            <a:r>
              <a:rPr sz="1200" spc="-40" dirty="0" smtClean="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Effectiveness</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5</a:t>
            </a:r>
            <a:endParaRPr sz="1200" dirty="0">
              <a:latin typeface="Times New Roman"/>
              <a:cs typeface="Times New Roman"/>
            </a:endParaRPr>
          </a:p>
        </p:txBody>
      </p:sp>
      <p:sp>
        <p:nvSpPr>
          <p:cNvPr id="44" name="object 44"/>
          <p:cNvSpPr txBox="1"/>
          <p:nvPr/>
        </p:nvSpPr>
        <p:spPr>
          <a:xfrm>
            <a:off x="528319" y="8561069"/>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6.</a:t>
            </a:r>
            <a:endParaRPr sz="1200">
              <a:latin typeface="Times New Roman"/>
              <a:cs typeface="Times New Roman"/>
            </a:endParaRPr>
          </a:p>
        </p:txBody>
      </p:sp>
      <p:sp>
        <p:nvSpPr>
          <p:cNvPr id="45" name="object 45"/>
          <p:cNvSpPr txBox="1"/>
          <p:nvPr/>
        </p:nvSpPr>
        <p:spPr>
          <a:xfrm>
            <a:off x="1557020" y="8561069"/>
            <a:ext cx="46037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25" dirty="0">
                <a:latin typeface="Times New Roman"/>
                <a:cs typeface="Times New Roman"/>
              </a:rPr>
              <a:t> </a:t>
            </a:r>
            <a:r>
              <a:rPr sz="1200" b="1" dirty="0">
                <a:latin typeface="Times New Roman"/>
                <a:cs typeface="Times New Roman"/>
              </a:rPr>
              <a:t>No.</a:t>
            </a:r>
            <a:r>
              <a:rPr sz="1200" b="1" spc="-15" dirty="0">
                <a:latin typeface="Times New Roman"/>
                <a:cs typeface="Times New Roman"/>
              </a:rPr>
              <a:t> </a:t>
            </a:r>
            <a:r>
              <a:rPr sz="1200" b="1" spc="-10" dirty="0">
                <a:latin typeface="Times New Roman"/>
                <a:cs typeface="Times New Roman"/>
              </a:rPr>
              <a:t>6</a:t>
            </a:r>
            <a:r>
              <a:rPr sz="1200" b="1" spc="-10" dirty="0" smtClean="0">
                <a:latin typeface="Times New Roman"/>
                <a:cs typeface="Times New Roman"/>
              </a:rPr>
              <a:t>……………………………………………………………</a:t>
            </a:r>
            <a:r>
              <a:rPr lang="en-US" sz="1200" b="1" spc="-10" dirty="0" smtClean="0">
                <a:latin typeface="Times New Roman"/>
                <a:cs typeface="Times New Roman"/>
              </a:rPr>
              <a:t>2</a:t>
            </a:r>
            <a:r>
              <a:rPr sz="1200" b="1" spc="-10" dirty="0" smtClean="0">
                <a:latin typeface="Times New Roman"/>
                <a:cs typeface="Times New Roman"/>
              </a:rPr>
              <a:t>6</a:t>
            </a:r>
            <a:endParaRPr sz="1200" dirty="0">
              <a:latin typeface="Times New Roman"/>
              <a:cs typeface="Times New Roman"/>
            </a:endParaRPr>
          </a:p>
        </p:txBody>
      </p:sp>
      <p:sp>
        <p:nvSpPr>
          <p:cNvPr id="46" name="object 46"/>
          <p:cNvSpPr txBox="1"/>
          <p:nvPr/>
        </p:nvSpPr>
        <p:spPr>
          <a:xfrm>
            <a:off x="528319" y="895121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6.1</a:t>
            </a:r>
            <a:endParaRPr sz="1200">
              <a:latin typeface="Times New Roman"/>
              <a:cs typeface="Times New Roman"/>
            </a:endParaRPr>
          </a:p>
        </p:txBody>
      </p:sp>
      <p:sp>
        <p:nvSpPr>
          <p:cNvPr id="47" name="object 47"/>
          <p:cNvSpPr txBox="1"/>
          <p:nvPr/>
        </p:nvSpPr>
        <p:spPr>
          <a:xfrm>
            <a:off x="1557274" y="8951214"/>
            <a:ext cx="4572635"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Implementation</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6</a:t>
            </a:r>
            <a:endParaRPr sz="1200" dirty="0">
              <a:latin typeface="Times New Roman"/>
              <a:cs typeface="Times New Roman"/>
            </a:endParaRPr>
          </a:p>
        </p:txBody>
      </p:sp>
      <p:sp>
        <p:nvSpPr>
          <p:cNvPr id="48" name="object 48"/>
          <p:cNvSpPr txBox="1"/>
          <p:nvPr/>
        </p:nvSpPr>
        <p:spPr>
          <a:xfrm>
            <a:off x="528319" y="9341611"/>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6.2</a:t>
            </a:r>
            <a:endParaRPr sz="1200">
              <a:latin typeface="Times New Roman"/>
              <a:cs typeface="Times New Roman"/>
            </a:endParaRPr>
          </a:p>
        </p:txBody>
      </p:sp>
      <p:sp>
        <p:nvSpPr>
          <p:cNvPr id="49" name="object 49"/>
          <p:cNvSpPr txBox="1"/>
          <p:nvPr/>
        </p:nvSpPr>
        <p:spPr>
          <a:xfrm>
            <a:off x="1557274" y="9341611"/>
            <a:ext cx="457708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Project</a:t>
            </a:r>
            <a:r>
              <a:rPr sz="1200" spc="-50" dirty="0">
                <a:latin typeface="Times New Roman"/>
                <a:cs typeface="Times New Roman"/>
              </a:rPr>
              <a:t> </a:t>
            </a:r>
            <a:r>
              <a:rPr sz="1200" spc="-10" dirty="0">
                <a:latin typeface="Times New Roman"/>
                <a:cs typeface="Times New Roman"/>
              </a:rPr>
              <a:t>Setup</a:t>
            </a:r>
            <a:r>
              <a:rPr sz="1200" spc="-10" dirty="0" smtClean="0">
                <a:latin typeface="Times New Roman"/>
                <a:cs typeface="Times New Roman"/>
              </a:rPr>
              <a:t>……………………………………………………………..</a:t>
            </a:r>
            <a:r>
              <a:rPr lang="en-US" sz="1200" spc="-10" dirty="0" smtClean="0">
                <a:latin typeface="Times New Roman"/>
                <a:cs typeface="Times New Roman"/>
              </a:rPr>
              <a:t>2</a:t>
            </a:r>
            <a:r>
              <a:rPr sz="1200" spc="-10" dirty="0" smtClean="0">
                <a:latin typeface="Times New Roman"/>
                <a:cs typeface="Times New Roman"/>
              </a:rPr>
              <a:t>6</a:t>
            </a:r>
            <a:endParaRPr sz="12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 name="object 5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6</a:t>
            </a:fld>
            <a:r>
              <a:rPr spc="-20" dirty="0"/>
              <a:t>]</a:t>
            </a:r>
          </a:p>
        </p:txBody>
      </p:sp>
      <p:sp>
        <p:nvSpPr>
          <p:cNvPr id="2" name="object 2"/>
          <p:cNvSpPr txBox="1"/>
          <p:nvPr/>
        </p:nvSpPr>
        <p:spPr>
          <a:xfrm>
            <a:off x="528319" y="372871"/>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6.</a:t>
            </a:r>
            <a:r>
              <a:rPr lang="en-US" sz="1200" spc="-25" dirty="0" smtClean="0">
                <a:latin typeface="Times New Roman"/>
                <a:cs typeface="Times New Roman"/>
              </a:rPr>
              <a:t>3</a:t>
            </a:r>
            <a:endParaRPr sz="1200" dirty="0">
              <a:latin typeface="Times New Roman"/>
              <a:cs typeface="Times New Roman"/>
            </a:endParaRPr>
          </a:p>
        </p:txBody>
      </p:sp>
      <p:sp>
        <p:nvSpPr>
          <p:cNvPr id="3" name="object 3"/>
          <p:cNvSpPr txBox="1"/>
          <p:nvPr/>
        </p:nvSpPr>
        <p:spPr>
          <a:xfrm>
            <a:off x="1557274" y="372871"/>
            <a:ext cx="460311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Interface</a:t>
            </a:r>
            <a:r>
              <a:rPr sz="1200" spc="-45" dirty="0">
                <a:latin typeface="Times New Roman"/>
                <a:cs typeface="Times New Roman"/>
              </a:rPr>
              <a:t> </a:t>
            </a:r>
            <a:r>
              <a:rPr sz="1200" spc="-10" dirty="0">
                <a:latin typeface="Times New Roman"/>
                <a:cs typeface="Times New Roman"/>
              </a:rPr>
              <a:t>Design</a:t>
            </a:r>
            <a:r>
              <a:rPr sz="1200" spc="-10" dirty="0" smtClean="0">
                <a:latin typeface="Times New Roman"/>
                <a:cs typeface="Times New Roman"/>
              </a:rPr>
              <a:t>…………………………………………………….</a:t>
            </a:r>
            <a:r>
              <a:rPr lang="en-US" sz="1200" spc="-10" dirty="0" smtClean="0">
                <a:latin typeface="Times New Roman"/>
                <a:cs typeface="Times New Roman"/>
              </a:rPr>
              <a:t>26</a:t>
            </a:r>
            <a:endParaRPr sz="1200" dirty="0">
              <a:latin typeface="Times New Roman"/>
              <a:cs typeface="Times New Roman"/>
            </a:endParaRPr>
          </a:p>
        </p:txBody>
      </p:sp>
      <p:sp>
        <p:nvSpPr>
          <p:cNvPr id="4" name="object 4"/>
          <p:cNvSpPr txBox="1"/>
          <p:nvPr/>
        </p:nvSpPr>
        <p:spPr>
          <a:xfrm>
            <a:off x="528319" y="763015"/>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6.</a:t>
            </a:r>
            <a:r>
              <a:rPr lang="en-US" sz="1200" spc="-25" dirty="0" smtClean="0">
                <a:latin typeface="Times New Roman"/>
                <a:cs typeface="Times New Roman"/>
              </a:rPr>
              <a:t>4</a:t>
            </a:r>
            <a:endParaRPr sz="1200" dirty="0">
              <a:latin typeface="Times New Roman"/>
              <a:cs typeface="Times New Roman"/>
            </a:endParaRPr>
          </a:p>
        </p:txBody>
      </p:sp>
      <p:sp>
        <p:nvSpPr>
          <p:cNvPr id="5" name="object 5"/>
          <p:cNvSpPr txBox="1"/>
          <p:nvPr/>
        </p:nvSpPr>
        <p:spPr>
          <a:xfrm>
            <a:off x="1557274" y="763015"/>
            <a:ext cx="457263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Feature</a:t>
            </a:r>
            <a:r>
              <a:rPr sz="1200" spc="-40" dirty="0">
                <a:latin typeface="Times New Roman"/>
                <a:cs typeface="Times New Roman"/>
              </a:rPr>
              <a:t> </a:t>
            </a:r>
            <a:r>
              <a:rPr sz="1200" spc="-10" dirty="0">
                <a:latin typeface="Times New Roman"/>
                <a:cs typeface="Times New Roman"/>
              </a:rPr>
              <a:t>Implementation</a:t>
            </a:r>
            <a:r>
              <a:rPr sz="1200" spc="-10" dirty="0" smtClean="0">
                <a:latin typeface="Times New Roman"/>
                <a:cs typeface="Times New Roman"/>
              </a:rPr>
              <a:t>………………………………………………….</a:t>
            </a:r>
            <a:r>
              <a:rPr lang="en-US" sz="1200" spc="-10" dirty="0" smtClean="0">
                <a:latin typeface="Times New Roman"/>
                <a:cs typeface="Times New Roman"/>
              </a:rPr>
              <a:t>27</a:t>
            </a:r>
            <a:endParaRPr sz="1200" dirty="0">
              <a:latin typeface="Times New Roman"/>
              <a:cs typeface="Times New Roman"/>
            </a:endParaRPr>
          </a:p>
        </p:txBody>
      </p:sp>
      <p:sp>
        <p:nvSpPr>
          <p:cNvPr id="6" name="object 6"/>
          <p:cNvSpPr txBox="1"/>
          <p:nvPr/>
        </p:nvSpPr>
        <p:spPr>
          <a:xfrm>
            <a:off x="528319" y="1153414"/>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6.</a:t>
            </a:r>
            <a:r>
              <a:rPr lang="en-US" sz="1200" spc="-25" dirty="0" smtClean="0">
                <a:latin typeface="Times New Roman"/>
                <a:cs typeface="Times New Roman"/>
              </a:rPr>
              <a:t>5</a:t>
            </a:r>
            <a:endParaRPr sz="1200" dirty="0">
              <a:latin typeface="Times New Roman"/>
              <a:cs typeface="Times New Roman"/>
            </a:endParaRPr>
          </a:p>
        </p:txBody>
      </p:sp>
      <p:sp>
        <p:nvSpPr>
          <p:cNvPr id="7" name="object 7"/>
          <p:cNvSpPr txBox="1"/>
          <p:nvPr/>
        </p:nvSpPr>
        <p:spPr>
          <a:xfrm>
            <a:off x="1557274" y="1153414"/>
            <a:ext cx="458216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Debugging</a:t>
            </a:r>
            <a:r>
              <a:rPr sz="1200" spc="-10" dirty="0" smtClean="0">
                <a:latin typeface="Times New Roman"/>
                <a:cs typeface="Times New Roman"/>
              </a:rPr>
              <a:t>…………………………………………………..</a:t>
            </a:r>
            <a:r>
              <a:rPr lang="en-US" sz="1200" spc="-10" dirty="0" smtClean="0">
                <a:latin typeface="Times New Roman"/>
                <a:cs typeface="Times New Roman"/>
              </a:rPr>
              <a:t>27</a:t>
            </a:r>
            <a:endParaRPr sz="1200" dirty="0">
              <a:latin typeface="Times New Roman"/>
              <a:cs typeface="Times New Roman"/>
            </a:endParaRPr>
          </a:p>
        </p:txBody>
      </p:sp>
      <p:sp>
        <p:nvSpPr>
          <p:cNvPr id="10" name="object 10"/>
          <p:cNvSpPr txBox="1"/>
          <p:nvPr/>
        </p:nvSpPr>
        <p:spPr>
          <a:xfrm>
            <a:off x="528319" y="1612900"/>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6.</a:t>
            </a:r>
            <a:r>
              <a:rPr lang="en-US" sz="1200" spc="-25" dirty="0" smtClean="0">
                <a:latin typeface="Times New Roman"/>
                <a:cs typeface="Times New Roman"/>
              </a:rPr>
              <a:t>6</a:t>
            </a:r>
            <a:endParaRPr sz="1200" dirty="0">
              <a:latin typeface="Times New Roman"/>
              <a:cs typeface="Times New Roman"/>
            </a:endParaRPr>
          </a:p>
        </p:txBody>
      </p:sp>
      <p:sp>
        <p:nvSpPr>
          <p:cNvPr id="11" name="object 11"/>
          <p:cNvSpPr txBox="1"/>
          <p:nvPr/>
        </p:nvSpPr>
        <p:spPr>
          <a:xfrm>
            <a:off x="1508379" y="1612900"/>
            <a:ext cx="458978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Deployment</a:t>
            </a:r>
            <a:r>
              <a:rPr sz="1200" spc="-10" dirty="0" smtClean="0">
                <a:latin typeface="Times New Roman"/>
                <a:cs typeface="Times New Roman"/>
              </a:rPr>
              <a:t>………………………………………………………………</a:t>
            </a:r>
            <a:r>
              <a:rPr lang="en-US" sz="1200" spc="-10" dirty="0" smtClean="0">
                <a:latin typeface="Times New Roman"/>
                <a:cs typeface="Times New Roman"/>
              </a:rPr>
              <a:t>28</a:t>
            </a:r>
            <a:endParaRPr sz="1200" dirty="0">
              <a:latin typeface="Times New Roman"/>
              <a:cs typeface="Times New Roman"/>
            </a:endParaRPr>
          </a:p>
        </p:txBody>
      </p:sp>
      <p:sp>
        <p:nvSpPr>
          <p:cNvPr id="12" name="object 12"/>
          <p:cNvSpPr txBox="1"/>
          <p:nvPr/>
        </p:nvSpPr>
        <p:spPr>
          <a:xfrm>
            <a:off x="542288" y="1993900"/>
            <a:ext cx="2159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6.</a:t>
            </a:r>
            <a:r>
              <a:rPr lang="en-US" sz="1200" spc="-25" dirty="0">
                <a:latin typeface="Times New Roman"/>
                <a:cs typeface="Times New Roman"/>
              </a:rPr>
              <a:t>7</a:t>
            </a:r>
            <a:endParaRPr sz="1200" dirty="0">
              <a:latin typeface="Times New Roman"/>
              <a:cs typeface="Times New Roman"/>
            </a:endParaRPr>
          </a:p>
        </p:txBody>
      </p:sp>
      <p:sp>
        <p:nvSpPr>
          <p:cNvPr id="13" name="object 13"/>
          <p:cNvSpPr txBox="1"/>
          <p:nvPr/>
        </p:nvSpPr>
        <p:spPr>
          <a:xfrm>
            <a:off x="1521079" y="1993900"/>
            <a:ext cx="4618355"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Maintenance</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spc="-10" dirty="0">
                <a:latin typeface="Times New Roman"/>
                <a:cs typeface="Times New Roman"/>
              </a:rPr>
              <a:t>Updates</a:t>
            </a:r>
            <a:r>
              <a:rPr sz="1200" spc="-10" dirty="0" smtClean="0">
                <a:latin typeface="Times New Roman"/>
                <a:cs typeface="Times New Roman"/>
              </a:rPr>
              <a:t>………………………………………………...</a:t>
            </a:r>
            <a:r>
              <a:rPr lang="en-US" sz="1200" spc="-10" dirty="0" smtClean="0">
                <a:latin typeface="Times New Roman"/>
                <a:cs typeface="Times New Roman"/>
              </a:rPr>
              <a:t>28</a:t>
            </a:r>
            <a:endParaRPr sz="1200" dirty="0">
              <a:latin typeface="Times New Roman"/>
              <a:cs typeface="Times New Roman"/>
            </a:endParaRPr>
          </a:p>
        </p:txBody>
      </p:sp>
      <p:sp>
        <p:nvSpPr>
          <p:cNvPr id="14" name="object 14"/>
          <p:cNvSpPr txBox="1"/>
          <p:nvPr/>
        </p:nvSpPr>
        <p:spPr>
          <a:xfrm>
            <a:off x="528319" y="2712465"/>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7.</a:t>
            </a:r>
            <a:endParaRPr sz="1200">
              <a:latin typeface="Times New Roman"/>
              <a:cs typeface="Times New Roman"/>
            </a:endParaRPr>
          </a:p>
        </p:txBody>
      </p:sp>
      <p:sp>
        <p:nvSpPr>
          <p:cNvPr id="15" name="object 15"/>
          <p:cNvSpPr txBox="1"/>
          <p:nvPr/>
        </p:nvSpPr>
        <p:spPr>
          <a:xfrm>
            <a:off x="1557020" y="2712465"/>
            <a:ext cx="46418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25" dirty="0">
                <a:latin typeface="Times New Roman"/>
                <a:cs typeface="Times New Roman"/>
              </a:rPr>
              <a:t> </a:t>
            </a:r>
            <a:r>
              <a:rPr sz="1200" b="1" dirty="0">
                <a:latin typeface="Times New Roman"/>
                <a:cs typeface="Times New Roman"/>
              </a:rPr>
              <a:t>No.</a:t>
            </a:r>
            <a:r>
              <a:rPr sz="1200" b="1" spc="-15" dirty="0">
                <a:latin typeface="Times New Roman"/>
                <a:cs typeface="Times New Roman"/>
              </a:rPr>
              <a:t> </a:t>
            </a:r>
            <a:r>
              <a:rPr sz="1200" b="1" spc="-10" dirty="0">
                <a:latin typeface="Times New Roman"/>
                <a:cs typeface="Times New Roman"/>
              </a:rPr>
              <a:t>7</a:t>
            </a:r>
            <a:r>
              <a:rPr sz="1200" b="1" spc="-10" dirty="0" smtClean="0">
                <a:latin typeface="Times New Roman"/>
                <a:cs typeface="Times New Roman"/>
              </a:rPr>
              <a:t>…………………………………………………………….</a:t>
            </a:r>
            <a:r>
              <a:rPr lang="en-US" sz="1200" b="1" spc="-10" dirty="0" smtClean="0">
                <a:latin typeface="Times New Roman"/>
                <a:cs typeface="Times New Roman"/>
              </a:rPr>
              <a:t>29</a:t>
            </a:r>
            <a:endParaRPr sz="1200" dirty="0">
              <a:latin typeface="Times New Roman"/>
              <a:cs typeface="Times New Roman"/>
            </a:endParaRPr>
          </a:p>
        </p:txBody>
      </p:sp>
      <p:sp>
        <p:nvSpPr>
          <p:cNvPr id="16" name="object 16"/>
          <p:cNvSpPr txBox="1"/>
          <p:nvPr/>
        </p:nvSpPr>
        <p:spPr>
          <a:xfrm>
            <a:off x="528319" y="3102990"/>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7.1</a:t>
            </a:r>
            <a:endParaRPr sz="1200">
              <a:latin typeface="Times New Roman"/>
              <a:cs typeface="Times New Roman"/>
            </a:endParaRPr>
          </a:p>
        </p:txBody>
      </p:sp>
      <p:sp>
        <p:nvSpPr>
          <p:cNvPr id="17" name="object 17"/>
          <p:cNvSpPr txBox="1"/>
          <p:nvPr/>
        </p:nvSpPr>
        <p:spPr>
          <a:xfrm>
            <a:off x="1557274" y="3102990"/>
            <a:ext cx="467931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Testing</a:t>
            </a:r>
            <a:r>
              <a:rPr sz="1200" spc="-35" dirty="0">
                <a:latin typeface="Times New Roman"/>
                <a:cs typeface="Times New Roman"/>
              </a:rPr>
              <a:t> </a:t>
            </a:r>
            <a:r>
              <a:rPr sz="1200" spc="-10" dirty="0">
                <a:latin typeface="Times New Roman"/>
                <a:cs typeface="Times New Roman"/>
              </a:rPr>
              <a:t>Objectives</a:t>
            </a:r>
            <a:r>
              <a:rPr sz="1200" spc="-10" dirty="0" smtClean="0">
                <a:latin typeface="Times New Roman"/>
                <a:cs typeface="Times New Roman"/>
              </a:rPr>
              <a:t>…………………………………………………………</a:t>
            </a:r>
            <a:r>
              <a:rPr lang="en-US" sz="1200" spc="-10" dirty="0" smtClean="0">
                <a:latin typeface="Times New Roman"/>
                <a:cs typeface="Times New Roman"/>
              </a:rPr>
              <a:t>29</a:t>
            </a:r>
            <a:endParaRPr sz="1200" dirty="0">
              <a:latin typeface="Times New Roman"/>
              <a:cs typeface="Times New Roman"/>
            </a:endParaRPr>
          </a:p>
        </p:txBody>
      </p:sp>
      <p:sp>
        <p:nvSpPr>
          <p:cNvPr id="18" name="object 18"/>
          <p:cNvSpPr txBox="1"/>
          <p:nvPr/>
        </p:nvSpPr>
        <p:spPr>
          <a:xfrm>
            <a:off x="528319" y="349313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7.2</a:t>
            </a:r>
            <a:endParaRPr sz="1200">
              <a:latin typeface="Times New Roman"/>
              <a:cs typeface="Times New Roman"/>
            </a:endParaRPr>
          </a:p>
        </p:txBody>
      </p:sp>
      <p:sp>
        <p:nvSpPr>
          <p:cNvPr id="19" name="object 19"/>
          <p:cNvSpPr txBox="1"/>
          <p:nvPr/>
        </p:nvSpPr>
        <p:spPr>
          <a:xfrm>
            <a:off x="1557274" y="3493134"/>
            <a:ext cx="491871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Types</a:t>
            </a:r>
            <a:r>
              <a:rPr sz="1200" spc="120"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spc="-10" dirty="0">
                <a:latin typeface="Times New Roman"/>
                <a:cs typeface="Times New Roman"/>
              </a:rPr>
              <a:t>Testing</a:t>
            </a:r>
            <a:r>
              <a:rPr sz="1200" spc="-10" dirty="0" smtClean="0">
                <a:latin typeface="Times New Roman"/>
                <a:cs typeface="Times New Roman"/>
              </a:rPr>
              <a:t>……………………………………………………………</a:t>
            </a:r>
            <a:r>
              <a:rPr lang="en-US" sz="1200" spc="-10" dirty="0" smtClean="0">
                <a:latin typeface="Times New Roman"/>
                <a:cs typeface="Times New Roman"/>
              </a:rPr>
              <a:t>29</a:t>
            </a:r>
            <a:r>
              <a:rPr sz="1200" spc="-10" dirty="0" smtClean="0">
                <a:latin typeface="Times New Roman"/>
                <a:cs typeface="Times New Roman"/>
              </a:rPr>
              <a:t>-</a:t>
            </a:r>
            <a:r>
              <a:rPr lang="en-US" sz="1200" spc="-25" dirty="0" smtClean="0">
                <a:latin typeface="Times New Roman"/>
                <a:cs typeface="Times New Roman"/>
              </a:rPr>
              <a:t>31</a:t>
            </a:r>
            <a:endParaRPr sz="1200" dirty="0">
              <a:latin typeface="Times New Roman"/>
              <a:cs typeface="Times New Roman"/>
            </a:endParaRPr>
          </a:p>
        </p:txBody>
      </p:sp>
      <p:sp>
        <p:nvSpPr>
          <p:cNvPr id="20" name="object 20"/>
          <p:cNvSpPr txBox="1"/>
          <p:nvPr/>
        </p:nvSpPr>
        <p:spPr>
          <a:xfrm>
            <a:off x="528319" y="388175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7.3</a:t>
            </a:r>
            <a:endParaRPr sz="1200">
              <a:latin typeface="Times New Roman"/>
              <a:cs typeface="Times New Roman"/>
            </a:endParaRPr>
          </a:p>
        </p:txBody>
      </p:sp>
      <p:sp>
        <p:nvSpPr>
          <p:cNvPr id="21" name="object 21"/>
          <p:cNvSpPr txBox="1"/>
          <p:nvPr/>
        </p:nvSpPr>
        <p:spPr>
          <a:xfrm>
            <a:off x="1557274" y="3881754"/>
            <a:ext cx="469900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Validation</a:t>
            </a:r>
            <a:r>
              <a:rPr sz="1200" spc="-70" dirty="0">
                <a:latin typeface="Times New Roman"/>
                <a:cs typeface="Times New Roman"/>
              </a:rPr>
              <a:t> </a:t>
            </a:r>
            <a:r>
              <a:rPr sz="1200" spc="-10" dirty="0">
                <a:latin typeface="Times New Roman"/>
                <a:cs typeface="Times New Roman"/>
              </a:rPr>
              <a:t>Strategies</a:t>
            </a:r>
            <a:r>
              <a:rPr sz="1200" spc="-10" dirty="0" smtClean="0">
                <a:latin typeface="Times New Roman"/>
                <a:cs typeface="Times New Roman"/>
              </a:rPr>
              <a:t>……………………………………………………….</a:t>
            </a:r>
            <a:r>
              <a:rPr lang="en-US" sz="1200" spc="-10" dirty="0" smtClean="0">
                <a:latin typeface="Times New Roman"/>
                <a:cs typeface="Times New Roman"/>
              </a:rPr>
              <a:t>31</a:t>
            </a:r>
            <a:endParaRPr sz="1200" dirty="0">
              <a:latin typeface="Times New Roman"/>
              <a:cs typeface="Times New Roman"/>
            </a:endParaRPr>
          </a:p>
        </p:txBody>
      </p:sp>
      <p:sp>
        <p:nvSpPr>
          <p:cNvPr id="22" name="object 22"/>
          <p:cNvSpPr txBox="1"/>
          <p:nvPr/>
        </p:nvSpPr>
        <p:spPr>
          <a:xfrm>
            <a:off x="528319" y="427189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7.4</a:t>
            </a:r>
            <a:endParaRPr sz="1200">
              <a:latin typeface="Times New Roman"/>
              <a:cs typeface="Times New Roman"/>
            </a:endParaRPr>
          </a:p>
        </p:txBody>
      </p:sp>
      <p:sp>
        <p:nvSpPr>
          <p:cNvPr id="23" name="object 23"/>
          <p:cNvSpPr txBox="1"/>
          <p:nvPr/>
        </p:nvSpPr>
        <p:spPr>
          <a:xfrm>
            <a:off x="1557274" y="4271898"/>
            <a:ext cx="470535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Documentation</a:t>
            </a:r>
            <a:r>
              <a:rPr sz="1200" dirty="0">
                <a:latin typeface="Times New Roman"/>
                <a:cs typeface="Times New Roman"/>
              </a:rPr>
              <a:t> of Testing</a:t>
            </a:r>
            <a:r>
              <a:rPr sz="1200" spc="5" dirty="0">
                <a:latin typeface="Times New Roman"/>
                <a:cs typeface="Times New Roman"/>
              </a:rPr>
              <a:t> </a:t>
            </a:r>
            <a:r>
              <a:rPr sz="1200" spc="-10" dirty="0">
                <a:latin typeface="Times New Roman"/>
                <a:cs typeface="Times New Roman"/>
              </a:rPr>
              <a:t>Results</a:t>
            </a:r>
            <a:r>
              <a:rPr sz="1200" spc="-10" dirty="0" smtClean="0">
                <a:latin typeface="Times New Roman"/>
                <a:cs typeface="Times New Roman"/>
              </a:rPr>
              <a:t>…………………………………………3</a:t>
            </a:r>
            <a:r>
              <a:rPr lang="en-US" sz="1200" spc="-10" dirty="0" smtClean="0">
                <a:latin typeface="Times New Roman"/>
                <a:cs typeface="Times New Roman"/>
              </a:rPr>
              <a:t>1</a:t>
            </a:r>
            <a:endParaRPr sz="1200" dirty="0">
              <a:latin typeface="Times New Roman"/>
              <a:cs typeface="Times New Roman"/>
            </a:endParaRPr>
          </a:p>
        </p:txBody>
      </p:sp>
      <p:sp>
        <p:nvSpPr>
          <p:cNvPr id="24" name="object 24"/>
          <p:cNvSpPr txBox="1"/>
          <p:nvPr/>
        </p:nvSpPr>
        <p:spPr>
          <a:xfrm>
            <a:off x="528319" y="4662042"/>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7.5</a:t>
            </a:r>
            <a:endParaRPr sz="1200">
              <a:latin typeface="Times New Roman"/>
              <a:cs typeface="Times New Roman"/>
            </a:endParaRPr>
          </a:p>
        </p:txBody>
      </p:sp>
      <p:sp>
        <p:nvSpPr>
          <p:cNvPr id="25" name="object 25"/>
          <p:cNvSpPr txBox="1"/>
          <p:nvPr/>
        </p:nvSpPr>
        <p:spPr>
          <a:xfrm>
            <a:off x="1557274" y="4662042"/>
            <a:ext cx="490664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Continuous</a:t>
            </a:r>
            <a:r>
              <a:rPr sz="1200" spc="75" dirty="0">
                <a:latin typeface="Times New Roman"/>
                <a:cs typeface="Times New Roman"/>
              </a:rPr>
              <a:t> </a:t>
            </a:r>
            <a:r>
              <a:rPr sz="1200" dirty="0">
                <a:latin typeface="Times New Roman"/>
                <a:cs typeface="Times New Roman"/>
              </a:rPr>
              <a:t>Testing</a:t>
            </a:r>
            <a:r>
              <a:rPr sz="1200" spc="75"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spc="-10" dirty="0">
                <a:latin typeface="Times New Roman"/>
                <a:cs typeface="Times New Roman"/>
              </a:rPr>
              <a:t>Improvement</a:t>
            </a:r>
            <a:r>
              <a:rPr sz="1200" spc="-10" dirty="0" smtClean="0">
                <a:latin typeface="Times New Roman"/>
                <a:cs typeface="Times New Roman"/>
              </a:rPr>
              <a:t>……………………………..............</a:t>
            </a:r>
            <a:r>
              <a:rPr lang="en-US" sz="1200" spc="-10" dirty="0" smtClean="0">
                <a:latin typeface="Times New Roman"/>
                <a:cs typeface="Times New Roman"/>
              </a:rPr>
              <a:t>31-35</a:t>
            </a:r>
            <a:endParaRPr sz="1200" dirty="0">
              <a:latin typeface="Times New Roman"/>
              <a:cs typeface="Times New Roman"/>
            </a:endParaRPr>
          </a:p>
        </p:txBody>
      </p:sp>
      <p:sp>
        <p:nvSpPr>
          <p:cNvPr id="26" name="object 26"/>
          <p:cNvSpPr txBox="1"/>
          <p:nvPr/>
        </p:nvSpPr>
        <p:spPr>
          <a:xfrm>
            <a:off x="528319" y="5052440"/>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8.</a:t>
            </a:r>
            <a:endParaRPr sz="1200">
              <a:latin typeface="Times New Roman"/>
              <a:cs typeface="Times New Roman"/>
            </a:endParaRPr>
          </a:p>
        </p:txBody>
      </p:sp>
      <p:sp>
        <p:nvSpPr>
          <p:cNvPr id="27" name="object 27"/>
          <p:cNvSpPr txBox="1"/>
          <p:nvPr/>
        </p:nvSpPr>
        <p:spPr>
          <a:xfrm>
            <a:off x="1557020" y="5052440"/>
            <a:ext cx="47561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25" dirty="0">
                <a:latin typeface="Times New Roman"/>
                <a:cs typeface="Times New Roman"/>
              </a:rPr>
              <a:t> </a:t>
            </a:r>
            <a:r>
              <a:rPr sz="1200" b="1" dirty="0">
                <a:latin typeface="Times New Roman"/>
                <a:cs typeface="Times New Roman"/>
              </a:rPr>
              <a:t>No.</a:t>
            </a:r>
            <a:r>
              <a:rPr sz="1200" b="1" spc="-15" dirty="0">
                <a:latin typeface="Times New Roman"/>
                <a:cs typeface="Times New Roman"/>
              </a:rPr>
              <a:t> </a:t>
            </a:r>
            <a:r>
              <a:rPr sz="1200" b="1" spc="-10" dirty="0">
                <a:latin typeface="Times New Roman"/>
                <a:cs typeface="Times New Roman"/>
              </a:rPr>
              <a:t>8</a:t>
            </a:r>
            <a:r>
              <a:rPr sz="1200" b="1" spc="-10" dirty="0" smtClean="0">
                <a:latin typeface="Times New Roman"/>
                <a:cs typeface="Times New Roman"/>
              </a:rPr>
              <a:t>………………………………………………………………</a:t>
            </a:r>
            <a:r>
              <a:rPr lang="en-US" sz="1200" b="1" spc="-10" dirty="0" smtClean="0">
                <a:latin typeface="Times New Roman"/>
                <a:cs typeface="Times New Roman"/>
              </a:rPr>
              <a:t>36</a:t>
            </a:r>
            <a:endParaRPr sz="1200" dirty="0">
              <a:latin typeface="Times New Roman"/>
              <a:cs typeface="Times New Roman"/>
            </a:endParaRPr>
          </a:p>
        </p:txBody>
      </p:sp>
      <p:sp>
        <p:nvSpPr>
          <p:cNvPr id="28" name="object 28"/>
          <p:cNvSpPr txBox="1"/>
          <p:nvPr/>
        </p:nvSpPr>
        <p:spPr>
          <a:xfrm>
            <a:off x="528319" y="5380100"/>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8.1</a:t>
            </a:r>
            <a:endParaRPr sz="1200">
              <a:latin typeface="Times New Roman"/>
              <a:cs typeface="Times New Roman"/>
            </a:endParaRPr>
          </a:p>
        </p:txBody>
      </p:sp>
      <p:sp>
        <p:nvSpPr>
          <p:cNvPr id="29" name="object 29"/>
          <p:cNvSpPr txBox="1"/>
          <p:nvPr/>
        </p:nvSpPr>
        <p:spPr>
          <a:xfrm>
            <a:off x="1557274" y="5380100"/>
            <a:ext cx="480885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Future</a:t>
            </a:r>
            <a:r>
              <a:rPr sz="1200" spc="-25" dirty="0">
                <a:latin typeface="Times New Roman"/>
                <a:cs typeface="Times New Roman"/>
              </a:rPr>
              <a:t> </a:t>
            </a:r>
            <a:r>
              <a:rPr sz="1200" dirty="0">
                <a:latin typeface="Times New Roman"/>
                <a:cs typeface="Times New Roman"/>
              </a:rPr>
              <a:t>Scope</a:t>
            </a:r>
            <a:r>
              <a:rPr sz="1200" spc="-2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lang="en-US" sz="1200" dirty="0" smtClean="0">
                <a:latin typeface="Times New Roman"/>
                <a:cs typeface="Times New Roman"/>
              </a:rPr>
              <a:t>Fitness Freak Website…….</a:t>
            </a:r>
            <a:r>
              <a:rPr sz="1200" spc="-10" dirty="0" smtClean="0">
                <a:latin typeface="Times New Roman"/>
                <a:cs typeface="Times New Roman"/>
              </a:rPr>
              <a:t>……………………………</a:t>
            </a:r>
            <a:r>
              <a:rPr lang="en-US" sz="1200" spc="-10" dirty="0" smtClean="0">
                <a:latin typeface="Times New Roman"/>
                <a:cs typeface="Times New Roman"/>
              </a:rPr>
              <a:t>36</a:t>
            </a:r>
            <a:endParaRPr sz="1200" dirty="0">
              <a:latin typeface="Times New Roman"/>
              <a:cs typeface="Times New Roman"/>
            </a:endParaRPr>
          </a:p>
        </p:txBody>
      </p:sp>
      <p:sp>
        <p:nvSpPr>
          <p:cNvPr id="30" name="object 30"/>
          <p:cNvSpPr txBox="1"/>
          <p:nvPr/>
        </p:nvSpPr>
        <p:spPr>
          <a:xfrm>
            <a:off x="528319" y="570928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8.2</a:t>
            </a:r>
            <a:endParaRPr sz="1200">
              <a:latin typeface="Times New Roman"/>
              <a:cs typeface="Times New Roman"/>
            </a:endParaRPr>
          </a:p>
        </p:txBody>
      </p:sp>
      <p:sp>
        <p:nvSpPr>
          <p:cNvPr id="31" name="object 31"/>
          <p:cNvSpPr txBox="1"/>
          <p:nvPr/>
        </p:nvSpPr>
        <p:spPr>
          <a:xfrm>
            <a:off x="1557274" y="5709284"/>
            <a:ext cx="484378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Enhanced</a:t>
            </a:r>
            <a:r>
              <a:rPr sz="1200" spc="-55" dirty="0">
                <a:latin typeface="Times New Roman"/>
                <a:cs typeface="Times New Roman"/>
              </a:rPr>
              <a:t> </a:t>
            </a:r>
            <a:r>
              <a:rPr sz="1200" spc="-10" dirty="0">
                <a:latin typeface="Times New Roman"/>
                <a:cs typeface="Times New Roman"/>
              </a:rPr>
              <a:t>Personalization</a:t>
            </a:r>
            <a:r>
              <a:rPr sz="1200" spc="-10" dirty="0" smtClean="0">
                <a:latin typeface="Times New Roman"/>
                <a:cs typeface="Times New Roman"/>
              </a:rPr>
              <a:t>…………………………………………………….</a:t>
            </a:r>
            <a:r>
              <a:rPr lang="en-US" sz="1200" spc="-10" dirty="0" smtClean="0">
                <a:latin typeface="Times New Roman"/>
                <a:cs typeface="Times New Roman"/>
              </a:rPr>
              <a:t>36</a:t>
            </a:r>
            <a:endParaRPr sz="1200" dirty="0">
              <a:latin typeface="Times New Roman"/>
              <a:cs typeface="Times New Roman"/>
            </a:endParaRPr>
          </a:p>
        </p:txBody>
      </p:sp>
      <p:sp>
        <p:nvSpPr>
          <p:cNvPr id="32" name="object 32"/>
          <p:cNvSpPr txBox="1"/>
          <p:nvPr/>
        </p:nvSpPr>
        <p:spPr>
          <a:xfrm>
            <a:off x="528319" y="603846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8.3</a:t>
            </a:r>
            <a:endParaRPr sz="1200">
              <a:latin typeface="Times New Roman"/>
              <a:cs typeface="Times New Roman"/>
            </a:endParaRPr>
          </a:p>
        </p:txBody>
      </p:sp>
      <p:sp>
        <p:nvSpPr>
          <p:cNvPr id="33" name="object 33"/>
          <p:cNvSpPr txBox="1"/>
          <p:nvPr/>
        </p:nvSpPr>
        <p:spPr>
          <a:xfrm>
            <a:off x="1557274" y="6038468"/>
            <a:ext cx="483616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Expanded</a:t>
            </a:r>
            <a:r>
              <a:rPr sz="1200" spc="-35" dirty="0">
                <a:latin typeface="Times New Roman"/>
                <a:cs typeface="Times New Roman"/>
              </a:rPr>
              <a:t> </a:t>
            </a:r>
            <a:r>
              <a:rPr sz="1200" dirty="0">
                <a:latin typeface="Times New Roman"/>
                <a:cs typeface="Times New Roman"/>
              </a:rPr>
              <a:t>Content</a:t>
            </a:r>
            <a:r>
              <a:rPr sz="1200" spc="-35" dirty="0">
                <a:latin typeface="Times New Roman"/>
                <a:cs typeface="Times New Roman"/>
              </a:rPr>
              <a:t> </a:t>
            </a:r>
            <a:r>
              <a:rPr sz="1200" spc="-10" dirty="0">
                <a:latin typeface="Times New Roman"/>
                <a:cs typeface="Times New Roman"/>
              </a:rPr>
              <a:t>Integration</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34" name="object 34"/>
          <p:cNvSpPr txBox="1"/>
          <p:nvPr/>
        </p:nvSpPr>
        <p:spPr>
          <a:xfrm>
            <a:off x="528319" y="636612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8.4</a:t>
            </a:r>
            <a:endParaRPr sz="1200">
              <a:latin typeface="Times New Roman"/>
              <a:cs typeface="Times New Roman"/>
            </a:endParaRPr>
          </a:p>
        </p:txBody>
      </p:sp>
      <p:sp>
        <p:nvSpPr>
          <p:cNvPr id="35" name="object 35"/>
          <p:cNvSpPr txBox="1"/>
          <p:nvPr/>
        </p:nvSpPr>
        <p:spPr>
          <a:xfrm>
            <a:off x="1557274" y="6366128"/>
            <a:ext cx="481520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Gamification</a:t>
            </a:r>
            <a:r>
              <a:rPr sz="1200" spc="-75" dirty="0">
                <a:latin typeface="Times New Roman"/>
                <a:cs typeface="Times New Roman"/>
              </a:rPr>
              <a:t> </a:t>
            </a:r>
            <a:r>
              <a:rPr sz="1200" spc="-10" dirty="0">
                <a:latin typeface="Times New Roman"/>
                <a:cs typeface="Times New Roman"/>
              </a:rPr>
              <a:t>Features</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36" name="object 36"/>
          <p:cNvSpPr txBox="1"/>
          <p:nvPr/>
        </p:nvSpPr>
        <p:spPr>
          <a:xfrm>
            <a:off x="528319" y="6695312"/>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8.5</a:t>
            </a:r>
            <a:endParaRPr sz="1200">
              <a:latin typeface="Times New Roman"/>
              <a:cs typeface="Times New Roman"/>
            </a:endParaRPr>
          </a:p>
        </p:txBody>
      </p:sp>
      <p:sp>
        <p:nvSpPr>
          <p:cNvPr id="37" name="object 37"/>
          <p:cNvSpPr txBox="1"/>
          <p:nvPr/>
        </p:nvSpPr>
        <p:spPr>
          <a:xfrm>
            <a:off x="1557274" y="6695312"/>
            <a:ext cx="4877435" cy="197490"/>
          </a:xfrm>
          <a:prstGeom prst="rect">
            <a:avLst/>
          </a:prstGeom>
        </p:spPr>
        <p:txBody>
          <a:bodyPr vert="horz" wrap="square" lIns="0" tIns="12700" rIns="0" bIns="0" rtlCol="0">
            <a:spAutoFit/>
          </a:bodyPr>
          <a:lstStyle/>
          <a:p>
            <a:pPr marL="12700">
              <a:lnSpc>
                <a:spcPct val="100000"/>
              </a:lnSpc>
              <a:spcBef>
                <a:spcPts val="100"/>
              </a:spcBef>
            </a:pPr>
            <a:r>
              <a:rPr sz="1200" dirty="0" smtClean="0">
                <a:latin typeface="Times New Roman"/>
                <a:cs typeface="Times New Roman"/>
              </a:rPr>
              <a:t>Advanced</a:t>
            </a:r>
            <a:r>
              <a:rPr lang="en-US" sz="1200" dirty="0" smtClean="0">
                <a:latin typeface="Times New Roman"/>
                <a:cs typeface="Times New Roman"/>
              </a:rPr>
              <a:t> Fitness </a:t>
            </a:r>
            <a:r>
              <a:rPr sz="1200" spc="-50" dirty="0" smtClean="0">
                <a:latin typeface="Times New Roman"/>
                <a:cs typeface="Times New Roman"/>
              </a:rPr>
              <a:t> </a:t>
            </a:r>
            <a:r>
              <a:rPr sz="1200" dirty="0" smtClean="0">
                <a:latin typeface="Times New Roman"/>
                <a:cs typeface="Times New Roman"/>
              </a:rPr>
              <a:t>Features</a:t>
            </a:r>
            <a:r>
              <a:rPr sz="1200" spc="-40" dirty="0" smtClean="0">
                <a:latin typeface="Times New Roman"/>
                <a:cs typeface="Times New Roman"/>
              </a:rPr>
              <a:t> </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38" name="object 38"/>
          <p:cNvSpPr txBox="1"/>
          <p:nvPr/>
        </p:nvSpPr>
        <p:spPr>
          <a:xfrm>
            <a:off x="528319" y="7023354"/>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8.6</a:t>
            </a:r>
            <a:endParaRPr sz="1200">
              <a:latin typeface="Times New Roman"/>
              <a:cs typeface="Times New Roman"/>
            </a:endParaRPr>
          </a:p>
        </p:txBody>
      </p:sp>
      <p:sp>
        <p:nvSpPr>
          <p:cNvPr id="39" name="object 39"/>
          <p:cNvSpPr txBox="1"/>
          <p:nvPr/>
        </p:nvSpPr>
        <p:spPr>
          <a:xfrm>
            <a:off x="1557274" y="7023354"/>
            <a:ext cx="4891405"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Cross-</a:t>
            </a:r>
            <a:r>
              <a:rPr sz="1200" dirty="0">
                <a:latin typeface="Times New Roman"/>
                <a:cs typeface="Times New Roman"/>
              </a:rPr>
              <a:t>Platform </a:t>
            </a:r>
            <a:r>
              <a:rPr sz="1200" spc="-10" dirty="0">
                <a:latin typeface="Times New Roman"/>
                <a:cs typeface="Times New Roman"/>
              </a:rPr>
              <a:t>Compatibility</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40" name="object 40"/>
          <p:cNvSpPr txBox="1"/>
          <p:nvPr/>
        </p:nvSpPr>
        <p:spPr>
          <a:xfrm>
            <a:off x="528319" y="7352538"/>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8.7</a:t>
            </a:r>
            <a:endParaRPr sz="1200">
              <a:latin typeface="Times New Roman"/>
              <a:cs typeface="Times New Roman"/>
            </a:endParaRPr>
          </a:p>
        </p:txBody>
      </p:sp>
      <p:sp>
        <p:nvSpPr>
          <p:cNvPr id="41" name="object 41"/>
          <p:cNvSpPr txBox="1"/>
          <p:nvPr/>
        </p:nvSpPr>
        <p:spPr>
          <a:xfrm>
            <a:off x="1557274" y="7352538"/>
            <a:ext cx="491236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Community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Feedback</a:t>
            </a:r>
            <a:r>
              <a:rPr sz="1200" spc="-20" dirty="0">
                <a:latin typeface="Times New Roman"/>
                <a:cs typeface="Times New Roman"/>
              </a:rPr>
              <a:t> </a:t>
            </a:r>
            <a:r>
              <a:rPr sz="1200" spc="-10" dirty="0">
                <a:latin typeface="Times New Roman"/>
                <a:cs typeface="Times New Roman"/>
              </a:rPr>
              <a:t>Loop</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42" name="object 42"/>
          <p:cNvSpPr txBox="1"/>
          <p:nvPr/>
        </p:nvSpPr>
        <p:spPr>
          <a:xfrm>
            <a:off x="528319" y="7680197"/>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8.8</a:t>
            </a:r>
            <a:endParaRPr sz="1200">
              <a:latin typeface="Times New Roman"/>
              <a:cs typeface="Times New Roman"/>
            </a:endParaRPr>
          </a:p>
        </p:txBody>
      </p:sp>
      <p:sp>
        <p:nvSpPr>
          <p:cNvPr id="43" name="object 43"/>
          <p:cNvSpPr txBox="1"/>
          <p:nvPr/>
        </p:nvSpPr>
        <p:spPr>
          <a:xfrm>
            <a:off x="1557274" y="7680197"/>
            <a:ext cx="4923155"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Localization</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Global</a:t>
            </a:r>
            <a:r>
              <a:rPr sz="1200" spc="10" dirty="0">
                <a:latin typeface="Times New Roman"/>
                <a:cs typeface="Times New Roman"/>
              </a:rPr>
              <a:t> </a:t>
            </a:r>
            <a:r>
              <a:rPr sz="1200" spc="-10" dirty="0">
                <a:latin typeface="Times New Roman"/>
                <a:cs typeface="Times New Roman"/>
              </a:rPr>
              <a:t>Expansion</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44" name="object 44"/>
          <p:cNvSpPr txBox="1"/>
          <p:nvPr/>
        </p:nvSpPr>
        <p:spPr>
          <a:xfrm>
            <a:off x="528319" y="8009381"/>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8.9</a:t>
            </a:r>
            <a:endParaRPr sz="1200">
              <a:latin typeface="Times New Roman"/>
              <a:cs typeface="Times New Roman"/>
            </a:endParaRPr>
          </a:p>
        </p:txBody>
      </p:sp>
      <p:sp>
        <p:nvSpPr>
          <p:cNvPr id="45" name="object 45"/>
          <p:cNvSpPr txBox="1"/>
          <p:nvPr/>
        </p:nvSpPr>
        <p:spPr>
          <a:xfrm>
            <a:off x="1557274" y="8009381"/>
            <a:ext cx="498411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Integration</a:t>
            </a:r>
            <a:r>
              <a:rPr sz="1200" spc="-4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Smart</a:t>
            </a:r>
            <a:r>
              <a:rPr sz="1200" spc="-35" dirty="0">
                <a:latin typeface="Times New Roman"/>
                <a:cs typeface="Times New Roman"/>
              </a:rPr>
              <a:t> </a:t>
            </a:r>
            <a:r>
              <a:rPr sz="1200" spc="-10" dirty="0">
                <a:latin typeface="Times New Roman"/>
                <a:cs typeface="Times New Roman"/>
              </a:rPr>
              <a:t>Devices</a:t>
            </a:r>
            <a:r>
              <a:rPr sz="1200" spc="-10" dirty="0" smtClean="0">
                <a:latin typeface="Times New Roman"/>
                <a:cs typeface="Times New Roman"/>
              </a:rPr>
              <a:t>…………………………………………………</a:t>
            </a:r>
            <a:r>
              <a:rPr lang="en-US" sz="1200" spc="-10" dirty="0" smtClean="0">
                <a:latin typeface="Times New Roman"/>
                <a:cs typeface="Times New Roman"/>
              </a:rPr>
              <a:t>37</a:t>
            </a:r>
            <a:endParaRPr sz="1200" dirty="0">
              <a:latin typeface="Times New Roman"/>
              <a:cs typeface="Times New Roman"/>
            </a:endParaRPr>
          </a:p>
        </p:txBody>
      </p:sp>
      <p:sp>
        <p:nvSpPr>
          <p:cNvPr id="46" name="object 46"/>
          <p:cNvSpPr txBox="1"/>
          <p:nvPr/>
        </p:nvSpPr>
        <p:spPr>
          <a:xfrm>
            <a:off x="528319" y="8338565"/>
            <a:ext cx="3302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8.9.1</a:t>
            </a:r>
            <a:endParaRPr sz="1200">
              <a:latin typeface="Times New Roman"/>
              <a:cs typeface="Times New Roman"/>
            </a:endParaRPr>
          </a:p>
        </p:txBody>
      </p:sp>
      <p:sp>
        <p:nvSpPr>
          <p:cNvPr id="47" name="object 47"/>
          <p:cNvSpPr txBox="1"/>
          <p:nvPr/>
        </p:nvSpPr>
        <p:spPr>
          <a:xfrm>
            <a:off x="1557274" y="8338565"/>
            <a:ext cx="499173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Analytics</a:t>
            </a:r>
            <a:r>
              <a:rPr sz="1200" spc="-3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Insights</a:t>
            </a:r>
            <a:r>
              <a:rPr sz="1200" spc="-10" dirty="0" smtClean="0">
                <a:latin typeface="Times New Roman"/>
                <a:cs typeface="Times New Roman"/>
              </a:rPr>
              <a:t>……………………………………………………..</a:t>
            </a:r>
            <a:r>
              <a:rPr lang="en-US" sz="1200" spc="-10" dirty="0" smtClean="0">
                <a:latin typeface="Times New Roman"/>
                <a:cs typeface="Times New Roman"/>
              </a:rPr>
              <a:t>38</a:t>
            </a:r>
            <a:endParaRPr sz="1200" dirty="0">
              <a:latin typeface="Times New Roman"/>
              <a:cs typeface="Times New Roman"/>
            </a:endParaRPr>
          </a:p>
        </p:txBody>
      </p:sp>
      <p:sp>
        <p:nvSpPr>
          <p:cNvPr id="48" name="object 48"/>
          <p:cNvSpPr txBox="1"/>
          <p:nvPr/>
        </p:nvSpPr>
        <p:spPr>
          <a:xfrm>
            <a:off x="528319" y="8666226"/>
            <a:ext cx="1397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9.</a:t>
            </a:r>
            <a:endParaRPr sz="1200">
              <a:latin typeface="Times New Roman"/>
              <a:cs typeface="Times New Roman"/>
            </a:endParaRPr>
          </a:p>
        </p:txBody>
      </p:sp>
      <p:sp>
        <p:nvSpPr>
          <p:cNvPr id="49" name="object 49"/>
          <p:cNvSpPr txBox="1"/>
          <p:nvPr/>
        </p:nvSpPr>
        <p:spPr>
          <a:xfrm>
            <a:off x="1595120" y="8666226"/>
            <a:ext cx="49466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15" dirty="0">
                <a:latin typeface="Times New Roman"/>
                <a:cs typeface="Times New Roman"/>
              </a:rPr>
              <a:t> </a:t>
            </a:r>
            <a:r>
              <a:rPr sz="1200" b="1" dirty="0">
                <a:latin typeface="Times New Roman"/>
                <a:cs typeface="Times New Roman"/>
              </a:rPr>
              <a:t>No.</a:t>
            </a:r>
            <a:r>
              <a:rPr sz="1200" b="1" spc="-10" dirty="0">
                <a:latin typeface="Times New Roman"/>
                <a:cs typeface="Times New Roman"/>
              </a:rPr>
              <a:t> 9</a:t>
            </a:r>
            <a:r>
              <a:rPr sz="1200" b="1" spc="-10" dirty="0" smtClean="0">
                <a:latin typeface="Times New Roman"/>
                <a:cs typeface="Times New Roman"/>
              </a:rPr>
              <a:t>………………………………………………………………….</a:t>
            </a:r>
            <a:r>
              <a:rPr lang="en-US" sz="1200" b="1" spc="-10" dirty="0" smtClean="0">
                <a:latin typeface="Times New Roman"/>
                <a:cs typeface="Times New Roman"/>
              </a:rPr>
              <a:t>39</a:t>
            </a:r>
            <a:endParaRPr sz="1200" dirty="0">
              <a:latin typeface="Times New Roman"/>
              <a:cs typeface="Times New Roman"/>
            </a:endParaRPr>
          </a:p>
        </p:txBody>
      </p:sp>
      <p:sp>
        <p:nvSpPr>
          <p:cNvPr id="50" name="object 50"/>
          <p:cNvSpPr txBox="1"/>
          <p:nvPr/>
        </p:nvSpPr>
        <p:spPr>
          <a:xfrm>
            <a:off x="528319" y="8995409"/>
            <a:ext cx="2159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9.1</a:t>
            </a:r>
            <a:endParaRPr sz="1200">
              <a:latin typeface="Times New Roman"/>
              <a:cs typeface="Times New Roman"/>
            </a:endParaRPr>
          </a:p>
        </p:txBody>
      </p:sp>
      <p:sp>
        <p:nvSpPr>
          <p:cNvPr id="51" name="object 51"/>
          <p:cNvSpPr txBox="1"/>
          <p:nvPr/>
        </p:nvSpPr>
        <p:spPr>
          <a:xfrm>
            <a:off x="1595120" y="8995409"/>
            <a:ext cx="497205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Conclusions</a:t>
            </a:r>
            <a:r>
              <a:rPr sz="1200" spc="-10" dirty="0" smtClean="0">
                <a:latin typeface="Times New Roman"/>
                <a:cs typeface="Times New Roman"/>
              </a:rPr>
              <a:t>……………………………………………………………………..</a:t>
            </a:r>
            <a:r>
              <a:rPr lang="en-US" sz="1200" spc="-10" dirty="0" smtClean="0">
                <a:latin typeface="Times New Roman"/>
                <a:cs typeface="Times New Roman"/>
              </a:rPr>
              <a:t>39</a:t>
            </a:r>
            <a:endParaRPr sz="1200" dirty="0">
              <a:latin typeface="Times New Roman"/>
              <a:cs typeface="Times New Roman"/>
            </a:endParaRPr>
          </a:p>
        </p:txBody>
      </p:sp>
      <p:sp>
        <p:nvSpPr>
          <p:cNvPr id="52" name="object 52"/>
          <p:cNvSpPr txBox="1"/>
          <p:nvPr/>
        </p:nvSpPr>
        <p:spPr>
          <a:xfrm>
            <a:off x="528319" y="9323323"/>
            <a:ext cx="21590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imes New Roman"/>
                <a:cs typeface="Times New Roman"/>
              </a:rPr>
              <a:t>10.</a:t>
            </a:r>
            <a:endParaRPr sz="1200">
              <a:latin typeface="Times New Roman"/>
              <a:cs typeface="Times New Roman"/>
            </a:endParaRPr>
          </a:p>
        </p:txBody>
      </p:sp>
      <p:sp>
        <p:nvSpPr>
          <p:cNvPr id="53" name="object 53"/>
          <p:cNvSpPr txBox="1"/>
          <p:nvPr/>
        </p:nvSpPr>
        <p:spPr>
          <a:xfrm>
            <a:off x="1595120" y="9323323"/>
            <a:ext cx="498475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Chapter</a:t>
            </a:r>
            <a:r>
              <a:rPr sz="1200" b="1" spc="-15" dirty="0">
                <a:latin typeface="Times New Roman"/>
                <a:cs typeface="Times New Roman"/>
              </a:rPr>
              <a:t> </a:t>
            </a:r>
            <a:r>
              <a:rPr sz="1200" b="1" dirty="0">
                <a:latin typeface="Times New Roman"/>
                <a:cs typeface="Times New Roman"/>
              </a:rPr>
              <a:t>No.</a:t>
            </a:r>
            <a:r>
              <a:rPr sz="1200" b="1" spc="-10" dirty="0">
                <a:latin typeface="Times New Roman"/>
                <a:cs typeface="Times New Roman"/>
              </a:rPr>
              <a:t> 10</a:t>
            </a:r>
            <a:r>
              <a:rPr sz="1200" b="1" spc="-10" dirty="0" smtClean="0">
                <a:latin typeface="Times New Roman"/>
                <a:cs typeface="Times New Roman"/>
              </a:rPr>
              <a:t>…………………………………………………………………</a:t>
            </a:r>
            <a:r>
              <a:rPr lang="en-US" sz="1200" b="1" spc="-10" dirty="0" smtClean="0">
                <a:latin typeface="Times New Roman"/>
                <a:cs typeface="Times New Roman"/>
              </a:rPr>
              <a:t>40</a:t>
            </a:r>
            <a:endParaRPr sz="1200" dirty="0">
              <a:latin typeface="Times New Roman"/>
              <a:cs typeface="Times New Roman"/>
            </a:endParaRPr>
          </a:p>
        </p:txBody>
      </p:sp>
      <p:sp>
        <p:nvSpPr>
          <p:cNvPr id="54" name="object 54"/>
          <p:cNvSpPr txBox="1"/>
          <p:nvPr/>
        </p:nvSpPr>
        <p:spPr>
          <a:xfrm>
            <a:off x="528319" y="9652507"/>
            <a:ext cx="29210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10.1</a:t>
            </a:r>
            <a:endParaRPr sz="1200">
              <a:latin typeface="Times New Roman"/>
              <a:cs typeface="Times New Roman"/>
            </a:endParaRPr>
          </a:p>
        </p:txBody>
      </p:sp>
      <p:sp>
        <p:nvSpPr>
          <p:cNvPr id="55" name="object 55"/>
          <p:cNvSpPr txBox="1"/>
          <p:nvPr/>
        </p:nvSpPr>
        <p:spPr>
          <a:xfrm>
            <a:off x="1595120" y="9652507"/>
            <a:ext cx="517525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References</a:t>
            </a:r>
            <a:r>
              <a:rPr sz="1200" dirty="0" smtClean="0">
                <a:latin typeface="Times New Roman"/>
                <a:cs typeface="Times New Roman"/>
              </a:rPr>
              <a:t>…………………………………………………………....</a:t>
            </a:r>
            <a:r>
              <a:rPr lang="en-US" sz="1200" spc="50" dirty="0" smtClean="0">
                <a:latin typeface="Times New Roman"/>
                <a:cs typeface="Times New Roman"/>
              </a:rPr>
              <a:t>..</a:t>
            </a:r>
            <a:r>
              <a:rPr sz="1200" spc="-10" dirty="0" smtClean="0">
                <a:latin typeface="Times New Roman"/>
                <a:cs typeface="Times New Roman"/>
              </a:rPr>
              <a:t>………..</a:t>
            </a:r>
            <a:r>
              <a:rPr lang="en-US" sz="1200" spc="-10" dirty="0" smtClean="0">
                <a:latin typeface="Times New Roman"/>
                <a:cs typeface="Times New Roman"/>
              </a:rPr>
              <a:t>40-4</a:t>
            </a:r>
            <a:r>
              <a:rPr lang="en-US" sz="1200" spc="-10" dirty="0" smtClean="0">
                <a:latin typeface="Times New Roman"/>
                <a:cs typeface="Times New Roman"/>
              </a:rPr>
              <a:t>2</a:t>
            </a:r>
            <a:endParaRPr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7</a:t>
            </a:fld>
            <a:r>
              <a:rPr spc="-20" dirty="0"/>
              <a:t>]</a:t>
            </a:r>
          </a:p>
        </p:txBody>
      </p:sp>
      <p:sp>
        <p:nvSpPr>
          <p:cNvPr id="2" name="object 2"/>
          <p:cNvSpPr txBox="1"/>
          <p:nvPr/>
        </p:nvSpPr>
        <p:spPr>
          <a:xfrm>
            <a:off x="2964307" y="760222"/>
            <a:ext cx="1774189"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LIST</a:t>
            </a:r>
            <a:r>
              <a:rPr sz="1600" b="1" spc="-25"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10" dirty="0">
                <a:latin typeface="Times New Roman"/>
                <a:cs typeface="Times New Roman"/>
              </a:rPr>
              <a:t>FIGURES</a:t>
            </a:r>
            <a:endParaRPr sz="1600">
              <a:latin typeface="Times New Roman"/>
              <a:cs typeface="Times New Roman"/>
            </a:endParaRPr>
          </a:p>
        </p:txBody>
      </p:sp>
      <p:sp>
        <p:nvSpPr>
          <p:cNvPr id="3" name="object 3"/>
          <p:cNvSpPr txBox="1"/>
          <p:nvPr/>
        </p:nvSpPr>
        <p:spPr>
          <a:xfrm>
            <a:off x="528319" y="1439926"/>
            <a:ext cx="880744"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FIGURE </a:t>
            </a:r>
            <a:r>
              <a:rPr sz="1200" b="1" spc="-25" dirty="0">
                <a:latin typeface="Times New Roman"/>
                <a:cs typeface="Times New Roman"/>
              </a:rPr>
              <a:t>No.</a:t>
            </a:r>
            <a:endParaRPr sz="1200">
              <a:latin typeface="Times New Roman"/>
              <a:cs typeface="Times New Roman"/>
            </a:endParaRPr>
          </a:p>
        </p:txBody>
      </p:sp>
      <p:sp>
        <p:nvSpPr>
          <p:cNvPr id="4" name="object 4"/>
          <p:cNvSpPr txBox="1"/>
          <p:nvPr/>
        </p:nvSpPr>
        <p:spPr>
          <a:xfrm>
            <a:off x="2145486" y="1439926"/>
            <a:ext cx="1084580"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DESCRIPTION</a:t>
            </a:r>
            <a:endParaRPr sz="1200">
              <a:latin typeface="Times New Roman"/>
              <a:cs typeface="Times New Roman"/>
            </a:endParaRPr>
          </a:p>
        </p:txBody>
      </p:sp>
      <p:sp>
        <p:nvSpPr>
          <p:cNvPr id="5" name="object 5"/>
          <p:cNvSpPr txBox="1"/>
          <p:nvPr/>
        </p:nvSpPr>
        <p:spPr>
          <a:xfrm>
            <a:off x="4956779" y="1439926"/>
            <a:ext cx="71120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PAGE</a:t>
            </a:r>
            <a:r>
              <a:rPr sz="1200" b="1" spc="-35" dirty="0">
                <a:latin typeface="Times New Roman"/>
                <a:cs typeface="Times New Roman"/>
              </a:rPr>
              <a:t> </a:t>
            </a:r>
            <a:r>
              <a:rPr sz="1200" b="1" spc="-25" dirty="0">
                <a:latin typeface="Times New Roman"/>
                <a:cs typeface="Times New Roman"/>
              </a:rPr>
              <a:t>No.</a:t>
            </a:r>
            <a:endParaRPr sz="1200">
              <a:latin typeface="Times New Roman"/>
              <a:cs typeface="Times New Roman"/>
            </a:endParaRPr>
          </a:p>
        </p:txBody>
      </p:sp>
      <p:sp>
        <p:nvSpPr>
          <p:cNvPr id="9" name="object 9"/>
          <p:cNvSpPr txBox="1"/>
          <p:nvPr/>
        </p:nvSpPr>
        <p:spPr>
          <a:xfrm>
            <a:off x="528319" y="2444241"/>
            <a:ext cx="33020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a:cs typeface="Times New Roman"/>
              </a:rPr>
              <a:t>2</a:t>
            </a:r>
            <a:r>
              <a:rPr sz="1200" spc="-10" dirty="0" smtClean="0">
                <a:latin typeface="Times New Roman"/>
                <a:cs typeface="Times New Roman"/>
              </a:rPr>
              <a:t>.1.1</a:t>
            </a:r>
            <a:endParaRPr sz="1200" dirty="0">
              <a:latin typeface="Times New Roman"/>
              <a:cs typeface="Times New Roman"/>
            </a:endParaRPr>
          </a:p>
        </p:txBody>
      </p:sp>
      <p:sp>
        <p:nvSpPr>
          <p:cNvPr id="10" name="object 10"/>
          <p:cNvSpPr txBox="1"/>
          <p:nvPr/>
        </p:nvSpPr>
        <p:spPr>
          <a:xfrm>
            <a:off x="1671573" y="2444241"/>
            <a:ext cx="1997710" cy="197490"/>
          </a:xfrm>
          <a:prstGeom prst="rect">
            <a:avLst/>
          </a:prstGeom>
        </p:spPr>
        <p:txBody>
          <a:bodyPr vert="horz" wrap="square" lIns="0" tIns="12700" rIns="0" bIns="0" rtlCol="0">
            <a:spAutoFit/>
          </a:bodyPr>
          <a:lstStyle/>
          <a:p>
            <a:pPr marL="12700">
              <a:lnSpc>
                <a:spcPct val="100000"/>
              </a:lnSpc>
              <a:spcBef>
                <a:spcPts val="100"/>
              </a:spcBef>
            </a:pPr>
            <a:r>
              <a:rPr lang="en-US" sz="1200" dirty="0" smtClean="0">
                <a:latin typeface="Times New Roman"/>
                <a:cs typeface="Times New Roman"/>
              </a:rPr>
              <a:t>Websit</a:t>
            </a:r>
            <a:r>
              <a:rPr lang="en-US" sz="1200" dirty="0" smtClean="0">
                <a:latin typeface="Times New Roman"/>
                <a:cs typeface="Times New Roman"/>
              </a:rPr>
              <a:t>e flowchart</a:t>
            </a:r>
            <a:endParaRPr sz="1200" dirty="0">
              <a:latin typeface="Times New Roman"/>
              <a:cs typeface="Times New Roman"/>
            </a:endParaRPr>
          </a:p>
        </p:txBody>
      </p:sp>
      <p:sp>
        <p:nvSpPr>
          <p:cNvPr id="11" name="object 11"/>
          <p:cNvSpPr txBox="1"/>
          <p:nvPr/>
        </p:nvSpPr>
        <p:spPr>
          <a:xfrm>
            <a:off x="4737861" y="2444241"/>
            <a:ext cx="177800" cy="197490"/>
          </a:xfrm>
          <a:prstGeom prst="rect">
            <a:avLst/>
          </a:prstGeom>
        </p:spPr>
        <p:txBody>
          <a:bodyPr vert="horz" wrap="square" lIns="0" tIns="12700" rIns="0" bIns="0" rtlCol="0">
            <a:spAutoFit/>
          </a:bodyPr>
          <a:lstStyle/>
          <a:p>
            <a:pPr marL="12700">
              <a:lnSpc>
                <a:spcPct val="100000"/>
              </a:lnSpc>
              <a:spcBef>
                <a:spcPts val="100"/>
              </a:spcBef>
            </a:pPr>
            <a:r>
              <a:rPr sz="1200" spc="-25" dirty="0" smtClean="0">
                <a:latin typeface="Times New Roman"/>
                <a:cs typeface="Times New Roman"/>
              </a:rPr>
              <a:t>1</a:t>
            </a:r>
            <a:r>
              <a:rPr lang="en-US" sz="1200" spc="-25" dirty="0" smtClean="0">
                <a:latin typeface="Times New Roman"/>
                <a:cs typeface="Times New Roman"/>
              </a:rPr>
              <a:t>6</a:t>
            </a:r>
            <a:endParaRPr sz="1200" dirty="0">
              <a:latin typeface="Times New Roman"/>
              <a:cs typeface="Times New Roman"/>
            </a:endParaRPr>
          </a:p>
        </p:txBody>
      </p:sp>
      <p:sp>
        <p:nvSpPr>
          <p:cNvPr id="12" name="object 12"/>
          <p:cNvSpPr txBox="1"/>
          <p:nvPr/>
        </p:nvSpPr>
        <p:spPr>
          <a:xfrm>
            <a:off x="586738" y="3368796"/>
            <a:ext cx="3302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7.1.1</a:t>
            </a:r>
            <a:endParaRPr sz="1200" dirty="0">
              <a:latin typeface="Times New Roman"/>
              <a:cs typeface="Times New Roman"/>
            </a:endParaRPr>
          </a:p>
        </p:txBody>
      </p:sp>
      <p:sp>
        <p:nvSpPr>
          <p:cNvPr id="13" name="object 13"/>
          <p:cNvSpPr txBox="1"/>
          <p:nvPr/>
        </p:nvSpPr>
        <p:spPr>
          <a:xfrm>
            <a:off x="1759659" y="3368796"/>
            <a:ext cx="117094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Testing</a:t>
            </a:r>
            <a:r>
              <a:rPr sz="1200" spc="-35" dirty="0">
                <a:latin typeface="Times New Roman"/>
                <a:cs typeface="Times New Roman"/>
              </a:rPr>
              <a:t> </a:t>
            </a:r>
            <a:r>
              <a:rPr sz="1200" spc="-10" dirty="0">
                <a:latin typeface="Times New Roman"/>
                <a:cs typeface="Times New Roman"/>
              </a:rPr>
              <a:t>Objectives</a:t>
            </a:r>
            <a:endParaRPr sz="1200" dirty="0">
              <a:latin typeface="Times New Roman"/>
              <a:cs typeface="Times New Roman"/>
            </a:endParaRPr>
          </a:p>
        </p:txBody>
      </p:sp>
      <p:sp>
        <p:nvSpPr>
          <p:cNvPr id="14" name="object 14"/>
          <p:cNvSpPr txBox="1"/>
          <p:nvPr/>
        </p:nvSpPr>
        <p:spPr>
          <a:xfrm>
            <a:off x="4738496" y="3379585"/>
            <a:ext cx="177800" cy="197490"/>
          </a:xfrm>
          <a:prstGeom prst="rect">
            <a:avLst/>
          </a:prstGeom>
        </p:spPr>
        <p:txBody>
          <a:bodyPr vert="horz" wrap="square" lIns="0" tIns="12700" rIns="0" bIns="0" rtlCol="0">
            <a:spAutoFit/>
          </a:bodyPr>
          <a:lstStyle/>
          <a:p>
            <a:pPr marL="12700">
              <a:lnSpc>
                <a:spcPct val="100000"/>
              </a:lnSpc>
              <a:spcBef>
                <a:spcPts val="100"/>
              </a:spcBef>
            </a:pPr>
            <a:r>
              <a:rPr lang="en-US" sz="1200" spc="-25" dirty="0" smtClean="0">
                <a:latin typeface="Times New Roman"/>
                <a:cs typeface="Times New Roman"/>
              </a:rPr>
              <a:t>29</a:t>
            </a:r>
            <a:endParaRPr sz="1200" dirty="0">
              <a:latin typeface="Times New Roman"/>
              <a:cs typeface="Times New Roman"/>
            </a:endParaRPr>
          </a:p>
        </p:txBody>
      </p:sp>
      <p:sp>
        <p:nvSpPr>
          <p:cNvPr id="18" name="TextBox 17"/>
          <p:cNvSpPr txBox="1"/>
          <p:nvPr/>
        </p:nvSpPr>
        <p:spPr>
          <a:xfrm>
            <a:off x="528318" y="2908300"/>
            <a:ext cx="4545331" cy="276999"/>
          </a:xfrm>
          <a:prstGeom prst="rect">
            <a:avLst/>
          </a:prstGeom>
          <a:noFill/>
        </p:spPr>
        <p:txBody>
          <a:bodyPr wrap="square" rtlCol="0">
            <a:spAutoFit/>
          </a:bodyPr>
          <a:lstStyle/>
          <a:p>
            <a:r>
              <a:rPr lang="en-US" sz="1200" dirty="0" smtClean="0">
                <a:latin typeface="Times New Roman" pitchFamily="18" charset="0"/>
                <a:cs typeface="Times New Roman" pitchFamily="18" charset="0"/>
              </a:rPr>
              <a:t>3.1.1                     Module Interconnection                                        18</a:t>
            </a:r>
            <a:endParaRPr lang="en-US" sz="12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8</a:t>
            </a:fld>
            <a:r>
              <a:rPr spc="-20" dirty="0"/>
              <a:t>]</a:t>
            </a:r>
          </a:p>
        </p:txBody>
      </p:sp>
      <p:sp>
        <p:nvSpPr>
          <p:cNvPr id="2" name="object 2"/>
          <p:cNvSpPr txBox="1"/>
          <p:nvPr/>
        </p:nvSpPr>
        <p:spPr>
          <a:xfrm>
            <a:off x="3014598" y="371348"/>
            <a:ext cx="167449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LIST</a:t>
            </a:r>
            <a:r>
              <a:rPr sz="1600" b="1" spc="-25"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10" dirty="0">
                <a:latin typeface="Times New Roman"/>
                <a:cs typeface="Times New Roman"/>
              </a:rPr>
              <a:t>TABLES</a:t>
            </a:r>
            <a:endParaRPr sz="16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914998865"/>
              </p:ext>
            </p:extLst>
          </p:nvPr>
        </p:nvGraphicFramePr>
        <p:xfrm>
          <a:off x="500126" y="1312248"/>
          <a:ext cx="5606414" cy="2671107"/>
        </p:xfrm>
        <a:graphic>
          <a:graphicData uri="http://schemas.openxmlformats.org/drawingml/2006/table">
            <a:tbl>
              <a:tblPr firstRow="1" bandRow="1">
                <a:tableStyleId>{2D5ABB26-0587-4C30-8999-92F81FD0307C}</a:tableStyleId>
              </a:tblPr>
              <a:tblGrid>
                <a:gridCol w="960119"/>
                <a:gridCol w="3679825"/>
                <a:gridCol w="966470"/>
              </a:tblGrid>
              <a:tr h="215900">
                <a:tc>
                  <a:txBody>
                    <a:bodyPr/>
                    <a:lstStyle/>
                    <a:p>
                      <a:pPr marL="40640">
                        <a:lnSpc>
                          <a:spcPts val="1310"/>
                        </a:lnSpc>
                      </a:pPr>
                      <a:r>
                        <a:rPr sz="1200" b="1" dirty="0">
                          <a:latin typeface="Times New Roman"/>
                          <a:cs typeface="Times New Roman"/>
                        </a:rPr>
                        <a:t>TABLE </a:t>
                      </a:r>
                      <a:r>
                        <a:rPr sz="1200" b="1" spc="-25" dirty="0">
                          <a:latin typeface="Times New Roman"/>
                          <a:cs typeface="Times New Roman"/>
                        </a:rPr>
                        <a:t>No.</a:t>
                      </a:r>
                      <a:endParaRPr sz="1200" dirty="0">
                        <a:latin typeface="Times New Roman"/>
                        <a:cs typeface="Times New Roman"/>
                      </a:endParaRPr>
                    </a:p>
                  </a:txBody>
                  <a:tcPr marL="0" marR="0" marT="0" marB="0"/>
                </a:tc>
                <a:tc>
                  <a:txBody>
                    <a:bodyPr/>
                    <a:lstStyle/>
                    <a:p>
                      <a:pPr marL="470534">
                        <a:lnSpc>
                          <a:spcPts val="1310"/>
                        </a:lnSpc>
                      </a:pPr>
                      <a:r>
                        <a:rPr sz="1200" b="1" spc="-10" dirty="0">
                          <a:latin typeface="Times New Roman"/>
                          <a:cs typeface="Times New Roman"/>
                        </a:rPr>
                        <a:t>DESCRIPTION</a:t>
                      </a:r>
                      <a:endParaRPr sz="1200">
                        <a:latin typeface="Times New Roman"/>
                        <a:cs typeface="Times New Roman"/>
                      </a:endParaRPr>
                    </a:p>
                  </a:txBody>
                  <a:tcPr marL="0" marR="0" marT="0" marB="0"/>
                </a:tc>
                <a:tc>
                  <a:txBody>
                    <a:bodyPr/>
                    <a:lstStyle/>
                    <a:p>
                      <a:pPr marL="248285">
                        <a:lnSpc>
                          <a:spcPts val="1310"/>
                        </a:lnSpc>
                      </a:pPr>
                      <a:r>
                        <a:rPr sz="1200" b="1" dirty="0">
                          <a:latin typeface="Times New Roman"/>
                          <a:cs typeface="Times New Roman"/>
                        </a:rPr>
                        <a:t>PAGE</a:t>
                      </a:r>
                      <a:r>
                        <a:rPr sz="1200" b="1" spc="-40" dirty="0">
                          <a:latin typeface="Times New Roman"/>
                          <a:cs typeface="Times New Roman"/>
                        </a:rPr>
                        <a:t> </a:t>
                      </a:r>
                      <a:r>
                        <a:rPr sz="1200" b="1" spc="-25" dirty="0">
                          <a:latin typeface="Times New Roman"/>
                          <a:cs typeface="Times New Roman"/>
                        </a:rPr>
                        <a:t>No.</a:t>
                      </a:r>
                      <a:endParaRPr sz="1200">
                        <a:latin typeface="Times New Roman"/>
                        <a:cs typeface="Times New Roman"/>
                      </a:endParaRPr>
                    </a:p>
                  </a:txBody>
                  <a:tcPr marL="0" marR="0" marT="0" marB="0"/>
                </a:tc>
              </a:tr>
              <a:tr h="262890">
                <a:tc>
                  <a:txBody>
                    <a:bodyPr/>
                    <a:lstStyle/>
                    <a:p>
                      <a:pPr marL="40640">
                        <a:lnSpc>
                          <a:spcPct val="100000"/>
                        </a:lnSpc>
                        <a:spcBef>
                          <a:spcPts val="240"/>
                        </a:spcBef>
                      </a:pPr>
                      <a:r>
                        <a:rPr sz="1200" spc="-20" dirty="0" smtClean="0">
                          <a:latin typeface="Times New Roman"/>
                          <a:cs typeface="Times New Roman"/>
                        </a:rPr>
                        <a:t>3.1</a:t>
                      </a:r>
                      <a:r>
                        <a:rPr lang="en-US" sz="1200" spc="-20" dirty="0" smtClean="0">
                          <a:latin typeface="Times New Roman"/>
                          <a:cs typeface="Times New Roman"/>
                        </a:rPr>
                        <a:t>.</a:t>
                      </a:r>
                      <a:r>
                        <a:rPr sz="1200" spc="-20" dirty="0" smtClean="0">
                          <a:latin typeface="Times New Roman"/>
                          <a:cs typeface="Times New Roman"/>
                        </a:rPr>
                        <a:t>1</a:t>
                      </a:r>
                      <a:endParaRPr sz="1200" dirty="0">
                        <a:latin typeface="Times New Roman"/>
                        <a:cs typeface="Times New Roman"/>
                      </a:endParaRPr>
                    </a:p>
                  </a:txBody>
                  <a:tcPr marL="0" marR="0" marT="30480" marB="0"/>
                </a:tc>
                <a:tc>
                  <a:txBody>
                    <a:bodyPr/>
                    <a:lstStyle/>
                    <a:p>
                      <a:pPr marL="147955">
                        <a:lnSpc>
                          <a:spcPct val="100000"/>
                        </a:lnSpc>
                        <a:spcBef>
                          <a:spcPts val="240"/>
                        </a:spcBef>
                      </a:pP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Requirement</a:t>
                      </a:r>
                      <a:r>
                        <a:rPr sz="1200" spc="-25" dirty="0">
                          <a:latin typeface="Times New Roman"/>
                          <a:cs typeface="Times New Roman"/>
                        </a:rPr>
                        <a:t> </a:t>
                      </a:r>
                      <a:r>
                        <a:rPr sz="1200" dirty="0" smtClean="0">
                          <a:latin typeface="Times New Roman"/>
                          <a:cs typeface="Times New Roman"/>
                        </a:rPr>
                        <a:t>for</a:t>
                      </a:r>
                      <a:r>
                        <a:rPr lang="en-US" sz="1200" baseline="0" dirty="0" smtClean="0">
                          <a:latin typeface="Times New Roman"/>
                          <a:cs typeface="Times New Roman"/>
                        </a:rPr>
                        <a:t> Fitness Freak Website</a:t>
                      </a:r>
                      <a:endParaRPr sz="1200" dirty="0">
                        <a:latin typeface="Times New Roman"/>
                        <a:cs typeface="Times New Roman"/>
                      </a:endParaRPr>
                    </a:p>
                  </a:txBody>
                  <a:tcPr marL="0" marR="0" marT="30480" marB="0"/>
                </a:tc>
                <a:tc>
                  <a:txBody>
                    <a:bodyPr/>
                    <a:lstStyle/>
                    <a:p>
                      <a:pPr marL="288290">
                        <a:lnSpc>
                          <a:spcPct val="100000"/>
                        </a:lnSpc>
                        <a:spcBef>
                          <a:spcPts val="240"/>
                        </a:spcBef>
                      </a:pPr>
                      <a:r>
                        <a:rPr sz="1200" spc="-25" dirty="0" smtClean="0">
                          <a:latin typeface="Times New Roman"/>
                          <a:cs typeface="Times New Roman"/>
                        </a:rPr>
                        <a:t>1</a:t>
                      </a:r>
                      <a:r>
                        <a:rPr lang="en-US" sz="1200" spc="-25" dirty="0" smtClean="0">
                          <a:latin typeface="Times New Roman"/>
                          <a:cs typeface="Times New Roman"/>
                        </a:rPr>
                        <a:t>7</a:t>
                      </a:r>
                      <a:endParaRPr sz="1200" dirty="0">
                        <a:latin typeface="Times New Roman"/>
                        <a:cs typeface="Times New Roman"/>
                      </a:endParaRPr>
                    </a:p>
                  </a:txBody>
                  <a:tcPr marL="0" marR="0" marT="30480" marB="0"/>
                </a:tc>
              </a:tr>
              <a:tr h="355262">
                <a:tc>
                  <a:txBody>
                    <a:bodyPr/>
                    <a:lstStyle/>
                    <a:p>
                      <a:pPr marL="31750">
                        <a:lnSpc>
                          <a:spcPct val="100000"/>
                        </a:lnSpc>
                        <a:spcBef>
                          <a:spcPts val="235"/>
                        </a:spcBef>
                      </a:pPr>
                      <a:r>
                        <a:rPr sz="1200" spc="-10" dirty="0">
                          <a:latin typeface="Times New Roman"/>
                          <a:cs typeface="Times New Roman"/>
                        </a:rPr>
                        <a:t>5.2.1</a:t>
                      </a:r>
                      <a:endParaRPr sz="1200">
                        <a:latin typeface="Times New Roman"/>
                        <a:cs typeface="Times New Roman"/>
                      </a:endParaRPr>
                    </a:p>
                  </a:txBody>
                  <a:tcPr marL="0" marR="0" marT="29845" marB="0"/>
                </a:tc>
                <a:tc>
                  <a:txBody>
                    <a:bodyPr/>
                    <a:lstStyle/>
                    <a:p>
                      <a:pPr marL="176530">
                        <a:lnSpc>
                          <a:spcPct val="100000"/>
                        </a:lnSpc>
                        <a:spcBef>
                          <a:spcPts val="235"/>
                        </a:spcBef>
                      </a:pPr>
                      <a:r>
                        <a:rPr sz="1200" dirty="0">
                          <a:latin typeface="Times New Roman"/>
                          <a:cs typeface="Times New Roman"/>
                        </a:rPr>
                        <a:t>Project</a:t>
                      </a:r>
                      <a:r>
                        <a:rPr sz="1200" spc="-50" dirty="0">
                          <a:latin typeface="Times New Roman"/>
                          <a:cs typeface="Times New Roman"/>
                        </a:rPr>
                        <a:t> </a:t>
                      </a:r>
                      <a:r>
                        <a:rPr sz="1200" spc="-10" dirty="0">
                          <a:latin typeface="Times New Roman"/>
                          <a:cs typeface="Times New Roman"/>
                        </a:rPr>
                        <a:t>Timeline</a:t>
                      </a:r>
                      <a:endParaRPr sz="1200">
                        <a:latin typeface="Times New Roman"/>
                        <a:cs typeface="Times New Roman"/>
                      </a:endParaRPr>
                    </a:p>
                  </a:txBody>
                  <a:tcPr marL="0" marR="0" marT="29845" marB="0"/>
                </a:tc>
                <a:tc>
                  <a:txBody>
                    <a:bodyPr/>
                    <a:lstStyle/>
                    <a:p>
                      <a:pPr marL="283210">
                        <a:lnSpc>
                          <a:spcPct val="100000"/>
                        </a:lnSpc>
                        <a:spcBef>
                          <a:spcPts val="235"/>
                        </a:spcBef>
                      </a:pPr>
                      <a:r>
                        <a:rPr sz="1200" spc="-25" dirty="0" smtClean="0">
                          <a:latin typeface="Times New Roman"/>
                          <a:cs typeface="Times New Roman"/>
                        </a:rPr>
                        <a:t>2</a:t>
                      </a:r>
                      <a:r>
                        <a:rPr lang="en-US" sz="1200" spc="-25" dirty="0" smtClean="0">
                          <a:latin typeface="Times New Roman"/>
                          <a:cs typeface="Times New Roman"/>
                        </a:rPr>
                        <a:t>2</a:t>
                      </a:r>
                      <a:endParaRPr sz="1200" dirty="0">
                        <a:latin typeface="Times New Roman"/>
                        <a:cs typeface="Times New Roman"/>
                      </a:endParaRPr>
                    </a:p>
                  </a:txBody>
                  <a:tcPr marL="0" marR="0" marT="29845" marB="0"/>
                </a:tc>
              </a:tr>
              <a:tr h="389890">
                <a:tc>
                  <a:txBody>
                    <a:bodyPr/>
                    <a:lstStyle/>
                    <a:p>
                      <a:pPr marL="31750">
                        <a:lnSpc>
                          <a:spcPct val="100000"/>
                        </a:lnSpc>
                        <a:spcBef>
                          <a:spcPts val="740"/>
                        </a:spcBef>
                      </a:pPr>
                      <a:r>
                        <a:rPr sz="1200" spc="-10" dirty="0">
                          <a:latin typeface="Times New Roman"/>
                          <a:cs typeface="Times New Roman"/>
                        </a:rPr>
                        <a:t>5.5.1</a:t>
                      </a:r>
                      <a:endParaRPr sz="1200" dirty="0">
                        <a:latin typeface="Times New Roman"/>
                        <a:cs typeface="Times New Roman"/>
                      </a:endParaRPr>
                    </a:p>
                  </a:txBody>
                  <a:tcPr marL="0" marR="0" marT="93980" marB="0"/>
                </a:tc>
                <a:tc>
                  <a:txBody>
                    <a:bodyPr/>
                    <a:lstStyle/>
                    <a:p>
                      <a:pPr marL="138430">
                        <a:lnSpc>
                          <a:spcPct val="100000"/>
                        </a:lnSpc>
                        <a:spcBef>
                          <a:spcPts val="740"/>
                        </a:spcBef>
                      </a:pPr>
                      <a:r>
                        <a:rPr sz="1200" dirty="0">
                          <a:latin typeface="Times New Roman"/>
                          <a:cs typeface="Times New Roman"/>
                        </a:rPr>
                        <a:t>Feature </a:t>
                      </a:r>
                      <a:r>
                        <a:rPr sz="1200" spc="-10" dirty="0">
                          <a:latin typeface="Times New Roman"/>
                          <a:cs typeface="Times New Roman"/>
                        </a:rPr>
                        <a:t>Implementation</a:t>
                      </a:r>
                      <a:r>
                        <a:rPr sz="1200" spc="5" dirty="0">
                          <a:latin typeface="Times New Roman"/>
                          <a:cs typeface="Times New Roman"/>
                        </a:rPr>
                        <a:t> </a:t>
                      </a:r>
                      <a:r>
                        <a:rPr sz="1200" spc="-10" dirty="0">
                          <a:latin typeface="Times New Roman"/>
                          <a:cs typeface="Times New Roman"/>
                        </a:rPr>
                        <a:t>Overview</a:t>
                      </a:r>
                      <a:endParaRPr sz="1200" dirty="0">
                        <a:latin typeface="Times New Roman"/>
                        <a:cs typeface="Times New Roman"/>
                      </a:endParaRPr>
                    </a:p>
                  </a:txBody>
                  <a:tcPr marL="0" marR="0" marT="93980" marB="0"/>
                </a:tc>
                <a:tc>
                  <a:txBody>
                    <a:bodyPr/>
                    <a:lstStyle/>
                    <a:p>
                      <a:pPr marL="263525">
                        <a:lnSpc>
                          <a:spcPct val="100000"/>
                        </a:lnSpc>
                        <a:spcBef>
                          <a:spcPts val="740"/>
                        </a:spcBef>
                      </a:pPr>
                      <a:r>
                        <a:rPr sz="1200" spc="-25" dirty="0">
                          <a:latin typeface="Times New Roman"/>
                          <a:cs typeface="Times New Roman"/>
                        </a:rPr>
                        <a:t>23</a:t>
                      </a:r>
                      <a:endParaRPr sz="1200">
                        <a:latin typeface="Times New Roman"/>
                        <a:cs typeface="Times New Roman"/>
                      </a:endParaRPr>
                    </a:p>
                  </a:txBody>
                  <a:tcPr marL="0" marR="0" marT="93980" marB="0"/>
                </a:tc>
              </a:tr>
              <a:tr h="389890">
                <a:tc>
                  <a:txBody>
                    <a:bodyPr/>
                    <a:lstStyle/>
                    <a:p>
                      <a:pPr marL="31750">
                        <a:lnSpc>
                          <a:spcPct val="100000"/>
                        </a:lnSpc>
                        <a:spcBef>
                          <a:spcPts val="740"/>
                        </a:spcBef>
                      </a:pPr>
                      <a:r>
                        <a:rPr sz="1200" spc="-10" dirty="0">
                          <a:latin typeface="Times New Roman"/>
                          <a:cs typeface="Times New Roman"/>
                        </a:rPr>
                        <a:t>5.6.1</a:t>
                      </a:r>
                      <a:endParaRPr sz="1200">
                        <a:latin typeface="Times New Roman"/>
                        <a:cs typeface="Times New Roman"/>
                      </a:endParaRPr>
                    </a:p>
                  </a:txBody>
                  <a:tcPr marL="0" marR="0" marT="93980" marB="0"/>
                </a:tc>
                <a:tc>
                  <a:txBody>
                    <a:bodyPr/>
                    <a:lstStyle/>
                    <a:p>
                      <a:pPr marL="362585">
                        <a:lnSpc>
                          <a:spcPct val="100000"/>
                        </a:lnSpc>
                        <a:spcBef>
                          <a:spcPts val="740"/>
                        </a:spcBef>
                      </a:pPr>
                      <a:r>
                        <a:rPr sz="1200" dirty="0">
                          <a:latin typeface="Times New Roman"/>
                          <a:cs typeface="Times New Roman"/>
                        </a:rPr>
                        <a:t>Testing</a:t>
                      </a:r>
                      <a:r>
                        <a:rPr sz="1200" spc="-35" dirty="0">
                          <a:latin typeface="Times New Roman"/>
                          <a:cs typeface="Times New Roman"/>
                        </a:rPr>
                        <a:t> </a:t>
                      </a:r>
                      <a:r>
                        <a:rPr sz="1200" spc="-10" dirty="0">
                          <a:latin typeface="Times New Roman"/>
                          <a:cs typeface="Times New Roman"/>
                        </a:rPr>
                        <a:t>Metrics</a:t>
                      </a:r>
                      <a:endParaRPr sz="1200" dirty="0">
                        <a:latin typeface="Times New Roman"/>
                        <a:cs typeface="Times New Roman"/>
                      </a:endParaRPr>
                    </a:p>
                  </a:txBody>
                  <a:tcPr marL="0" marR="0" marT="93980" marB="0"/>
                </a:tc>
                <a:tc>
                  <a:txBody>
                    <a:bodyPr/>
                    <a:lstStyle/>
                    <a:p>
                      <a:pPr marL="263525">
                        <a:lnSpc>
                          <a:spcPct val="100000"/>
                        </a:lnSpc>
                        <a:spcBef>
                          <a:spcPts val="740"/>
                        </a:spcBef>
                      </a:pPr>
                      <a:r>
                        <a:rPr sz="1200" spc="-25" dirty="0">
                          <a:latin typeface="Times New Roman"/>
                          <a:cs typeface="Times New Roman"/>
                        </a:rPr>
                        <a:t>24</a:t>
                      </a:r>
                      <a:endParaRPr sz="1200">
                        <a:latin typeface="Times New Roman"/>
                        <a:cs typeface="Times New Roman"/>
                      </a:endParaRPr>
                    </a:p>
                  </a:txBody>
                  <a:tcPr marL="0" marR="0" marT="93980" marB="0"/>
                </a:tc>
              </a:tr>
              <a:tr h="389890">
                <a:tc>
                  <a:txBody>
                    <a:bodyPr/>
                    <a:lstStyle/>
                    <a:p>
                      <a:pPr marL="31750">
                        <a:lnSpc>
                          <a:spcPct val="100000"/>
                        </a:lnSpc>
                        <a:spcBef>
                          <a:spcPts val="740"/>
                        </a:spcBef>
                      </a:pPr>
                      <a:r>
                        <a:rPr sz="1200" spc="-10" dirty="0">
                          <a:latin typeface="Times New Roman"/>
                          <a:cs typeface="Times New Roman"/>
                        </a:rPr>
                        <a:t>5.7.1</a:t>
                      </a:r>
                      <a:endParaRPr sz="1200">
                        <a:latin typeface="Times New Roman"/>
                        <a:cs typeface="Times New Roman"/>
                      </a:endParaRPr>
                    </a:p>
                  </a:txBody>
                  <a:tcPr marL="0" marR="0" marT="93980" marB="0"/>
                </a:tc>
                <a:tc>
                  <a:txBody>
                    <a:bodyPr/>
                    <a:lstStyle/>
                    <a:p>
                      <a:pPr marL="176530">
                        <a:lnSpc>
                          <a:spcPct val="100000"/>
                        </a:lnSpc>
                        <a:spcBef>
                          <a:spcPts val="740"/>
                        </a:spcBef>
                      </a:pP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Feedback</a:t>
                      </a:r>
                      <a:r>
                        <a:rPr sz="1200" spc="-30" dirty="0">
                          <a:latin typeface="Times New Roman"/>
                          <a:cs typeface="Times New Roman"/>
                        </a:rPr>
                        <a:t> </a:t>
                      </a:r>
                      <a:r>
                        <a:rPr sz="1200" spc="-10" dirty="0">
                          <a:latin typeface="Times New Roman"/>
                          <a:cs typeface="Times New Roman"/>
                        </a:rPr>
                        <a:t>Summary</a:t>
                      </a:r>
                      <a:endParaRPr sz="1200">
                        <a:latin typeface="Times New Roman"/>
                        <a:cs typeface="Times New Roman"/>
                      </a:endParaRPr>
                    </a:p>
                  </a:txBody>
                  <a:tcPr marL="0" marR="0" marT="93980" marB="0"/>
                </a:tc>
                <a:tc>
                  <a:txBody>
                    <a:bodyPr/>
                    <a:lstStyle/>
                    <a:p>
                      <a:pPr marL="263525">
                        <a:lnSpc>
                          <a:spcPct val="100000"/>
                        </a:lnSpc>
                        <a:spcBef>
                          <a:spcPts val="740"/>
                        </a:spcBef>
                      </a:pPr>
                      <a:r>
                        <a:rPr sz="1200" spc="-25" dirty="0">
                          <a:latin typeface="Times New Roman"/>
                          <a:cs typeface="Times New Roman"/>
                        </a:rPr>
                        <a:t>24</a:t>
                      </a:r>
                      <a:endParaRPr sz="1200">
                        <a:latin typeface="Times New Roman"/>
                        <a:cs typeface="Times New Roman"/>
                      </a:endParaRPr>
                    </a:p>
                  </a:txBody>
                  <a:tcPr marL="0" marR="0" marT="93980" marB="0"/>
                </a:tc>
              </a:tr>
              <a:tr h="389255">
                <a:tc>
                  <a:txBody>
                    <a:bodyPr/>
                    <a:lstStyle/>
                    <a:p>
                      <a:pPr marL="31750">
                        <a:lnSpc>
                          <a:spcPct val="100000"/>
                        </a:lnSpc>
                        <a:spcBef>
                          <a:spcPts val="740"/>
                        </a:spcBef>
                      </a:pPr>
                      <a:r>
                        <a:rPr sz="1200" spc="-10" dirty="0">
                          <a:latin typeface="Times New Roman"/>
                          <a:cs typeface="Times New Roman"/>
                        </a:rPr>
                        <a:t>5.8.1</a:t>
                      </a:r>
                      <a:endParaRPr sz="1200">
                        <a:latin typeface="Times New Roman"/>
                        <a:cs typeface="Times New Roman"/>
                      </a:endParaRPr>
                    </a:p>
                  </a:txBody>
                  <a:tcPr marL="0" marR="0" marT="93980" marB="0"/>
                </a:tc>
                <a:tc>
                  <a:txBody>
                    <a:bodyPr/>
                    <a:lstStyle/>
                    <a:p>
                      <a:pPr marL="176530">
                        <a:lnSpc>
                          <a:spcPct val="100000"/>
                        </a:lnSpc>
                        <a:spcBef>
                          <a:spcPts val="740"/>
                        </a:spcBef>
                      </a:pPr>
                      <a:r>
                        <a:rPr sz="1200" dirty="0">
                          <a:latin typeface="Times New Roman"/>
                          <a:cs typeface="Times New Roman"/>
                        </a:rPr>
                        <a:t>Deployment</a:t>
                      </a:r>
                      <a:r>
                        <a:rPr sz="1200" spc="-75" dirty="0">
                          <a:latin typeface="Times New Roman"/>
                          <a:cs typeface="Times New Roman"/>
                        </a:rPr>
                        <a:t> </a:t>
                      </a:r>
                      <a:r>
                        <a:rPr sz="1200" spc="-20" dirty="0">
                          <a:latin typeface="Times New Roman"/>
                          <a:cs typeface="Times New Roman"/>
                        </a:rPr>
                        <a:t>Plan</a:t>
                      </a:r>
                      <a:endParaRPr sz="1200">
                        <a:latin typeface="Times New Roman"/>
                        <a:cs typeface="Times New Roman"/>
                      </a:endParaRPr>
                    </a:p>
                  </a:txBody>
                  <a:tcPr marL="0" marR="0" marT="93980" marB="0"/>
                </a:tc>
                <a:tc>
                  <a:txBody>
                    <a:bodyPr/>
                    <a:lstStyle/>
                    <a:p>
                      <a:pPr marL="263525">
                        <a:lnSpc>
                          <a:spcPct val="100000"/>
                        </a:lnSpc>
                        <a:spcBef>
                          <a:spcPts val="740"/>
                        </a:spcBef>
                      </a:pPr>
                      <a:r>
                        <a:rPr sz="1200" spc="-25" dirty="0">
                          <a:latin typeface="Times New Roman"/>
                          <a:cs typeface="Times New Roman"/>
                        </a:rPr>
                        <a:t>25</a:t>
                      </a:r>
                      <a:endParaRPr sz="1200">
                        <a:latin typeface="Times New Roman"/>
                        <a:cs typeface="Times New Roman"/>
                      </a:endParaRPr>
                    </a:p>
                  </a:txBody>
                  <a:tcPr marL="0" marR="0" marT="93980" marB="0"/>
                </a:tc>
              </a:tr>
              <a:tr h="278130">
                <a:tc>
                  <a:txBody>
                    <a:bodyPr/>
                    <a:lstStyle/>
                    <a:p>
                      <a:pPr marL="40640">
                        <a:lnSpc>
                          <a:spcPts val="1360"/>
                        </a:lnSpc>
                        <a:spcBef>
                          <a:spcPts val="735"/>
                        </a:spcBef>
                      </a:pPr>
                      <a:r>
                        <a:rPr sz="1200" spc="-10" dirty="0">
                          <a:latin typeface="Times New Roman"/>
                          <a:cs typeface="Times New Roman"/>
                        </a:rPr>
                        <a:t>8.1.1</a:t>
                      </a:r>
                      <a:endParaRPr sz="1200">
                        <a:latin typeface="Times New Roman"/>
                        <a:cs typeface="Times New Roman"/>
                      </a:endParaRPr>
                    </a:p>
                  </a:txBody>
                  <a:tcPr marL="0" marR="0" marT="93345" marB="0"/>
                </a:tc>
                <a:tc>
                  <a:txBody>
                    <a:bodyPr/>
                    <a:lstStyle/>
                    <a:p>
                      <a:pPr marL="186055">
                        <a:lnSpc>
                          <a:spcPts val="1360"/>
                        </a:lnSpc>
                        <a:spcBef>
                          <a:spcPts val="735"/>
                        </a:spcBef>
                      </a:pPr>
                      <a:r>
                        <a:rPr sz="1200" dirty="0">
                          <a:latin typeface="Times New Roman"/>
                          <a:cs typeface="Times New Roman"/>
                        </a:rPr>
                        <a:t>Future</a:t>
                      </a:r>
                      <a:r>
                        <a:rPr sz="1200" spc="-35" dirty="0">
                          <a:latin typeface="Times New Roman"/>
                          <a:cs typeface="Times New Roman"/>
                        </a:rPr>
                        <a:t> </a:t>
                      </a:r>
                      <a:r>
                        <a:rPr sz="1200" dirty="0">
                          <a:latin typeface="Times New Roman"/>
                          <a:cs typeface="Times New Roman"/>
                        </a:rPr>
                        <a:t>Scope</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smtClean="0">
                          <a:latin typeface="Times New Roman"/>
                          <a:cs typeface="Times New Roman"/>
                        </a:rPr>
                        <a:t>the</a:t>
                      </a:r>
                      <a:r>
                        <a:rPr lang="en-US" sz="1200" dirty="0" smtClean="0">
                          <a:latin typeface="Times New Roman"/>
                          <a:cs typeface="Times New Roman"/>
                        </a:rPr>
                        <a:t> Fitness</a:t>
                      </a:r>
                      <a:r>
                        <a:rPr lang="en-US" sz="1200" baseline="0" dirty="0" smtClean="0">
                          <a:latin typeface="Times New Roman"/>
                          <a:cs typeface="Times New Roman"/>
                        </a:rPr>
                        <a:t> Freak Website</a:t>
                      </a:r>
                      <a:endParaRPr sz="1200" dirty="0">
                        <a:latin typeface="Times New Roman"/>
                        <a:cs typeface="Times New Roman"/>
                      </a:endParaRPr>
                    </a:p>
                  </a:txBody>
                  <a:tcPr marL="0" marR="0" marT="93345" marB="0"/>
                </a:tc>
                <a:tc>
                  <a:txBody>
                    <a:bodyPr/>
                    <a:lstStyle/>
                    <a:p>
                      <a:pPr marL="262255">
                        <a:lnSpc>
                          <a:spcPts val="1360"/>
                        </a:lnSpc>
                        <a:spcBef>
                          <a:spcPts val="735"/>
                        </a:spcBef>
                      </a:pPr>
                      <a:r>
                        <a:rPr sz="1200" spc="-25" dirty="0">
                          <a:latin typeface="Times New Roman"/>
                          <a:cs typeface="Times New Roman"/>
                        </a:rPr>
                        <a:t>36</a:t>
                      </a:r>
                      <a:endParaRPr sz="1200">
                        <a:latin typeface="Times New Roman"/>
                        <a:cs typeface="Times New Roman"/>
                      </a:endParaRPr>
                    </a:p>
                  </a:txBody>
                  <a:tcPr marL="0" marR="0" marT="93345" marB="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9</a:t>
            </a:fld>
            <a:r>
              <a:rPr spc="-20" dirty="0"/>
              <a:t>]</a:t>
            </a:r>
          </a:p>
        </p:txBody>
      </p:sp>
      <p:sp>
        <p:nvSpPr>
          <p:cNvPr id="2" name="object 2"/>
          <p:cNvSpPr txBox="1"/>
          <p:nvPr/>
        </p:nvSpPr>
        <p:spPr>
          <a:xfrm>
            <a:off x="2918586" y="371348"/>
            <a:ext cx="18637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LIST</a:t>
            </a:r>
            <a:r>
              <a:rPr sz="1600" b="1" spc="-25" dirty="0">
                <a:latin typeface="Times New Roman"/>
                <a:cs typeface="Times New Roman"/>
              </a:rPr>
              <a:t> </a:t>
            </a:r>
            <a:r>
              <a:rPr sz="1600" b="1" dirty="0">
                <a:latin typeface="Times New Roman"/>
                <a:cs typeface="Times New Roman"/>
              </a:rPr>
              <a:t>OF</a:t>
            </a:r>
            <a:r>
              <a:rPr sz="1600" b="1" spc="-25" dirty="0">
                <a:latin typeface="Times New Roman"/>
                <a:cs typeface="Times New Roman"/>
              </a:rPr>
              <a:t> </a:t>
            </a:r>
            <a:r>
              <a:rPr sz="1600" b="1" spc="-10" dirty="0">
                <a:latin typeface="Times New Roman"/>
                <a:cs typeface="Times New Roman"/>
              </a:rPr>
              <a:t>SYMBOLS</a:t>
            </a:r>
            <a:endParaRPr sz="1600">
              <a:latin typeface="Times New Roman"/>
              <a:cs typeface="Times New Roman"/>
            </a:endParaRPr>
          </a:p>
        </p:txBody>
      </p:sp>
      <p:graphicFrame>
        <p:nvGraphicFramePr>
          <p:cNvPr id="3" name="object 3"/>
          <p:cNvGraphicFramePr>
            <a:graphicFrameLocks noGrp="1"/>
          </p:cNvGraphicFramePr>
          <p:nvPr/>
        </p:nvGraphicFramePr>
        <p:xfrm>
          <a:off x="509269" y="1312248"/>
          <a:ext cx="4950460" cy="4194809"/>
        </p:xfrm>
        <a:graphic>
          <a:graphicData uri="http://schemas.openxmlformats.org/drawingml/2006/table">
            <a:tbl>
              <a:tblPr firstRow="1" bandRow="1">
                <a:tableStyleId>{2D5ABB26-0587-4C30-8999-92F81FD0307C}</a:tableStyleId>
              </a:tblPr>
              <a:tblGrid>
                <a:gridCol w="1380490"/>
                <a:gridCol w="3569970"/>
              </a:tblGrid>
              <a:tr h="344170">
                <a:tc>
                  <a:txBody>
                    <a:bodyPr/>
                    <a:lstStyle/>
                    <a:p>
                      <a:pPr marL="31750">
                        <a:lnSpc>
                          <a:spcPts val="1310"/>
                        </a:lnSpc>
                      </a:pPr>
                      <a:r>
                        <a:rPr sz="1200" b="1" spc="-10" dirty="0">
                          <a:latin typeface="Times New Roman"/>
                          <a:cs typeface="Times New Roman"/>
                        </a:rPr>
                        <a:t>SYMBOLS</a:t>
                      </a:r>
                      <a:endParaRPr sz="1200" dirty="0">
                        <a:latin typeface="Times New Roman"/>
                        <a:cs typeface="Times New Roman"/>
                      </a:endParaRPr>
                    </a:p>
                  </a:txBody>
                  <a:tcPr marL="0" marR="0" marT="0" marB="0"/>
                </a:tc>
                <a:tc>
                  <a:txBody>
                    <a:bodyPr/>
                    <a:lstStyle/>
                    <a:p>
                      <a:pPr marL="690880">
                        <a:lnSpc>
                          <a:spcPts val="1310"/>
                        </a:lnSpc>
                      </a:pPr>
                      <a:r>
                        <a:rPr sz="1200" b="1" spc="-10" dirty="0">
                          <a:latin typeface="Times New Roman"/>
                          <a:cs typeface="Times New Roman"/>
                        </a:rPr>
                        <a:t>DESCRIPTION</a:t>
                      </a:r>
                      <a:endParaRPr sz="1200">
                        <a:latin typeface="Times New Roman"/>
                        <a:cs typeface="Times New Roman"/>
                      </a:endParaRPr>
                    </a:p>
                  </a:txBody>
                  <a:tcPr marL="0" marR="0" marT="0" marB="0"/>
                </a:tc>
              </a:tr>
              <a:tr h="454659">
                <a:tc>
                  <a:txBody>
                    <a:bodyPr/>
                    <a:lstStyle/>
                    <a:p>
                      <a:pPr marL="31750">
                        <a:lnSpc>
                          <a:spcPct val="100000"/>
                        </a:lnSpc>
                        <a:spcBef>
                          <a:spcPts val="1250"/>
                        </a:spcBef>
                      </a:pPr>
                      <a:r>
                        <a:rPr sz="1200" b="1" spc="-50" dirty="0">
                          <a:latin typeface="Times New Roman"/>
                          <a:cs typeface="Times New Roman"/>
                        </a:rPr>
                        <a:t>±</a:t>
                      </a:r>
                      <a:endParaRPr sz="1200">
                        <a:latin typeface="Times New Roman"/>
                        <a:cs typeface="Times New Roman"/>
                      </a:endParaRPr>
                    </a:p>
                  </a:txBody>
                  <a:tcPr marL="0" marR="0" marT="158750" marB="0"/>
                </a:tc>
                <a:tc>
                  <a:txBody>
                    <a:bodyPr/>
                    <a:lstStyle/>
                    <a:p>
                      <a:pPr marL="602615">
                        <a:lnSpc>
                          <a:spcPct val="100000"/>
                        </a:lnSpc>
                        <a:spcBef>
                          <a:spcPts val="1250"/>
                        </a:spcBef>
                      </a:pP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Plus,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minus</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tolerances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spc="-10" dirty="0">
                          <a:latin typeface="Times New Roman"/>
                          <a:cs typeface="Times New Roman"/>
                        </a:rPr>
                        <a:t>ranges)</a:t>
                      </a:r>
                      <a:endParaRPr sz="1200">
                        <a:latin typeface="Times New Roman"/>
                        <a:cs typeface="Times New Roman"/>
                      </a:endParaRPr>
                    </a:p>
                  </a:txBody>
                  <a:tcPr marL="0" marR="0" marT="158750" marB="0"/>
                </a:tc>
              </a:tr>
              <a:tr h="389255">
                <a:tc>
                  <a:txBody>
                    <a:bodyPr/>
                    <a:lstStyle/>
                    <a:p>
                      <a:pPr marL="31750">
                        <a:lnSpc>
                          <a:spcPct val="10000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33095">
                        <a:lnSpc>
                          <a:spcPct val="100000"/>
                        </a:lnSpc>
                        <a:spcBef>
                          <a:spcPts val="740"/>
                        </a:spcBef>
                      </a:pPr>
                      <a:r>
                        <a:rPr sz="1200" dirty="0">
                          <a:latin typeface="Times New Roman"/>
                          <a:cs typeface="Times New Roman"/>
                        </a:rPr>
                        <a:t>-</a:t>
                      </a:r>
                      <a:r>
                        <a:rPr sz="1200" spc="-10" dirty="0">
                          <a:latin typeface="Times New Roman"/>
                          <a:cs typeface="Times New Roman"/>
                        </a:rPr>
                        <a:t> Percentage</a:t>
                      </a:r>
                      <a:endParaRPr sz="1200">
                        <a:latin typeface="Times New Roman"/>
                        <a:cs typeface="Times New Roman"/>
                      </a:endParaRPr>
                    </a:p>
                  </a:txBody>
                  <a:tcPr marL="0" marR="0" marT="93980" marB="0"/>
                </a:tc>
              </a:tr>
              <a:tr h="389255">
                <a:tc>
                  <a:txBody>
                    <a:bodyPr/>
                    <a:lstStyle/>
                    <a:p>
                      <a:pPr marL="69850">
                        <a:lnSpc>
                          <a:spcPct val="100000"/>
                        </a:lnSpc>
                        <a:spcBef>
                          <a:spcPts val="735"/>
                        </a:spcBef>
                      </a:pPr>
                      <a:r>
                        <a:rPr sz="1200" b="1" spc="-50" dirty="0">
                          <a:latin typeface="Times New Roman"/>
                          <a:cs typeface="Times New Roman"/>
                        </a:rPr>
                        <a:t>=</a:t>
                      </a:r>
                      <a:endParaRPr sz="1200">
                        <a:latin typeface="Times New Roman"/>
                        <a:cs typeface="Times New Roman"/>
                      </a:endParaRPr>
                    </a:p>
                  </a:txBody>
                  <a:tcPr marL="0" marR="0" marT="93345" marB="0"/>
                </a:tc>
                <a:tc>
                  <a:txBody>
                    <a:bodyPr/>
                    <a:lstStyle/>
                    <a:p>
                      <a:pPr marL="605790">
                        <a:lnSpc>
                          <a:spcPct val="100000"/>
                        </a:lnSpc>
                        <a:spcBef>
                          <a:spcPts val="735"/>
                        </a:spcBef>
                      </a:pP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Equal</a:t>
                      </a:r>
                      <a:r>
                        <a:rPr sz="1200" spc="-25" dirty="0">
                          <a:latin typeface="Times New Roman"/>
                          <a:cs typeface="Times New Roman"/>
                        </a:rPr>
                        <a:t> to</a:t>
                      </a:r>
                      <a:endParaRPr sz="1200">
                        <a:latin typeface="Times New Roman"/>
                        <a:cs typeface="Times New Roman"/>
                      </a:endParaRPr>
                    </a:p>
                  </a:txBody>
                  <a:tcPr marL="0" marR="0" marT="93345" marB="0"/>
                </a:tc>
              </a:tr>
              <a:tr h="389890">
                <a:tc>
                  <a:txBody>
                    <a:bodyPr/>
                    <a:lstStyle/>
                    <a:p>
                      <a:pPr marL="69850">
                        <a:lnSpc>
                          <a:spcPct val="10000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40715">
                        <a:lnSpc>
                          <a:spcPct val="100000"/>
                        </a:lnSpc>
                        <a:spcBef>
                          <a:spcPts val="740"/>
                        </a:spcBef>
                      </a:pPr>
                      <a:r>
                        <a:rPr sz="1200" dirty="0" smtClean="0">
                          <a:latin typeface="Times New Roman"/>
                          <a:cs typeface="Times New Roman"/>
                        </a:rPr>
                        <a:t>-</a:t>
                      </a:r>
                      <a:r>
                        <a:rPr lang="en-US" sz="1200" spc="-40" dirty="0" smtClean="0">
                          <a:latin typeface="Times New Roman"/>
                          <a:cs typeface="Times New Roman"/>
                        </a:rPr>
                        <a:t> </a:t>
                      </a:r>
                      <a:r>
                        <a:rPr lang="en-US" sz="1200" spc="-40" dirty="0" err="1" smtClean="0">
                          <a:latin typeface="Times New Roman"/>
                          <a:cs typeface="Times New Roman"/>
                        </a:rPr>
                        <a:t>Website</a:t>
                      </a:r>
                      <a:r>
                        <a:rPr sz="1200" dirty="0" err="1" smtClean="0">
                          <a:latin typeface="Times New Roman"/>
                          <a:cs typeface="Times New Roman"/>
                        </a:rPr>
                        <a:t>roximately</a:t>
                      </a:r>
                      <a:r>
                        <a:rPr sz="1200" spc="-30" dirty="0" smtClean="0">
                          <a:latin typeface="Times New Roman"/>
                          <a:cs typeface="Times New Roman"/>
                        </a:rPr>
                        <a:t> </a:t>
                      </a:r>
                      <a:r>
                        <a:rPr sz="1200" dirty="0">
                          <a:latin typeface="Times New Roman"/>
                          <a:cs typeface="Times New Roman"/>
                        </a:rPr>
                        <a:t>equal</a:t>
                      </a:r>
                      <a:r>
                        <a:rPr sz="1200" spc="-35" dirty="0">
                          <a:latin typeface="Times New Roman"/>
                          <a:cs typeface="Times New Roman"/>
                        </a:rPr>
                        <a:t> </a:t>
                      </a:r>
                      <a:r>
                        <a:rPr sz="1200" spc="-25" dirty="0">
                          <a:latin typeface="Times New Roman"/>
                          <a:cs typeface="Times New Roman"/>
                        </a:rPr>
                        <a:t>to</a:t>
                      </a:r>
                      <a:endParaRPr sz="1200" dirty="0">
                        <a:latin typeface="Times New Roman"/>
                        <a:cs typeface="Times New Roman"/>
                      </a:endParaRPr>
                    </a:p>
                  </a:txBody>
                  <a:tcPr marL="0" marR="0" marT="93980" marB="0"/>
                </a:tc>
              </a:tr>
              <a:tr h="389890">
                <a:tc>
                  <a:txBody>
                    <a:bodyPr/>
                    <a:lstStyle/>
                    <a:p>
                      <a:pPr marL="31750">
                        <a:lnSpc>
                          <a:spcPct val="100000"/>
                        </a:lnSpc>
                        <a:spcBef>
                          <a:spcPts val="740"/>
                        </a:spcBef>
                      </a:pPr>
                      <a:r>
                        <a:rPr sz="1200" b="1" dirty="0">
                          <a:latin typeface="Times New Roman"/>
                          <a:cs typeface="Times New Roman"/>
                        </a:rPr>
                        <a:t>≤</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14680">
                        <a:lnSpc>
                          <a:spcPct val="100000"/>
                        </a:lnSpc>
                        <a:spcBef>
                          <a:spcPts val="740"/>
                        </a:spcBef>
                      </a:pP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Less</a:t>
                      </a:r>
                      <a:r>
                        <a:rPr sz="1200" spc="-20" dirty="0">
                          <a:latin typeface="Times New Roman"/>
                          <a:cs typeface="Times New Roman"/>
                        </a:rPr>
                        <a:t> </a:t>
                      </a:r>
                      <a:r>
                        <a:rPr sz="1200" dirty="0">
                          <a:latin typeface="Times New Roman"/>
                          <a:cs typeface="Times New Roman"/>
                        </a:rPr>
                        <a:t>than</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equal</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Greater</a:t>
                      </a:r>
                      <a:r>
                        <a:rPr sz="1200" spc="-20" dirty="0">
                          <a:latin typeface="Times New Roman"/>
                          <a:cs typeface="Times New Roman"/>
                        </a:rPr>
                        <a:t> </a:t>
                      </a:r>
                      <a:r>
                        <a:rPr sz="1200" dirty="0">
                          <a:latin typeface="Times New Roman"/>
                          <a:cs typeface="Times New Roman"/>
                        </a:rPr>
                        <a:t>than</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equal</a:t>
                      </a:r>
                      <a:r>
                        <a:rPr sz="1200" spc="-20" dirty="0">
                          <a:latin typeface="Times New Roman"/>
                          <a:cs typeface="Times New Roman"/>
                        </a:rPr>
                        <a:t> </a:t>
                      </a:r>
                      <a:r>
                        <a:rPr sz="1200" spc="-25" dirty="0">
                          <a:latin typeface="Times New Roman"/>
                          <a:cs typeface="Times New Roman"/>
                        </a:rPr>
                        <a:t>to</a:t>
                      </a:r>
                      <a:endParaRPr sz="1200">
                        <a:latin typeface="Times New Roman"/>
                        <a:cs typeface="Times New Roman"/>
                      </a:endParaRPr>
                    </a:p>
                  </a:txBody>
                  <a:tcPr marL="0" marR="0" marT="93980" marB="0"/>
                </a:tc>
              </a:tr>
              <a:tr h="389890">
                <a:tc>
                  <a:txBody>
                    <a:bodyPr/>
                    <a:lstStyle/>
                    <a:p>
                      <a:pPr marL="69850">
                        <a:lnSpc>
                          <a:spcPct val="10000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33095">
                        <a:lnSpc>
                          <a:spcPct val="100000"/>
                        </a:lnSpc>
                        <a:spcBef>
                          <a:spcPts val="740"/>
                        </a:spcBef>
                      </a:pP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Implies</a:t>
                      </a:r>
                      <a:r>
                        <a:rPr sz="1200" spc="-2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leads</a:t>
                      </a:r>
                      <a:r>
                        <a:rPr sz="1200" spc="-10" dirty="0">
                          <a:latin typeface="Times New Roman"/>
                          <a:cs typeface="Times New Roman"/>
                        </a:rPr>
                        <a:t> </a:t>
                      </a:r>
                      <a:r>
                        <a:rPr sz="1200" spc="-25" dirty="0">
                          <a:latin typeface="Times New Roman"/>
                          <a:cs typeface="Times New Roman"/>
                        </a:rPr>
                        <a:t>to</a:t>
                      </a:r>
                      <a:endParaRPr sz="1200">
                        <a:latin typeface="Times New Roman"/>
                        <a:cs typeface="Times New Roman"/>
                      </a:endParaRPr>
                    </a:p>
                  </a:txBody>
                  <a:tcPr marL="0" marR="0" marT="93980" marB="0"/>
                </a:tc>
              </a:tr>
              <a:tr h="389890">
                <a:tc>
                  <a:txBody>
                    <a:bodyPr/>
                    <a:lstStyle/>
                    <a:p>
                      <a:pPr marL="31750">
                        <a:lnSpc>
                          <a:spcPct val="10000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26745">
                        <a:lnSpc>
                          <a:spcPct val="100000"/>
                        </a:lnSpc>
                        <a:spcBef>
                          <a:spcPts val="740"/>
                        </a:spcBef>
                      </a:pPr>
                      <a:r>
                        <a:rPr sz="1200" dirty="0">
                          <a:latin typeface="Times New Roman"/>
                          <a:cs typeface="Times New Roman"/>
                        </a:rPr>
                        <a:t>-</a:t>
                      </a:r>
                      <a:r>
                        <a:rPr sz="1200" spc="-10" dirty="0">
                          <a:latin typeface="Times New Roman"/>
                          <a:cs typeface="Times New Roman"/>
                        </a:rPr>
                        <a:t> Summation</a:t>
                      </a:r>
                      <a:endParaRPr sz="1200">
                        <a:latin typeface="Times New Roman"/>
                        <a:cs typeface="Times New Roman"/>
                      </a:endParaRPr>
                    </a:p>
                  </a:txBody>
                  <a:tcPr marL="0" marR="0" marT="93980" marB="0"/>
                </a:tc>
              </a:tr>
              <a:tr h="389255">
                <a:tc>
                  <a:txBody>
                    <a:bodyPr/>
                    <a:lstStyle/>
                    <a:p>
                      <a:pPr marL="31750">
                        <a:lnSpc>
                          <a:spcPct val="10000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43890">
                        <a:lnSpc>
                          <a:spcPct val="100000"/>
                        </a:lnSpc>
                        <a:spcBef>
                          <a:spcPts val="740"/>
                        </a:spcBef>
                      </a:pP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Product </a:t>
                      </a:r>
                      <a:r>
                        <a:rPr sz="1200" spc="-10" dirty="0">
                          <a:latin typeface="Times New Roman"/>
                          <a:cs typeface="Times New Roman"/>
                        </a:rPr>
                        <a:t>(multiplication</a:t>
                      </a:r>
                      <a:r>
                        <a:rPr sz="1200" dirty="0">
                          <a:latin typeface="Times New Roman"/>
                          <a:cs typeface="Times New Roman"/>
                        </a:rPr>
                        <a:t> of</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sequence)</a:t>
                      </a:r>
                      <a:endParaRPr sz="1200">
                        <a:latin typeface="Times New Roman"/>
                        <a:cs typeface="Times New Roman"/>
                      </a:endParaRPr>
                    </a:p>
                  </a:txBody>
                  <a:tcPr marL="0" marR="0" marT="93980" marB="0"/>
                </a:tc>
              </a:tr>
              <a:tr h="389255">
                <a:tc>
                  <a:txBody>
                    <a:bodyPr/>
                    <a:lstStyle/>
                    <a:p>
                      <a:pPr marL="31750">
                        <a:lnSpc>
                          <a:spcPct val="100000"/>
                        </a:lnSpc>
                        <a:spcBef>
                          <a:spcPts val="735"/>
                        </a:spcBef>
                      </a:pPr>
                      <a:r>
                        <a:rPr sz="1200" b="1" spc="-50" dirty="0">
                          <a:latin typeface="Times New Roman"/>
                          <a:cs typeface="Times New Roman"/>
                        </a:rPr>
                        <a:t>√</a:t>
                      </a:r>
                      <a:endParaRPr sz="1200">
                        <a:latin typeface="Times New Roman"/>
                        <a:cs typeface="Times New Roman"/>
                      </a:endParaRPr>
                    </a:p>
                  </a:txBody>
                  <a:tcPr marL="0" marR="0" marT="93345" marB="0"/>
                </a:tc>
                <a:tc>
                  <a:txBody>
                    <a:bodyPr/>
                    <a:lstStyle/>
                    <a:p>
                      <a:pPr marL="640715">
                        <a:lnSpc>
                          <a:spcPct val="100000"/>
                        </a:lnSpc>
                        <a:spcBef>
                          <a:spcPts val="735"/>
                        </a:spcBef>
                      </a:pP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Square</a:t>
                      </a:r>
                      <a:r>
                        <a:rPr sz="1200" spc="-30" dirty="0">
                          <a:latin typeface="Times New Roman"/>
                          <a:cs typeface="Times New Roman"/>
                        </a:rPr>
                        <a:t> </a:t>
                      </a:r>
                      <a:r>
                        <a:rPr sz="1200" spc="-20" dirty="0">
                          <a:latin typeface="Times New Roman"/>
                          <a:cs typeface="Times New Roman"/>
                        </a:rPr>
                        <a:t>root</a:t>
                      </a:r>
                      <a:endParaRPr sz="1200">
                        <a:latin typeface="Times New Roman"/>
                        <a:cs typeface="Times New Roman"/>
                      </a:endParaRPr>
                    </a:p>
                  </a:txBody>
                  <a:tcPr marL="0" marR="0" marT="93345" marB="0"/>
                </a:tc>
              </a:tr>
              <a:tr h="279400">
                <a:tc>
                  <a:txBody>
                    <a:bodyPr/>
                    <a:lstStyle/>
                    <a:p>
                      <a:pPr marL="31750">
                        <a:lnSpc>
                          <a:spcPts val="1360"/>
                        </a:lnSpc>
                        <a:spcBef>
                          <a:spcPts val="740"/>
                        </a:spcBef>
                      </a:pPr>
                      <a:r>
                        <a:rPr sz="1200" b="1" spc="-50" dirty="0">
                          <a:latin typeface="Times New Roman"/>
                          <a:cs typeface="Times New Roman"/>
                        </a:rPr>
                        <a:t>∞</a:t>
                      </a:r>
                      <a:endParaRPr sz="1200">
                        <a:latin typeface="Times New Roman"/>
                        <a:cs typeface="Times New Roman"/>
                      </a:endParaRPr>
                    </a:p>
                  </a:txBody>
                  <a:tcPr marL="0" marR="0" marT="93980" marB="0"/>
                </a:tc>
                <a:tc>
                  <a:txBody>
                    <a:bodyPr/>
                    <a:lstStyle/>
                    <a:p>
                      <a:pPr marL="626745">
                        <a:lnSpc>
                          <a:spcPts val="1360"/>
                        </a:lnSpc>
                        <a:spcBef>
                          <a:spcPts val="740"/>
                        </a:spcBef>
                      </a:pPr>
                      <a:r>
                        <a:rPr sz="1200" dirty="0">
                          <a:latin typeface="Times New Roman"/>
                          <a:cs typeface="Times New Roman"/>
                        </a:rPr>
                        <a:t>- </a:t>
                      </a:r>
                      <a:r>
                        <a:rPr sz="1200" spc="-10" dirty="0">
                          <a:latin typeface="Times New Roman"/>
                          <a:cs typeface="Times New Roman"/>
                        </a:rPr>
                        <a:t>Infinity</a:t>
                      </a:r>
                      <a:endParaRPr sz="1200">
                        <a:latin typeface="Times New Roman"/>
                        <a:cs typeface="Times New Roman"/>
                      </a:endParaRPr>
                    </a:p>
                  </a:txBody>
                  <a:tcPr marL="0" marR="0" marT="93980" marB="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10</a:t>
            </a:fld>
            <a:r>
              <a:rPr spc="-20" dirty="0"/>
              <a:t>]</a:t>
            </a:r>
          </a:p>
        </p:txBody>
      </p:sp>
      <p:sp>
        <p:nvSpPr>
          <p:cNvPr id="2" name="object 2"/>
          <p:cNvSpPr txBox="1"/>
          <p:nvPr/>
        </p:nvSpPr>
        <p:spPr>
          <a:xfrm>
            <a:off x="2563495" y="369823"/>
            <a:ext cx="25749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LIST</a:t>
            </a:r>
            <a:r>
              <a:rPr sz="1600" b="1" spc="-25" dirty="0">
                <a:latin typeface="Times New Roman"/>
                <a:cs typeface="Times New Roman"/>
              </a:rPr>
              <a:t> </a:t>
            </a:r>
            <a:r>
              <a:rPr sz="1600" b="1" dirty="0">
                <a:latin typeface="Times New Roman"/>
                <a:cs typeface="Times New Roman"/>
              </a:rPr>
              <a:t>OF</a:t>
            </a:r>
            <a:r>
              <a:rPr sz="1600" b="1" spc="-25" dirty="0">
                <a:latin typeface="Times New Roman"/>
                <a:cs typeface="Times New Roman"/>
              </a:rPr>
              <a:t> </a:t>
            </a:r>
            <a:r>
              <a:rPr sz="1600" b="1" spc="-10" dirty="0">
                <a:latin typeface="Times New Roman"/>
                <a:cs typeface="Times New Roman"/>
              </a:rPr>
              <a:t>ABBREVIATIONS</a:t>
            </a:r>
            <a:endParaRPr sz="1600">
              <a:latin typeface="Times New Roman"/>
              <a:cs typeface="Times New Roman"/>
            </a:endParaRPr>
          </a:p>
        </p:txBody>
      </p:sp>
      <p:sp>
        <p:nvSpPr>
          <p:cNvPr id="3" name="object 3"/>
          <p:cNvSpPr txBox="1"/>
          <p:nvPr/>
        </p:nvSpPr>
        <p:spPr>
          <a:xfrm>
            <a:off x="528319" y="1074165"/>
            <a:ext cx="948690"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Abbreviations</a:t>
            </a:r>
            <a:endParaRPr sz="1200">
              <a:latin typeface="Times New Roman"/>
              <a:cs typeface="Times New Roman"/>
            </a:endParaRPr>
          </a:p>
        </p:txBody>
      </p:sp>
      <p:sp>
        <p:nvSpPr>
          <p:cNvPr id="4" name="object 4"/>
          <p:cNvSpPr txBox="1"/>
          <p:nvPr/>
        </p:nvSpPr>
        <p:spPr>
          <a:xfrm>
            <a:off x="3242130" y="1074165"/>
            <a:ext cx="7791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Description</a:t>
            </a:r>
            <a:endParaRPr sz="1200">
              <a:latin typeface="Times New Roman"/>
              <a:cs typeface="Times New Roman"/>
            </a:endParaRPr>
          </a:p>
        </p:txBody>
      </p:sp>
      <p:sp>
        <p:nvSpPr>
          <p:cNvPr id="5" name="object 5"/>
          <p:cNvSpPr txBox="1"/>
          <p:nvPr/>
        </p:nvSpPr>
        <p:spPr>
          <a:xfrm>
            <a:off x="528319" y="1499361"/>
            <a:ext cx="440690" cy="2653665"/>
          </a:xfrm>
          <a:prstGeom prst="rect">
            <a:avLst/>
          </a:prstGeom>
        </p:spPr>
        <p:txBody>
          <a:bodyPr vert="horz" wrap="square" lIns="0" tIns="12065" rIns="0" bIns="0" rtlCol="0">
            <a:spAutoFit/>
          </a:bodyPr>
          <a:lstStyle/>
          <a:p>
            <a:pPr marL="12700" marR="5080">
              <a:lnSpc>
                <a:spcPct val="143600"/>
              </a:lnSpc>
              <a:spcBef>
                <a:spcPts val="95"/>
              </a:spcBef>
            </a:pPr>
            <a:r>
              <a:rPr sz="1200" spc="-25" dirty="0">
                <a:latin typeface="Times New Roman"/>
                <a:cs typeface="Times New Roman"/>
              </a:rPr>
              <a:t>AI </a:t>
            </a:r>
            <a:r>
              <a:rPr sz="1200" spc="-20" dirty="0">
                <a:latin typeface="Times New Roman"/>
                <a:cs typeface="Times New Roman"/>
              </a:rPr>
              <a:t>TMDb </a:t>
            </a:r>
            <a:r>
              <a:rPr sz="1200" spc="-25" dirty="0">
                <a:latin typeface="Times New Roman"/>
                <a:cs typeface="Times New Roman"/>
              </a:rPr>
              <a:t>API GUI</a:t>
            </a:r>
            <a:endParaRPr sz="1200">
              <a:latin typeface="Times New Roman"/>
              <a:cs typeface="Times New Roman"/>
            </a:endParaRPr>
          </a:p>
          <a:p>
            <a:pPr marL="12700">
              <a:lnSpc>
                <a:spcPct val="100000"/>
              </a:lnSpc>
              <a:spcBef>
                <a:spcPts val="625"/>
              </a:spcBef>
            </a:pPr>
            <a:r>
              <a:rPr sz="1200" spc="-25" dirty="0">
                <a:latin typeface="Times New Roman"/>
                <a:cs typeface="Times New Roman"/>
              </a:rPr>
              <a:t>IoT</a:t>
            </a:r>
            <a:endParaRPr sz="1200">
              <a:latin typeface="Times New Roman"/>
              <a:cs typeface="Times New Roman"/>
            </a:endParaRPr>
          </a:p>
          <a:p>
            <a:pPr marL="12700" marR="97790">
              <a:lnSpc>
                <a:spcPct val="143800"/>
              </a:lnSpc>
              <a:spcBef>
                <a:spcPts val="5"/>
              </a:spcBef>
            </a:pPr>
            <a:r>
              <a:rPr sz="1200" spc="-25" dirty="0">
                <a:latin typeface="Times New Roman"/>
                <a:cs typeface="Times New Roman"/>
              </a:rPr>
              <a:t>UAT UX UI OPC RHA</a:t>
            </a:r>
            <a:endParaRPr sz="1200">
              <a:latin typeface="Times New Roman"/>
              <a:cs typeface="Times New Roman"/>
            </a:endParaRPr>
          </a:p>
        </p:txBody>
      </p:sp>
      <p:sp>
        <p:nvSpPr>
          <p:cNvPr id="6" name="object 6"/>
          <p:cNvSpPr txBox="1"/>
          <p:nvPr/>
        </p:nvSpPr>
        <p:spPr>
          <a:xfrm>
            <a:off x="3110610" y="1499361"/>
            <a:ext cx="2313940" cy="2653665"/>
          </a:xfrm>
          <a:prstGeom prst="rect">
            <a:avLst/>
          </a:prstGeom>
        </p:spPr>
        <p:txBody>
          <a:bodyPr vert="horz" wrap="square" lIns="0" tIns="92075" rIns="0" bIns="0" rtlCol="0">
            <a:spAutoFit/>
          </a:bodyPr>
          <a:lstStyle/>
          <a:p>
            <a:pPr marL="118110" indent="-87630">
              <a:lnSpc>
                <a:spcPct val="100000"/>
              </a:lnSpc>
              <a:spcBef>
                <a:spcPts val="725"/>
              </a:spcBef>
              <a:buChar char="-"/>
              <a:tabLst>
                <a:tab pos="118110" algn="l"/>
              </a:tabLst>
            </a:pPr>
            <a:r>
              <a:rPr sz="1200" dirty="0">
                <a:latin typeface="Times New Roman"/>
                <a:cs typeface="Times New Roman"/>
              </a:rPr>
              <a:t>Artificial</a:t>
            </a:r>
            <a:r>
              <a:rPr sz="1200" spc="-55" dirty="0">
                <a:latin typeface="Times New Roman"/>
                <a:cs typeface="Times New Roman"/>
              </a:rPr>
              <a:t> </a:t>
            </a:r>
            <a:r>
              <a:rPr sz="1200" spc="-10" dirty="0">
                <a:latin typeface="Times New Roman"/>
                <a:cs typeface="Times New Roman"/>
              </a:rPr>
              <a:t>Intelligence</a:t>
            </a:r>
            <a:endParaRPr sz="1200">
              <a:latin typeface="Times New Roman"/>
              <a:cs typeface="Times New Roman"/>
            </a:endParaRPr>
          </a:p>
          <a:p>
            <a:pPr marL="104775" indent="-87630">
              <a:lnSpc>
                <a:spcPct val="100000"/>
              </a:lnSpc>
              <a:spcBef>
                <a:spcPts val="620"/>
              </a:spcBef>
              <a:buChar char="-"/>
              <a:tabLst>
                <a:tab pos="104775" algn="l"/>
              </a:tabLst>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Movie</a:t>
            </a:r>
            <a:r>
              <a:rPr sz="1200" spc="-15" dirty="0">
                <a:latin typeface="Times New Roman"/>
                <a:cs typeface="Times New Roman"/>
              </a:rPr>
              <a:t> </a:t>
            </a:r>
            <a:r>
              <a:rPr sz="1200" spc="-10" dirty="0">
                <a:latin typeface="Times New Roman"/>
                <a:cs typeface="Times New Roman"/>
              </a:rPr>
              <a:t>Database</a:t>
            </a:r>
            <a:endParaRPr sz="1200">
              <a:latin typeface="Times New Roman"/>
              <a:cs typeface="Times New Roman"/>
            </a:endParaRPr>
          </a:p>
          <a:p>
            <a:pPr marL="125730" indent="-87630">
              <a:lnSpc>
                <a:spcPct val="100000"/>
              </a:lnSpc>
              <a:spcBef>
                <a:spcPts val="640"/>
              </a:spcBef>
              <a:buChar char="-"/>
              <a:tabLst>
                <a:tab pos="125730" algn="l"/>
              </a:tabLst>
            </a:pPr>
            <a:r>
              <a:rPr sz="1200" dirty="0">
                <a:latin typeface="Times New Roman"/>
                <a:cs typeface="Times New Roman"/>
              </a:rPr>
              <a:t>Application</a:t>
            </a:r>
            <a:r>
              <a:rPr sz="1200" spc="-70" dirty="0">
                <a:latin typeface="Times New Roman"/>
                <a:cs typeface="Times New Roman"/>
              </a:rPr>
              <a:t> </a:t>
            </a:r>
            <a:r>
              <a:rPr sz="1200" dirty="0">
                <a:latin typeface="Times New Roman"/>
                <a:cs typeface="Times New Roman"/>
              </a:rPr>
              <a:t>Programming</a:t>
            </a:r>
            <a:r>
              <a:rPr sz="1200" spc="-60" dirty="0">
                <a:latin typeface="Times New Roman"/>
                <a:cs typeface="Times New Roman"/>
              </a:rPr>
              <a:t> </a:t>
            </a:r>
            <a:r>
              <a:rPr sz="1200" spc="-10" dirty="0">
                <a:latin typeface="Times New Roman"/>
                <a:cs typeface="Times New Roman"/>
              </a:rPr>
              <a:t>Interface</a:t>
            </a:r>
            <a:endParaRPr sz="1200">
              <a:latin typeface="Times New Roman"/>
              <a:cs typeface="Times New Roman"/>
            </a:endParaRPr>
          </a:p>
          <a:p>
            <a:pPr marL="113664" indent="-87630">
              <a:lnSpc>
                <a:spcPct val="100000"/>
              </a:lnSpc>
              <a:spcBef>
                <a:spcPts val="620"/>
              </a:spcBef>
              <a:buChar char="-"/>
              <a:tabLst>
                <a:tab pos="113664" algn="l"/>
              </a:tabLst>
            </a:pPr>
            <a:r>
              <a:rPr sz="1200" dirty="0">
                <a:latin typeface="Times New Roman"/>
                <a:cs typeface="Times New Roman"/>
              </a:rPr>
              <a:t>Graphical</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Interface</a:t>
            </a:r>
            <a:endParaRPr sz="1200">
              <a:latin typeface="Times New Roman"/>
              <a:cs typeface="Times New Roman"/>
            </a:endParaRPr>
          </a:p>
          <a:p>
            <a:pPr marL="101600" indent="-88900">
              <a:lnSpc>
                <a:spcPct val="100000"/>
              </a:lnSpc>
              <a:spcBef>
                <a:spcPts val="625"/>
              </a:spcBef>
              <a:buChar char="-"/>
              <a:tabLst>
                <a:tab pos="101600" algn="l"/>
              </a:tabLst>
            </a:pPr>
            <a:r>
              <a:rPr sz="1200" dirty="0">
                <a:latin typeface="Times New Roman"/>
                <a:cs typeface="Times New Roman"/>
              </a:rPr>
              <a:t>Internet</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Things</a:t>
            </a:r>
            <a:endParaRPr sz="1200">
              <a:latin typeface="Times New Roman"/>
              <a:cs typeface="Times New Roman"/>
            </a:endParaRPr>
          </a:p>
          <a:p>
            <a:pPr marL="118110" indent="-87630">
              <a:lnSpc>
                <a:spcPct val="100000"/>
              </a:lnSpc>
              <a:spcBef>
                <a:spcPts val="640"/>
              </a:spcBef>
              <a:buChar char="-"/>
              <a:tabLst>
                <a:tab pos="118110" algn="l"/>
              </a:tabLst>
            </a:pPr>
            <a:r>
              <a:rPr sz="1200" dirty="0">
                <a:latin typeface="Times New Roman"/>
                <a:cs typeface="Times New Roman"/>
              </a:rPr>
              <a:t>User</a:t>
            </a:r>
            <a:r>
              <a:rPr sz="1200" spc="10" dirty="0">
                <a:latin typeface="Times New Roman"/>
                <a:cs typeface="Times New Roman"/>
              </a:rPr>
              <a:t> </a:t>
            </a:r>
            <a:r>
              <a:rPr sz="1200" spc="-10" dirty="0">
                <a:latin typeface="Times New Roman"/>
                <a:cs typeface="Times New Roman"/>
              </a:rPr>
              <a:t>Acceptance</a:t>
            </a:r>
            <a:r>
              <a:rPr sz="1200" spc="-5"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p>
            <a:pPr marL="139700" indent="-87630">
              <a:lnSpc>
                <a:spcPct val="100000"/>
              </a:lnSpc>
              <a:spcBef>
                <a:spcPts val="625"/>
              </a:spcBef>
              <a:buChar char="-"/>
              <a:tabLst>
                <a:tab pos="139700" algn="l"/>
              </a:tabLst>
            </a:pPr>
            <a:r>
              <a:rPr sz="1200" dirty="0">
                <a:latin typeface="Times New Roman"/>
                <a:cs typeface="Times New Roman"/>
              </a:rPr>
              <a:t>User</a:t>
            </a:r>
            <a:r>
              <a:rPr sz="1200" spc="-10" dirty="0">
                <a:latin typeface="Times New Roman"/>
                <a:cs typeface="Times New Roman"/>
              </a:rPr>
              <a:t> Experience</a:t>
            </a:r>
            <a:endParaRPr sz="1200">
              <a:latin typeface="Times New Roman"/>
              <a:cs typeface="Times New Roman"/>
            </a:endParaRPr>
          </a:p>
          <a:p>
            <a:pPr marL="118110" indent="-87630">
              <a:lnSpc>
                <a:spcPct val="100000"/>
              </a:lnSpc>
              <a:spcBef>
                <a:spcPts val="635"/>
              </a:spcBef>
              <a:buChar char="-"/>
              <a:tabLst>
                <a:tab pos="118110" algn="l"/>
              </a:tabLst>
            </a:pPr>
            <a:r>
              <a:rPr sz="1200" dirty="0">
                <a:latin typeface="Times New Roman"/>
                <a:cs typeface="Times New Roman"/>
              </a:rPr>
              <a:t>User</a:t>
            </a:r>
            <a:r>
              <a:rPr sz="1200" spc="-10" dirty="0">
                <a:latin typeface="Times New Roman"/>
                <a:cs typeface="Times New Roman"/>
              </a:rPr>
              <a:t> Interface</a:t>
            </a:r>
            <a:endParaRPr sz="1200">
              <a:latin typeface="Times New Roman"/>
              <a:cs typeface="Times New Roman"/>
            </a:endParaRPr>
          </a:p>
          <a:p>
            <a:pPr marL="101600" indent="-87630">
              <a:lnSpc>
                <a:spcPct val="100000"/>
              </a:lnSpc>
              <a:spcBef>
                <a:spcPts val="625"/>
              </a:spcBef>
              <a:buChar char="-"/>
              <a:tabLst>
                <a:tab pos="101600" algn="l"/>
              </a:tabLst>
            </a:pPr>
            <a:r>
              <a:rPr sz="1200" dirty="0">
                <a:latin typeface="Times New Roman"/>
                <a:cs typeface="Times New Roman"/>
              </a:rPr>
              <a:t>Ordinary</a:t>
            </a:r>
            <a:r>
              <a:rPr sz="1200" spc="-40" dirty="0">
                <a:latin typeface="Times New Roman"/>
                <a:cs typeface="Times New Roman"/>
              </a:rPr>
              <a:t> </a:t>
            </a:r>
            <a:r>
              <a:rPr sz="1200" dirty="0">
                <a:latin typeface="Times New Roman"/>
                <a:cs typeface="Times New Roman"/>
              </a:rPr>
              <a:t>Portland</a:t>
            </a:r>
            <a:r>
              <a:rPr sz="1200" spc="-40" dirty="0">
                <a:latin typeface="Times New Roman"/>
                <a:cs typeface="Times New Roman"/>
              </a:rPr>
              <a:t> </a:t>
            </a:r>
            <a:r>
              <a:rPr sz="1200" spc="-10" dirty="0">
                <a:latin typeface="Times New Roman"/>
                <a:cs typeface="Times New Roman"/>
              </a:rPr>
              <a:t>Cement</a:t>
            </a:r>
            <a:endParaRPr sz="1200">
              <a:latin typeface="Times New Roman"/>
              <a:cs typeface="Times New Roman"/>
            </a:endParaRPr>
          </a:p>
          <a:p>
            <a:pPr marL="125730" indent="-87630">
              <a:lnSpc>
                <a:spcPct val="100000"/>
              </a:lnSpc>
              <a:spcBef>
                <a:spcPts val="635"/>
              </a:spcBef>
              <a:buChar char="-"/>
              <a:tabLst>
                <a:tab pos="125730" algn="l"/>
              </a:tabLst>
            </a:pPr>
            <a:r>
              <a:rPr sz="1200" dirty="0">
                <a:latin typeface="Times New Roman"/>
                <a:cs typeface="Times New Roman"/>
              </a:rPr>
              <a:t>Rice</a:t>
            </a:r>
            <a:r>
              <a:rPr sz="1200" spc="-10" dirty="0">
                <a:latin typeface="Times New Roman"/>
                <a:cs typeface="Times New Roman"/>
              </a:rPr>
              <a:t> </a:t>
            </a:r>
            <a:r>
              <a:rPr sz="1200" dirty="0">
                <a:latin typeface="Times New Roman"/>
                <a:cs typeface="Times New Roman"/>
              </a:rPr>
              <a:t>Husk</a:t>
            </a:r>
            <a:r>
              <a:rPr sz="1200" spc="-5" dirty="0">
                <a:latin typeface="Times New Roman"/>
                <a:cs typeface="Times New Roman"/>
              </a:rPr>
              <a:t> </a:t>
            </a:r>
            <a:r>
              <a:rPr sz="1200" spc="-25" dirty="0">
                <a:latin typeface="Times New Roman"/>
                <a:cs typeface="Times New Roman"/>
              </a:rPr>
              <a:t>Ash</a:t>
            </a:r>
            <a:endParaRPr sz="12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11</a:t>
            </a:fld>
            <a:r>
              <a:rPr spc="-20" dirty="0"/>
              <a:t>]</a:t>
            </a:r>
          </a:p>
        </p:txBody>
      </p:sp>
      <p:sp>
        <p:nvSpPr>
          <p:cNvPr id="2" name="object 2"/>
          <p:cNvSpPr txBox="1"/>
          <p:nvPr/>
        </p:nvSpPr>
        <p:spPr>
          <a:xfrm>
            <a:off x="528319" y="369823"/>
            <a:ext cx="6648450" cy="10227800"/>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0"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1</a:t>
            </a:r>
            <a:endParaRPr sz="1600" dirty="0">
              <a:latin typeface="Times New Roman"/>
              <a:cs typeface="Times New Roman"/>
            </a:endParaRPr>
          </a:p>
          <a:p>
            <a:pPr>
              <a:lnSpc>
                <a:spcPct val="100000"/>
              </a:lnSpc>
              <a:spcBef>
                <a:spcPts val="1780"/>
              </a:spcBef>
            </a:pPr>
            <a:endParaRPr sz="1600" dirty="0">
              <a:latin typeface="Times New Roman"/>
              <a:cs typeface="Times New Roman"/>
            </a:endParaRPr>
          </a:p>
          <a:p>
            <a:r>
              <a:rPr lang="en-US" sz="1200" b="1" dirty="0" smtClean="0"/>
              <a:t>1.1 Introduction to Fitness Freak Website</a:t>
            </a:r>
          </a:p>
          <a:p>
            <a:endParaRPr lang="en-US" sz="1200" b="1" dirty="0" smtClean="0"/>
          </a:p>
          <a:p>
            <a:r>
              <a:rPr lang="en-US" sz="1200" dirty="0" smtClean="0"/>
              <a:t>The </a:t>
            </a:r>
            <a:r>
              <a:rPr lang="en-US" sz="1200" b="1" dirty="0" smtClean="0"/>
              <a:t>Fitness Freak – A Gym Website</a:t>
            </a:r>
            <a:r>
              <a:rPr lang="en-US" sz="1200" dirty="0" smtClean="0"/>
              <a:t> is an innovative and interactive web-based application designed to enhance the user experience by seamlessly combining gym services, subscription management, fitness product browsing, and user interaction on a single platform. This website uses full-stack web technologies to deliver a comprehensive solution that offers subscription management, contact features, fitness product display, and secure user authentication.</a:t>
            </a:r>
          </a:p>
          <a:p>
            <a:endParaRPr lang="en-US" sz="1200" dirty="0"/>
          </a:p>
          <a:p>
            <a:endParaRPr lang="en-US" sz="1200" dirty="0" smtClean="0"/>
          </a:p>
          <a:p>
            <a:endParaRPr lang="en-US" sz="1200" dirty="0" smtClean="0"/>
          </a:p>
          <a:p>
            <a:r>
              <a:rPr lang="en-US" sz="1200" b="1" dirty="0" smtClean="0">
                <a:latin typeface="Times New Roman" pitchFamily="18" charset="0"/>
                <a:cs typeface="Times New Roman" pitchFamily="18" charset="0"/>
              </a:rPr>
              <a:t>1.2  Key Features</a:t>
            </a:r>
          </a:p>
          <a:p>
            <a:endParaRPr lang="en-US" sz="1200" b="1"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    Real-Time User Registration and Management:</a:t>
            </a:r>
          </a:p>
          <a:p>
            <a:r>
              <a:rPr lang="en-US" sz="1200" dirty="0" smtClean="0">
                <a:latin typeface="Times New Roman" pitchFamily="18" charset="0"/>
                <a:cs typeface="Times New Roman" pitchFamily="18" charset="0"/>
              </a:rPr>
              <a:t>Allow users to register new accounts, securely log in, and manage their fitness subscriptions. All user data is securely stored in a backend MySQL database, ensuring persistent user records.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    Subscription Management:</a:t>
            </a:r>
          </a:p>
          <a:p>
            <a:pPr marL="171450" indent="-171450">
              <a:buFont typeface="Arial" pitchFamily="34" charset="0"/>
              <a:buChar char="•"/>
            </a:pPr>
            <a:r>
              <a:rPr lang="en-US" sz="1200" b="1" dirty="0" smtClean="0">
                <a:latin typeface="Times New Roman" pitchFamily="18" charset="0"/>
                <a:cs typeface="Times New Roman" pitchFamily="18" charset="0"/>
              </a:rPr>
              <a:t>Fitness Plans:</a:t>
            </a:r>
            <a:r>
              <a:rPr lang="en-US" sz="1200" dirty="0" smtClean="0">
                <a:latin typeface="Times New Roman" pitchFamily="18" charset="0"/>
                <a:cs typeface="Times New Roman" pitchFamily="18" charset="0"/>
              </a:rPr>
              <a:t> Users can select and subscribe to fitness plans that suit their needs.</a:t>
            </a:r>
          </a:p>
          <a:p>
            <a:pPr marL="171450" indent="-171450">
              <a:buFont typeface="Arial" pitchFamily="34" charset="0"/>
              <a:buChar char="•"/>
            </a:pPr>
            <a:r>
              <a:rPr lang="en-US" sz="1200" b="1" dirty="0" smtClean="0">
                <a:latin typeface="Times New Roman" pitchFamily="18" charset="0"/>
                <a:cs typeface="Times New Roman" pitchFamily="18" charset="0"/>
              </a:rPr>
              <a:t>Product Store:</a:t>
            </a:r>
            <a:r>
              <a:rPr lang="en-US" sz="1200" dirty="0" smtClean="0">
                <a:latin typeface="Times New Roman" pitchFamily="18" charset="0"/>
                <a:cs typeface="Times New Roman" pitchFamily="18" charset="0"/>
              </a:rPr>
              <a:t> Access a range of gym-related tools and fitness products directly from the online store.</a:t>
            </a:r>
          </a:p>
          <a:p>
            <a:pPr marL="171450" indent="-171450">
              <a:buFont typeface="Arial" pitchFamily="34" charset="0"/>
              <a:buChar char="•"/>
            </a:pPr>
            <a:r>
              <a:rPr lang="en-US" sz="1200" b="1" dirty="0" smtClean="0">
                <a:latin typeface="Times New Roman" pitchFamily="18" charset="0"/>
                <a:cs typeface="Times New Roman" pitchFamily="18" charset="0"/>
              </a:rPr>
              <a:t>Contact and Feedback:</a:t>
            </a:r>
            <a:r>
              <a:rPr lang="en-US" sz="1200" dirty="0" smtClean="0">
                <a:latin typeface="Times New Roman" pitchFamily="18" charset="0"/>
                <a:cs typeface="Times New Roman" pitchFamily="18" charset="0"/>
              </a:rPr>
              <a:t> Provide feedback, suggestions, or inquiries directly through the website contact form.</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Dynamic Content Display:</a:t>
            </a:r>
          </a:p>
          <a:p>
            <a:pPr marL="171450" indent="-171450">
              <a:buFont typeface="Arial" pitchFamily="34" charset="0"/>
              <a:buChar char="•"/>
            </a:pPr>
            <a:r>
              <a:rPr lang="en-US" sz="1200" dirty="0" smtClean="0">
                <a:latin typeface="Times New Roman" pitchFamily="18" charset="0"/>
                <a:cs typeface="Times New Roman" pitchFamily="18" charset="0"/>
              </a:rPr>
              <a:t>Interactive and responsive pages designed using HTML5, CSS3, and JavaScript.</a:t>
            </a:r>
          </a:p>
          <a:p>
            <a:pPr marL="171450" indent="-171450">
              <a:buFont typeface="Arial" pitchFamily="34" charset="0"/>
              <a:buChar char="•"/>
            </a:pPr>
            <a:r>
              <a:rPr lang="en-US" sz="1200" dirty="0" smtClean="0">
                <a:latin typeface="Times New Roman" pitchFamily="18" charset="0"/>
                <a:cs typeface="Times New Roman" pitchFamily="18" charset="0"/>
              </a:rPr>
              <a:t>Smooth navigation between Home, About, Store, Contact, and Subscription sections.</a:t>
            </a:r>
          </a:p>
          <a:p>
            <a:pPr marL="171450" indent="-171450">
              <a:buFont typeface="Arial" pitchFamily="34" charset="0"/>
              <a:buChar char="•"/>
            </a:pPr>
            <a:r>
              <a:rPr lang="en-US" sz="1200" dirty="0" smtClean="0">
                <a:latin typeface="Times New Roman" pitchFamily="18" charset="0"/>
                <a:cs typeface="Times New Roman" pitchFamily="18" charset="0"/>
              </a:rPr>
              <a:t>Clean design layout ensuring user comfort across multiple devices.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Backend Integration:</a:t>
            </a:r>
          </a:p>
          <a:p>
            <a:pPr marL="171450" indent="-171450">
              <a:buFont typeface="Arial" pitchFamily="34" charset="0"/>
              <a:buChar char="•"/>
            </a:pPr>
            <a:r>
              <a:rPr lang="en-US" sz="1200" b="1" dirty="0" smtClean="0">
                <a:latin typeface="Times New Roman" pitchFamily="18" charset="0"/>
                <a:cs typeface="Times New Roman" pitchFamily="18" charset="0"/>
              </a:rPr>
              <a:t>PHP:</a:t>
            </a:r>
            <a:r>
              <a:rPr lang="en-US" sz="1200" dirty="0" smtClean="0">
                <a:latin typeface="Times New Roman" pitchFamily="18" charset="0"/>
                <a:cs typeface="Times New Roman" pitchFamily="18" charset="0"/>
              </a:rPr>
              <a:t> Handles all form submissions, server-side logic, and database connectivity.</a:t>
            </a:r>
          </a:p>
          <a:p>
            <a:pPr marL="171450" indent="-171450">
              <a:buFont typeface="Arial" pitchFamily="34" charset="0"/>
              <a:buChar char="•"/>
            </a:pPr>
            <a:r>
              <a:rPr lang="en-US" sz="1200" b="1" dirty="0" smtClean="0">
                <a:latin typeface="Times New Roman" pitchFamily="18" charset="0"/>
                <a:cs typeface="Times New Roman" pitchFamily="18" charset="0"/>
              </a:rPr>
              <a:t>MySQL Database:</a:t>
            </a:r>
            <a:r>
              <a:rPr lang="en-US" sz="1200" dirty="0" smtClean="0">
                <a:latin typeface="Times New Roman" pitchFamily="18" charset="0"/>
                <a:cs typeface="Times New Roman" pitchFamily="18" charset="0"/>
              </a:rPr>
              <a:t> Securely stores user information, subscription data, and contact form entries.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User-Friendly Interface:</a:t>
            </a:r>
          </a:p>
          <a:p>
            <a:pPr marL="171450" indent="-171450">
              <a:buFont typeface="Arial" pitchFamily="34" charset="0"/>
              <a:buChar char="•"/>
            </a:pPr>
            <a:r>
              <a:rPr lang="en-US" sz="1200" dirty="0" smtClean="0">
                <a:latin typeface="Times New Roman" pitchFamily="18" charset="0"/>
                <a:cs typeface="Times New Roman" pitchFamily="18" charset="0"/>
              </a:rPr>
              <a:t>Built with modern web standards to ensure easy navigation and accessibility.</a:t>
            </a:r>
          </a:p>
          <a:p>
            <a:pPr marL="171450" indent="-171450">
              <a:buFont typeface="Arial" pitchFamily="34" charset="0"/>
              <a:buChar char="•"/>
            </a:pPr>
            <a:r>
              <a:rPr lang="en-US" sz="1200" dirty="0" smtClean="0">
                <a:latin typeface="Times New Roman" pitchFamily="18" charset="0"/>
                <a:cs typeface="Times New Roman" pitchFamily="18" charset="0"/>
              </a:rPr>
              <a:t>Clean layout design featuring dynamic interactive elements using JavaScript and CSS animations</a:t>
            </a:r>
            <a:r>
              <a:rPr lang="en-US" sz="1200" dirty="0" smtClean="0"/>
              <a:t>.</a:t>
            </a:r>
          </a:p>
          <a:p>
            <a:pPr marL="171450" indent="-171450">
              <a:buFont typeface="Arial" pitchFamily="34" charset="0"/>
              <a:buChar char="•"/>
            </a:pPr>
            <a:endParaRPr lang="en-US" sz="1200" dirty="0" smtClean="0"/>
          </a:p>
          <a:p>
            <a:pPr marL="171450" indent="-171450">
              <a:buFont typeface="Wingdings" pitchFamily="2" charset="2"/>
              <a:buChar char="v"/>
            </a:pPr>
            <a:r>
              <a:rPr lang="en-US" sz="1200" b="1" dirty="0" smtClean="0">
                <a:latin typeface="Times New Roman" pitchFamily="18" charset="0"/>
                <a:cs typeface="Times New Roman" pitchFamily="18" charset="0"/>
              </a:rPr>
              <a:t>Comprehensive Technology Stack:</a:t>
            </a:r>
          </a:p>
          <a:p>
            <a:pPr marL="171450" indent="-171450">
              <a:buFont typeface="Arial" pitchFamily="34" charset="0"/>
              <a:buChar char="•"/>
            </a:pPr>
            <a:r>
              <a:rPr lang="en-US" sz="1200" b="1" dirty="0" smtClean="0">
                <a:latin typeface="Times New Roman" pitchFamily="18" charset="0"/>
                <a:cs typeface="Times New Roman" pitchFamily="18" charset="0"/>
              </a:rPr>
              <a:t>Frontend:</a:t>
            </a:r>
            <a:r>
              <a:rPr lang="en-US" sz="1200" dirty="0" smtClean="0">
                <a:latin typeface="Times New Roman" pitchFamily="18" charset="0"/>
                <a:cs typeface="Times New Roman" pitchFamily="18" charset="0"/>
              </a:rPr>
              <a:t> HTML5, CSS3, JavaScript for design and interactivity.</a:t>
            </a:r>
          </a:p>
          <a:p>
            <a:pPr marL="171450" indent="-171450">
              <a:buFont typeface="Arial" pitchFamily="34" charset="0"/>
              <a:buChar char="•"/>
            </a:pPr>
            <a:r>
              <a:rPr lang="en-US" sz="1200" b="1" dirty="0" smtClean="0">
                <a:latin typeface="Times New Roman" pitchFamily="18" charset="0"/>
                <a:cs typeface="Times New Roman" pitchFamily="18" charset="0"/>
              </a:rPr>
              <a:t>Backend:</a:t>
            </a:r>
            <a:r>
              <a:rPr lang="en-US" sz="1200" dirty="0" smtClean="0">
                <a:latin typeface="Times New Roman" pitchFamily="18" charset="0"/>
                <a:cs typeface="Times New Roman" pitchFamily="18" charset="0"/>
              </a:rPr>
              <a:t> PHP for processing logic.</a:t>
            </a:r>
          </a:p>
          <a:p>
            <a:pPr marL="171450" indent="-171450">
              <a:buFont typeface="Arial" pitchFamily="34" charset="0"/>
              <a:buChar char="•"/>
            </a:pPr>
            <a:r>
              <a:rPr lang="en-US" sz="1200" b="1" dirty="0" smtClean="0">
                <a:latin typeface="Times New Roman" pitchFamily="18" charset="0"/>
                <a:cs typeface="Times New Roman" pitchFamily="18" charset="0"/>
              </a:rPr>
              <a:t>Database:</a:t>
            </a:r>
            <a:r>
              <a:rPr lang="en-US" sz="1200" dirty="0" smtClean="0">
                <a:latin typeface="Times New Roman" pitchFamily="18" charset="0"/>
                <a:cs typeface="Times New Roman" pitchFamily="18" charset="0"/>
              </a:rPr>
              <a:t> MySQL for data storage.</a:t>
            </a:r>
          </a:p>
          <a:p>
            <a:pPr marL="171450" indent="-171450">
              <a:buFont typeface="Arial" pitchFamily="34" charset="0"/>
              <a:buChar char="•"/>
            </a:pPr>
            <a:r>
              <a:rPr lang="en-US" sz="1200" b="1" dirty="0" smtClean="0">
                <a:latin typeface="Times New Roman" pitchFamily="18" charset="0"/>
                <a:cs typeface="Times New Roman" pitchFamily="18" charset="0"/>
              </a:rPr>
              <a:t>Local Server:</a:t>
            </a:r>
            <a:r>
              <a:rPr lang="en-US" sz="1200" dirty="0" smtClean="0">
                <a:latin typeface="Times New Roman" pitchFamily="18" charset="0"/>
                <a:cs typeface="Times New Roman" pitchFamily="18" charset="0"/>
              </a:rPr>
              <a:t> XAMPP for running the project in a development environment.</a:t>
            </a:r>
          </a:p>
          <a:p>
            <a:pPr marL="171450" indent="-171450">
              <a:buFont typeface="Arial" pitchFamily="34" charset="0"/>
              <a:buChar char="•"/>
            </a:pPr>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1.3 Why Use This Website?</a:t>
            </a:r>
          </a:p>
          <a:p>
            <a:r>
              <a:rPr lang="en-US" sz="1200" dirty="0" smtClean="0">
                <a:latin typeface="Times New Roman" pitchFamily="18" charset="0"/>
                <a:cs typeface="Times New Roman" pitchFamily="18" charset="0"/>
              </a:rPr>
              <a:t>Whether users are looking for fitness plans, gym products, or a reliable platform to register and engage with gym services, </a:t>
            </a:r>
            <a:r>
              <a:rPr lang="en-US" sz="1200" b="1" dirty="0" smtClean="0">
                <a:latin typeface="Times New Roman" pitchFamily="18" charset="0"/>
                <a:cs typeface="Times New Roman" pitchFamily="18" charset="0"/>
              </a:rPr>
              <a:t>Fitness Freak – A Gym Website</a:t>
            </a:r>
            <a:r>
              <a:rPr lang="en-US" sz="1200" dirty="0" smtClean="0">
                <a:latin typeface="Times New Roman" pitchFamily="18" charset="0"/>
                <a:cs typeface="Times New Roman" pitchFamily="18" charset="0"/>
              </a:rPr>
              <a:t> is a comprehensive digital solution. It simplifies fitness subscriptions and purchases while encouraging healthy habits through a convenient, online, user-friendly interface. The platform demonstrates the ability to integrate multiple web technologies into a functional full-stack web solution, providing both learning opportunities and practical application.</a:t>
            </a:r>
          </a:p>
          <a:p>
            <a:pPr marL="171450" indent="-171450">
              <a:buFont typeface="Arial" pitchFamily="34" charset="0"/>
              <a:buChar char="•"/>
            </a:pPr>
            <a:endParaRPr lang="en-US" sz="1200" dirty="0" smtClean="0">
              <a:latin typeface="Times New Roman" pitchFamily="18" charset="0"/>
              <a:cs typeface="Times New Roman" pitchFamily="18" charset="0"/>
            </a:endParaRPr>
          </a:p>
          <a:p>
            <a:pPr>
              <a:lnSpc>
                <a:spcPct val="100000"/>
              </a:lnSpc>
              <a:spcBef>
                <a:spcPts val="1310"/>
              </a:spcBef>
            </a:pPr>
            <a:endParaRPr sz="12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1019" y="2403474"/>
            <a:ext cx="6617334" cy="20320"/>
            <a:chOff x="541019" y="2403474"/>
            <a:chExt cx="6617334" cy="20320"/>
          </a:xfrm>
        </p:grpSpPr>
        <p:sp>
          <p:nvSpPr>
            <p:cNvPr id="3" name="object 3"/>
            <p:cNvSpPr/>
            <p:nvPr/>
          </p:nvSpPr>
          <p:spPr>
            <a:xfrm>
              <a:off x="541020" y="2403474"/>
              <a:ext cx="6615430" cy="19685"/>
            </a:xfrm>
            <a:custGeom>
              <a:avLst/>
              <a:gdLst/>
              <a:ahLst/>
              <a:cxnLst/>
              <a:rect l="l" t="t" r="r" b="b"/>
              <a:pathLst>
                <a:path w="6615430" h="19685">
                  <a:moveTo>
                    <a:pt x="6615430" y="0"/>
                  </a:moveTo>
                  <a:lnTo>
                    <a:pt x="0" y="0"/>
                  </a:lnTo>
                  <a:lnTo>
                    <a:pt x="0" y="139"/>
                  </a:lnTo>
                  <a:lnTo>
                    <a:pt x="0" y="3175"/>
                  </a:lnTo>
                  <a:lnTo>
                    <a:pt x="0" y="19685"/>
                  </a:lnTo>
                  <a:lnTo>
                    <a:pt x="6615430" y="19685"/>
                  </a:lnTo>
                  <a:lnTo>
                    <a:pt x="6615430" y="0"/>
                  </a:lnTo>
                  <a:close/>
                </a:path>
              </a:pathLst>
            </a:custGeom>
            <a:solidFill>
              <a:srgbClr val="9F9F9F"/>
            </a:solidFill>
          </p:spPr>
          <p:txBody>
            <a:bodyPr wrap="square" lIns="0" tIns="0" rIns="0" bIns="0" rtlCol="0"/>
            <a:lstStyle/>
            <a:p>
              <a:endParaRPr/>
            </a:p>
          </p:txBody>
        </p:sp>
        <p:sp>
          <p:nvSpPr>
            <p:cNvPr id="4" name="object 4"/>
            <p:cNvSpPr/>
            <p:nvPr/>
          </p:nvSpPr>
          <p:spPr>
            <a:xfrm>
              <a:off x="7154926" y="2403601"/>
              <a:ext cx="3175" cy="3175"/>
            </a:xfrm>
            <a:custGeom>
              <a:avLst/>
              <a:gdLst/>
              <a:ahLst/>
              <a:cxnLst/>
              <a:rect l="l" t="t" r="r" b="b"/>
              <a:pathLst>
                <a:path w="3175" h="3175">
                  <a:moveTo>
                    <a:pt x="3048" y="0"/>
                  </a:moveTo>
                  <a:lnTo>
                    <a:pt x="0" y="0"/>
                  </a:lnTo>
                  <a:lnTo>
                    <a:pt x="0" y="3047"/>
                  </a:lnTo>
                  <a:lnTo>
                    <a:pt x="3048" y="3047"/>
                  </a:lnTo>
                  <a:lnTo>
                    <a:pt x="3048" y="0"/>
                  </a:lnTo>
                  <a:close/>
                </a:path>
              </a:pathLst>
            </a:custGeom>
            <a:solidFill>
              <a:srgbClr val="E2E2E2"/>
            </a:solidFill>
          </p:spPr>
          <p:txBody>
            <a:bodyPr wrap="square" lIns="0" tIns="0" rIns="0" bIns="0" rtlCol="0"/>
            <a:lstStyle/>
            <a:p>
              <a:endParaRPr/>
            </a:p>
          </p:txBody>
        </p:sp>
        <p:sp>
          <p:nvSpPr>
            <p:cNvPr id="5" name="object 5"/>
            <p:cNvSpPr/>
            <p:nvPr/>
          </p:nvSpPr>
          <p:spPr>
            <a:xfrm>
              <a:off x="541020" y="2403614"/>
              <a:ext cx="6617334" cy="17145"/>
            </a:xfrm>
            <a:custGeom>
              <a:avLst/>
              <a:gdLst/>
              <a:ahLst/>
              <a:cxnLst/>
              <a:rect l="l" t="t" r="r" b="b"/>
              <a:pathLst>
                <a:path w="6617334" h="17144">
                  <a:moveTo>
                    <a:pt x="3048" y="3035"/>
                  </a:moveTo>
                  <a:lnTo>
                    <a:pt x="0" y="3035"/>
                  </a:lnTo>
                  <a:lnTo>
                    <a:pt x="0" y="16751"/>
                  </a:lnTo>
                  <a:lnTo>
                    <a:pt x="3048" y="16751"/>
                  </a:lnTo>
                  <a:lnTo>
                    <a:pt x="3048" y="3035"/>
                  </a:lnTo>
                  <a:close/>
                </a:path>
                <a:path w="6617334" h="17144">
                  <a:moveTo>
                    <a:pt x="6616954" y="0"/>
                  </a:moveTo>
                  <a:lnTo>
                    <a:pt x="6613906" y="0"/>
                  </a:lnTo>
                  <a:lnTo>
                    <a:pt x="6613906" y="3035"/>
                  </a:lnTo>
                  <a:lnTo>
                    <a:pt x="6616954" y="3035"/>
                  </a:lnTo>
                  <a:lnTo>
                    <a:pt x="6616954" y="0"/>
                  </a:lnTo>
                  <a:close/>
                </a:path>
              </a:pathLst>
            </a:custGeom>
            <a:solidFill>
              <a:srgbClr val="9F9F9F"/>
            </a:solidFill>
          </p:spPr>
          <p:txBody>
            <a:bodyPr wrap="square" lIns="0" tIns="0" rIns="0" bIns="0" rtlCol="0"/>
            <a:lstStyle/>
            <a:p>
              <a:endParaRPr/>
            </a:p>
          </p:txBody>
        </p:sp>
        <p:sp>
          <p:nvSpPr>
            <p:cNvPr id="6" name="object 6"/>
            <p:cNvSpPr/>
            <p:nvPr/>
          </p:nvSpPr>
          <p:spPr>
            <a:xfrm>
              <a:off x="7154926" y="2406649"/>
              <a:ext cx="3175" cy="13970"/>
            </a:xfrm>
            <a:custGeom>
              <a:avLst/>
              <a:gdLst/>
              <a:ahLst/>
              <a:cxnLst/>
              <a:rect l="l" t="t" r="r" b="b"/>
              <a:pathLst>
                <a:path w="3175" h="13969">
                  <a:moveTo>
                    <a:pt x="3048" y="0"/>
                  </a:moveTo>
                  <a:lnTo>
                    <a:pt x="0" y="0"/>
                  </a:lnTo>
                  <a:lnTo>
                    <a:pt x="0" y="13716"/>
                  </a:lnTo>
                  <a:lnTo>
                    <a:pt x="3048" y="13716"/>
                  </a:lnTo>
                  <a:lnTo>
                    <a:pt x="3048" y="0"/>
                  </a:lnTo>
                  <a:close/>
                </a:path>
              </a:pathLst>
            </a:custGeom>
            <a:solidFill>
              <a:srgbClr val="E2E2E2"/>
            </a:solidFill>
          </p:spPr>
          <p:txBody>
            <a:bodyPr wrap="square" lIns="0" tIns="0" rIns="0" bIns="0" rtlCol="0"/>
            <a:lstStyle/>
            <a:p>
              <a:endParaRPr/>
            </a:p>
          </p:txBody>
        </p:sp>
        <p:sp>
          <p:nvSpPr>
            <p:cNvPr id="7" name="object 7"/>
            <p:cNvSpPr/>
            <p:nvPr/>
          </p:nvSpPr>
          <p:spPr>
            <a:xfrm>
              <a:off x="541019" y="2420365"/>
              <a:ext cx="3175" cy="3175"/>
            </a:xfrm>
            <a:custGeom>
              <a:avLst/>
              <a:gdLst/>
              <a:ahLst/>
              <a:cxnLst/>
              <a:rect l="l" t="t" r="r" b="b"/>
              <a:pathLst>
                <a:path w="3175" h="3175">
                  <a:moveTo>
                    <a:pt x="3048" y="0"/>
                  </a:moveTo>
                  <a:lnTo>
                    <a:pt x="0" y="0"/>
                  </a:lnTo>
                  <a:lnTo>
                    <a:pt x="0" y="3048"/>
                  </a:lnTo>
                  <a:lnTo>
                    <a:pt x="3048" y="3048"/>
                  </a:lnTo>
                  <a:lnTo>
                    <a:pt x="3048" y="0"/>
                  </a:lnTo>
                  <a:close/>
                </a:path>
              </a:pathLst>
            </a:custGeom>
            <a:solidFill>
              <a:srgbClr val="9F9F9F"/>
            </a:solidFill>
          </p:spPr>
          <p:txBody>
            <a:bodyPr wrap="square" lIns="0" tIns="0" rIns="0" bIns="0" rtlCol="0"/>
            <a:lstStyle/>
            <a:p>
              <a:endParaRPr/>
            </a:p>
          </p:txBody>
        </p:sp>
        <p:sp>
          <p:nvSpPr>
            <p:cNvPr id="8" name="object 8"/>
            <p:cNvSpPr/>
            <p:nvPr/>
          </p:nvSpPr>
          <p:spPr>
            <a:xfrm>
              <a:off x="541020" y="2420365"/>
              <a:ext cx="6617334" cy="3175"/>
            </a:xfrm>
            <a:custGeom>
              <a:avLst/>
              <a:gdLst/>
              <a:ahLst/>
              <a:cxnLst/>
              <a:rect l="l" t="t" r="r" b="b"/>
              <a:pathLst>
                <a:path w="6617334" h="3175">
                  <a:moveTo>
                    <a:pt x="6616954" y="0"/>
                  </a:moveTo>
                  <a:lnTo>
                    <a:pt x="6613906" y="0"/>
                  </a:lnTo>
                  <a:lnTo>
                    <a:pt x="3048" y="0"/>
                  </a:lnTo>
                  <a:lnTo>
                    <a:pt x="0" y="0"/>
                  </a:lnTo>
                  <a:lnTo>
                    <a:pt x="0" y="3048"/>
                  </a:lnTo>
                  <a:lnTo>
                    <a:pt x="3048" y="3048"/>
                  </a:lnTo>
                  <a:lnTo>
                    <a:pt x="6613906" y="3048"/>
                  </a:lnTo>
                  <a:lnTo>
                    <a:pt x="6616954" y="3048"/>
                  </a:lnTo>
                  <a:lnTo>
                    <a:pt x="6616954" y="0"/>
                  </a:lnTo>
                  <a:close/>
                </a:path>
              </a:pathLst>
            </a:custGeom>
            <a:solidFill>
              <a:srgbClr val="E2E2E2"/>
            </a:solidFill>
          </p:spPr>
          <p:txBody>
            <a:bodyPr wrap="square" lIns="0" tIns="0" rIns="0" bIns="0" rtlCol="0"/>
            <a:lstStyle/>
            <a:p>
              <a:endParaRPr/>
            </a:p>
          </p:txBody>
        </p:sp>
      </p:grpSp>
      <p:sp>
        <p:nvSpPr>
          <p:cNvPr id="9" name="object 9"/>
          <p:cNvSpPr txBox="1"/>
          <p:nvPr/>
        </p:nvSpPr>
        <p:spPr>
          <a:xfrm>
            <a:off x="528319" y="261509"/>
            <a:ext cx="6647180" cy="8608126"/>
          </a:xfrm>
          <a:prstGeom prst="rect">
            <a:avLst/>
          </a:prstGeom>
        </p:spPr>
        <p:txBody>
          <a:bodyPr vert="horz" wrap="square" lIns="0" tIns="122555" rIns="0" bIns="0" rtlCol="0">
            <a:spAutoFit/>
          </a:bodyPr>
          <a:lstStyle/>
          <a:p>
            <a:pPr marL="12700" algn="just">
              <a:lnSpc>
                <a:spcPct val="100000"/>
              </a:lnSpc>
              <a:spcBef>
                <a:spcPts val="965"/>
              </a:spcBef>
            </a:pPr>
            <a:r>
              <a:rPr sz="1400" b="1" dirty="0">
                <a:latin typeface="Times New Roman"/>
                <a:cs typeface="Times New Roman"/>
              </a:rPr>
              <a:t>1.4</a:t>
            </a:r>
            <a:r>
              <a:rPr sz="1400" b="1" spc="-10" dirty="0">
                <a:latin typeface="Times New Roman"/>
                <a:cs typeface="Times New Roman"/>
              </a:rPr>
              <a:t> </a:t>
            </a:r>
            <a:r>
              <a:rPr sz="1400" b="1" dirty="0">
                <a:latin typeface="Times New Roman"/>
                <a:cs typeface="Times New Roman"/>
              </a:rPr>
              <a:t>Aim</a:t>
            </a:r>
            <a:r>
              <a:rPr sz="1400" b="1" spc="-25" dirty="0">
                <a:latin typeface="Times New Roman"/>
                <a:cs typeface="Times New Roman"/>
              </a:rPr>
              <a:t> </a:t>
            </a:r>
            <a:r>
              <a:rPr sz="1400" b="1" dirty="0">
                <a:latin typeface="Times New Roman"/>
                <a:cs typeface="Times New Roman"/>
              </a:rPr>
              <a:t>of the</a:t>
            </a:r>
            <a:r>
              <a:rPr sz="1400" b="1" spc="-20" dirty="0">
                <a:latin typeface="Times New Roman"/>
                <a:cs typeface="Times New Roman"/>
              </a:rPr>
              <a:t> </a:t>
            </a:r>
            <a:r>
              <a:rPr sz="1400" b="1" spc="-10" dirty="0">
                <a:latin typeface="Times New Roman"/>
                <a:cs typeface="Times New Roman"/>
              </a:rPr>
              <a:t>Project</a:t>
            </a:r>
            <a:endParaRPr sz="1400" dirty="0">
              <a:latin typeface="Times New Roman"/>
              <a:cs typeface="Times New Roman"/>
            </a:endParaRPr>
          </a:p>
          <a:p>
            <a:pPr>
              <a:lnSpc>
                <a:spcPct val="100000"/>
              </a:lnSpc>
              <a:spcBef>
                <a:spcPts val="1310"/>
              </a:spcBef>
            </a:pPr>
            <a:r>
              <a:rPr lang="en-US" sz="1200" dirty="0" smtClean="0">
                <a:latin typeface="Times New Roman" pitchFamily="18" charset="0"/>
                <a:cs typeface="Times New Roman" pitchFamily="18" charset="0"/>
              </a:rPr>
              <a:t>The primary aim of the </a:t>
            </a:r>
            <a:r>
              <a:rPr lang="en-US" sz="1200" b="1" dirty="0" smtClean="0">
                <a:latin typeface="Times New Roman" pitchFamily="18" charset="0"/>
                <a:cs typeface="Times New Roman" pitchFamily="18" charset="0"/>
              </a:rPr>
              <a:t>Fitness Freak – A Gym Website</a:t>
            </a:r>
            <a:r>
              <a:rPr lang="en-US" sz="1200" dirty="0" smtClean="0">
                <a:latin typeface="Times New Roman" pitchFamily="18" charset="0"/>
                <a:cs typeface="Times New Roman" pitchFamily="18" charset="0"/>
              </a:rPr>
              <a:t> is to develop an interactive, multi-functional website that integrates gym subscription management, product browsing, user interaction, and secure data handling into one complete platform. The project aspires to deliver a seamless experience that merges essential fitness services with easy accessibility while also serving as a learning platform for full-stack web development.</a:t>
            </a:r>
          </a:p>
          <a:p>
            <a:pPr>
              <a:lnSpc>
                <a:spcPct val="100000"/>
              </a:lnSpc>
              <a:spcBef>
                <a:spcPts val="1310"/>
              </a:spcBef>
            </a:pPr>
            <a:endParaRPr lang="en-US" sz="1200" dirty="0" smtClean="0">
              <a:latin typeface="Times New Roman" pitchFamily="18" charset="0"/>
              <a:cs typeface="Times New Roman" pitchFamily="18" charset="0"/>
            </a:endParaRPr>
          </a:p>
          <a:p>
            <a:pPr>
              <a:lnSpc>
                <a:spcPct val="100000"/>
              </a:lnSpc>
              <a:spcBef>
                <a:spcPts val="1310"/>
              </a:spcBef>
            </a:pPr>
            <a:endParaRPr lang="en-US" sz="1200" dirty="0">
              <a:latin typeface="Times New Roman"/>
              <a:cs typeface="Times New Roman"/>
            </a:endParaRPr>
          </a:p>
          <a:p>
            <a:pPr>
              <a:lnSpc>
                <a:spcPct val="100000"/>
              </a:lnSpc>
              <a:spcBef>
                <a:spcPts val="1310"/>
              </a:spcBef>
            </a:pPr>
            <a:endParaRPr sz="1200" dirty="0">
              <a:latin typeface="Times New Roman"/>
              <a:cs typeface="Times New Roman"/>
            </a:endParaRPr>
          </a:p>
          <a:p>
            <a:pPr marL="12700">
              <a:lnSpc>
                <a:spcPct val="100000"/>
              </a:lnSpc>
            </a:pPr>
            <a:r>
              <a:rPr sz="1400" b="1" dirty="0">
                <a:latin typeface="Times New Roman"/>
                <a:cs typeface="Times New Roman"/>
              </a:rPr>
              <a:t>Objectives</a:t>
            </a:r>
            <a:r>
              <a:rPr sz="1400" b="1" spc="-25" dirty="0">
                <a:latin typeface="Times New Roman"/>
                <a:cs typeface="Times New Roman"/>
              </a:rPr>
              <a:t> </a:t>
            </a:r>
            <a:r>
              <a:rPr sz="1400" b="1" dirty="0">
                <a:latin typeface="Times New Roman"/>
                <a:cs typeface="Times New Roman"/>
              </a:rPr>
              <a:t>of</a:t>
            </a:r>
            <a:r>
              <a:rPr sz="1400" b="1" spc="-10" dirty="0">
                <a:latin typeface="Times New Roman"/>
                <a:cs typeface="Times New Roman"/>
              </a:rPr>
              <a:t> </a:t>
            </a:r>
            <a:r>
              <a:rPr sz="1400" b="1" dirty="0">
                <a:latin typeface="Times New Roman"/>
                <a:cs typeface="Times New Roman"/>
              </a:rPr>
              <a:t>the</a:t>
            </a:r>
            <a:r>
              <a:rPr sz="1400" b="1" spc="-30" dirty="0">
                <a:latin typeface="Times New Roman"/>
                <a:cs typeface="Times New Roman"/>
              </a:rPr>
              <a:t> </a:t>
            </a:r>
            <a:r>
              <a:rPr sz="1400" b="1" spc="-10" dirty="0">
                <a:latin typeface="Times New Roman"/>
                <a:cs typeface="Times New Roman"/>
              </a:rPr>
              <a:t>Project</a:t>
            </a:r>
            <a:endParaRPr sz="1400" dirty="0">
              <a:latin typeface="Times New Roman"/>
              <a:cs typeface="Times New Roman"/>
            </a:endParaRPr>
          </a:p>
          <a:p>
            <a:pPr marL="171450" indent="-171450">
              <a:buFont typeface="Wingdings" pitchFamily="2" charset="2"/>
              <a:buChar char="v"/>
            </a:pPr>
            <a:r>
              <a:rPr lang="en-US" sz="1200" b="1" dirty="0" smtClean="0">
                <a:latin typeface="Times New Roman" pitchFamily="18" charset="0"/>
                <a:cs typeface="Times New Roman" pitchFamily="18" charset="0"/>
              </a:rPr>
              <a:t>User Registration and Login: </a:t>
            </a:r>
          </a:p>
          <a:p>
            <a:endParaRPr lang="en-US" sz="1200" b="1"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  Implement secure user authentication using PHP and MySQL.</a:t>
            </a:r>
          </a:p>
          <a:p>
            <a:pPr marL="171450" indent="-171450">
              <a:buFont typeface="Arial" pitchFamily="34" charset="0"/>
              <a:buChar char="•"/>
            </a:pPr>
            <a:r>
              <a:rPr lang="en-US" sz="1200" dirty="0" smtClean="0">
                <a:latin typeface="Times New Roman" pitchFamily="18" charset="0"/>
                <a:cs typeface="Times New Roman" pitchFamily="18" charset="0"/>
              </a:rPr>
              <a:t>  Allow users to create accounts and securely log in for personalized subscriptions.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Subscription Management:</a:t>
            </a:r>
          </a:p>
          <a:p>
            <a:pPr marL="171450" indent="-171450">
              <a:buFont typeface="Arial" pitchFamily="34" charset="0"/>
              <a:buChar char="•"/>
            </a:pPr>
            <a:r>
              <a:rPr lang="en-US" sz="1200" dirty="0" smtClean="0">
                <a:latin typeface="Times New Roman" pitchFamily="18" charset="0"/>
                <a:cs typeface="Times New Roman" pitchFamily="18" charset="0"/>
              </a:rPr>
              <a:t>Enable users to subscribe to available fitness plans.</a:t>
            </a:r>
          </a:p>
          <a:p>
            <a:pPr marL="171450" indent="-171450">
              <a:buFont typeface="Arial" pitchFamily="34" charset="0"/>
              <a:buChar char="•"/>
            </a:pPr>
            <a:r>
              <a:rPr lang="en-US" sz="1200" dirty="0" smtClean="0">
                <a:latin typeface="Times New Roman" pitchFamily="18" charset="0"/>
                <a:cs typeface="Times New Roman" pitchFamily="18" charset="0"/>
              </a:rPr>
              <a:t>Record and store subscription data in MySQL database.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Product Store:</a:t>
            </a:r>
          </a:p>
          <a:p>
            <a:pPr marL="171450" indent="-171450">
              <a:buFont typeface="Arial" pitchFamily="34" charset="0"/>
              <a:buChar char="•"/>
            </a:pPr>
            <a:r>
              <a:rPr lang="en-US" sz="1200" dirty="0" smtClean="0">
                <a:latin typeface="Times New Roman" pitchFamily="18" charset="0"/>
                <a:cs typeface="Times New Roman" pitchFamily="18" charset="0"/>
              </a:rPr>
              <a:t>Display gym-related products for users to explore.</a:t>
            </a:r>
          </a:p>
          <a:p>
            <a:pPr marL="171450" indent="-171450">
              <a:buFont typeface="Arial" pitchFamily="34" charset="0"/>
              <a:buChar char="•"/>
            </a:pPr>
            <a:r>
              <a:rPr lang="en-US" sz="1200" dirty="0" smtClean="0">
                <a:latin typeface="Times New Roman" pitchFamily="18" charset="0"/>
                <a:cs typeface="Times New Roman" pitchFamily="18" charset="0"/>
              </a:rPr>
              <a:t>Categorize and manage product information for easy browsing.</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Contact and Feedback:</a:t>
            </a:r>
          </a:p>
          <a:p>
            <a:pPr marL="171450" indent="-171450">
              <a:buFont typeface="Arial" pitchFamily="34" charset="0"/>
              <a:buChar char="•"/>
            </a:pPr>
            <a:r>
              <a:rPr lang="en-US" sz="1200" dirty="0" smtClean="0">
                <a:latin typeface="Times New Roman" pitchFamily="18" charset="0"/>
                <a:cs typeface="Times New Roman" pitchFamily="18" charset="0"/>
              </a:rPr>
              <a:t>Allow users to submit feedback, suggestions, and inquiries via contact form.</a:t>
            </a:r>
          </a:p>
          <a:p>
            <a:pPr marL="171450" indent="-171450">
              <a:buFont typeface="Arial" pitchFamily="34" charset="0"/>
              <a:buChar char="•"/>
            </a:pPr>
            <a:r>
              <a:rPr lang="en-US" sz="1200" dirty="0" smtClean="0">
                <a:latin typeface="Times New Roman" pitchFamily="18" charset="0"/>
                <a:cs typeface="Times New Roman" pitchFamily="18" charset="0"/>
              </a:rPr>
              <a:t>Securely store contact submissions for administrative review.</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Dynamic User Interface (UI):</a:t>
            </a:r>
          </a:p>
          <a:p>
            <a:pPr marL="171450" indent="-171450">
              <a:buFont typeface="Arial" pitchFamily="34" charset="0"/>
              <a:buChar char="•"/>
            </a:pPr>
            <a:r>
              <a:rPr lang="en-US" sz="1200" dirty="0" smtClean="0">
                <a:latin typeface="Times New Roman" pitchFamily="18" charset="0"/>
                <a:cs typeface="Times New Roman" pitchFamily="18" charset="0"/>
              </a:rPr>
              <a:t>Design responsive and visually appealing web pages using HTML, CSS, and JavaScript.</a:t>
            </a:r>
          </a:p>
          <a:p>
            <a:pPr marL="171450" indent="-171450">
              <a:buFont typeface="Arial" pitchFamily="34" charset="0"/>
              <a:buChar char="•"/>
            </a:pPr>
            <a:r>
              <a:rPr lang="en-US" sz="1200" dirty="0" smtClean="0">
                <a:latin typeface="Times New Roman" pitchFamily="18" charset="0"/>
                <a:cs typeface="Times New Roman" pitchFamily="18" charset="0"/>
              </a:rPr>
              <a:t>Integrate interactive features such as hover effects, responsive layouts, and dynamic transitions.</a:t>
            </a:r>
          </a:p>
          <a:p>
            <a:pPr marL="171450" indent="-171450">
              <a:buFont typeface="Arial" pitchFamily="34" charset="0"/>
              <a:buChar char="•"/>
            </a:pPr>
            <a:r>
              <a:rPr lang="en-US" sz="1200" dirty="0" smtClean="0">
                <a:latin typeface="Times New Roman" pitchFamily="18" charset="0"/>
                <a:cs typeface="Times New Roman" pitchFamily="18" charset="0"/>
              </a:rPr>
              <a:t>Ensure compatibility across devices (desktops, tablets, smartphones).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Backend Processing:</a:t>
            </a:r>
          </a:p>
          <a:p>
            <a:pPr marL="171450" indent="-171450">
              <a:buFont typeface="Arial" pitchFamily="34" charset="0"/>
              <a:buChar char="•"/>
            </a:pPr>
            <a:r>
              <a:rPr lang="en-US" sz="1200" dirty="0" smtClean="0">
                <a:latin typeface="Times New Roman" pitchFamily="18" charset="0"/>
                <a:cs typeface="Times New Roman" pitchFamily="18" charset="0"/>
              </a:rPr>
              <a:t>Handle form submissions, user data storage, and subscription processing through PHP scripts.</a:t>
            </a:r>
          </a:p>
          <a:p>
            <a:pPr marL="171450" indent="-171450">
              <a:buFont typeface="Arial" pitchFamily="34" charset="0"/>
              <a:buChar char="•"/>
            </a:pPr>
            <a:r>
              <a:rPr lang="en-US" sz="1200" dirty="0" smtClean="0">
                <a:latin typeface="Times New Roman" pitchFamily="18" charset="0"/>
                <a:cs typeface="Times New Roman" pitchFamily="18" charset="0"/>
              </a:rPr>
              <a:t>Manage database operations using MySQL queries for data insertion, retrieval, and updating.</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Learning and Skill Development:</a:t>
            </a:r>
          </a:p>
          <a:p>
            <a:pPr marL="171450" indent="-171450">
              <a:buFont typeface="Arial" pitchFamily="34" charset="0"/>
              <a:buChar char="•"/>
            </a:pPr>
            <a:r>
              <a:rPr lang="en-US" sz="1200" dirty="0" smtClean="0">
                <a:latin typeface="Times New Roman" pitchFamily="18" charset="0"/>
                <a:cs typeface="Times New Roman" pitchFamily="18" charset="0"/>
              </a:rPr>
              <a:t>Strengthen full-stack development skills using web technologies.</a:t>
            </a:r>
          </a:p>
          <a:p>
            <a:pPr marL="171450" indent="-171450">
              <a:buFont typeface="Arial" pitchFamily="34" charset="0"/>
              <a:buChar char="•"/>
            </a:pPr>
            <a:r>
              <a:rPr lang="en-US" sz="1200" dirty="0" smtClean="0">
                <a:latin typeface="Times New Roman" pitchFamily="18" charset="0"/>
                <a:cs typeface="Times New Roman" pitchFamily="18" charset="0"/>
              </a:rPr>
              <a:t>Practice secure form handling and backend integration.</a:t>
            </a:r>
          </a:p>
          <a:p>
            <a:pPr marL="171450" indent="-171450">
              <a:buFont typeface="Arial" pitchFamily="34" charset="0"/>
              <a:buChar char="•"/>
            </a:pPr>
            <a:r>
              <a:rPr lang="en-US" sz="1200" dirty="0" smtClean="0">
                <a:latin typeface="Times New Roman" pitchFamily="18" charset="0"/>
                <a:cs typeface="Times New Roman" pitchFamily="18" charset="0"/>
              </a:rPr>
              <a:t>Manage real-world project workflows, timelines, and collaborative development.</a:t>
            </a:r>
          </a:p>
          <a:p>
            <a:pPr marL="171450" indent="-171450">
              <a:buFont typeface="Arial" pitchFamily="34" charset="0"/>
              <a:buChar char="•"/>
            </a:pPr>
            <a:r>
              <a:rPr lang="en-US" sz="1200" dirty="0" smtClean="0">
                <a:latin typeface="Times New Roman" pitchFamily="18" charset="0"/>
                <a:cs typeface="Times New Roman" pitchFamily="18" charset="0"/>
              </a:rPr>
              <a:t>Develop logical thinking, problem-solving, and debugging skills.</a:t>
            </a:r>
          </a:p>
          <a:p>
            <a:endParaRPr lang="en-US" sz="1200" dirty="0" smtClean="0">
              <a:latin typeface="Times New Roman" pitchFamily="18" charset="0"/>
              <a:cs typeface="Times New Roman" pitchFamily="18" charset="0"/>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12</a:t>
            </a:fld>
            <a:r>
              <a:rPr spc="-2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13</a:t>
            </a:fld>
            <a:r>
              <a:rPr spc="-20" dirty="0"/>
              <a:t>]</a:t>
            </a:r>
          </a:p>
        </p:txBody>
      </p:sp>
      <p:sp>
        <p:nvSpPr>
          <p:cNvPr id="2" name="object 2"/>
          <p:cNvSpPr txBox="1"/>
          <p:nvPr/>
        </p:nvSpPr>
        <p:spPr>
          <a:xfrm>
            <a:off x="528319" y="293623"/>
            <a:ext cx="6648450" cy="10997883"/>
          </a:xfrm>
          <a:prstGeom prst="rect">
            <a:avLst/>
          </a:prstGeom>
        </p:spPr>
        <p:txBody>
          <a:bodyPr vert="horz" wrap="square" lIns="0" tIns="12700" rIns="0" bIns="0" rtlCol="0">
            <a:spAutoFit/>
          </a:bodyPr>
          <a:lstStyle/>
          <a:p>
            <a:pPr marL="171450" indent="-171450">
              <a:buFont typeface="Wingdings" pitchFamily="2" charset="2"/>
              <a:buChar char="v"/>
            </a:pPr>
            <a:r>
              <a:rPr lang="en-US" sz="1200" b="1" dirty="0" smtClean="0">
                <a:latin typeface="Times New Roman" pitchFamily="18" charset="0"/>
                <a:cs typeface="Times New Roman" pitchFamily="18" charset="0"/>
              </a:rPr>
              <a:t>Future Scalability:</a:t>
            </a:r>
          </a:p>
          <a:p>
            <a:pPr marL="171450" indent="-171450">
              <a:buFont typeface="Arial" pitchFamily="34" charset="0"/>
              <a:buChar char="•"/>
            </a:pPr>
            <a:r>
              <a:rPr lang="en-US" sz="1200" dirty="0" smtClean="0">
                <a:latin typeface="Times New Roman" pitchFamily="18" charset="0"/>
                <a:cs typeface="Times New Roman" pitchFamily="18" charset="0"/>
              </a:rPr>
              <a:t>Build a scalable architecture that can accommodate:</a:t>
            </a:r>
          </a:p>
          <a:p>
            <a:pPr marL="171450" lvl="1" indent="-171450">
              <a:buFont typeface="Arial" pitchFamily="34" charset="0"/>
              <a:buChar char="•"/>
            </a:pPr>
            <a:r>
              <a:rPr lang="en-US" sz="1200" dirty="0" smtClean="0">
                <a:latin typeface="Times New Roman" pitchFamily="18" charset="0"/>
                <a:cs typeface="Times New Roman" pitchFamily="18" charset="0"/>
              </a:rPr>
              <a:t>Online payment integration.</a:t>
            </a:r>
          </a:p>
          <a:p>
            <a:pPr marL="171450" lvl="1" indent="-171450">
              <a:buFont typeface="Arial" pitchFamily="34" charset="0"/>
              <a:buChar char="•"/>
            </a:pPr>
            <a:r>
              <a:rPr lang="en-US" sz="1200" dirty="0" smtClean="0">
                <a:latin typeface="Times New Roman" pitchFamily="18" charset="0"/>
                <a:cs typeface="Times New Roman" pitchFamily="18" charset="0"/>
              </a:rPr>
              <a:t>Personalized dashboards.</a:t>
            </a:r>
          </a:p>
          <a:p>
            <a:pPr marL="171450" lvl="1" indent="-171450">
              <a:buFont typeface="Arial" pitchFamily="34" charset="0"/>
              <a:buChar char="•"/>
            </a:pPr>
            <a:r>
              <a:rPr lang="en-US" sz="1200" dirty="0" smtClean="0">
                <a:latin typeface="Times New Roman" pitchFamily="18" charset="0"/>
                <a:cs typeface="Times New Roman" pitchFamily="18" charset="0"/>
              </a:rPr>
              <a:t>Admin control panels for product and user management.</a:t>
            </a:r>
          </a:p>
          <a:p>
            <a:pPr marL="171450" lvl="1" indent="-171450">
              <a:buFont typeface="Arial" pitchFamily="34" charset="0"/>
              <a:buChar char="•"/>
            </a:pPr>
            <a:r>
              <a:rPr lang="en-US" sz="1200" dirty="0" smtClean="0">
                <a:latin typeface="Times New Roman" pitchFamily="18" charset="0"/>
                <a:cs typeface="Times New Roman" pitchFamily="18" charset="0"/>
              </a:rPr>
              <a:t>Mobile app expansion and cloud deployment for greater accessibility.</a:t>
            </a:r>
          </a:p>
          <a:p>
            <a:pPr lvl="1">
              <a:lnSpc>
                <a:spcPct val="100000"/>
              </a:lnSpc>
              <a:spcBef>
                <a:spcPts val="1320"/>
              </a:spcBef>
              <a:buFont typeface="Symbol"/>
              <a:buChar char=""/>
            </a:pPr>
            <a:endParaRPr sz="1200" dirty="0">
              <a:latin typeface="Times New Roman"/>
              <a:cs typeface="Times New Roman"/>
            </a:endParaRPr>
          </a:p>
          <a:p>
            <a:pPr marL="12700">
              <a:lnSpc>
                <a:spcPct val="100000"/>
              </a:lnSpc>
            </a:pPr>
            <a:r>
              <a:rPr sz="1200" b="1" dirty="0">
                <a:latin typeface="Times New Roman"/>
                <a:cs typeface="Times New Roman"/>
              </a:rPr>
              <a:t>Key</a:t>
            </a:r>
            <a:r>
              <a:rPr sz="1200" b="1" spc="-25" dirty="0">
                <a:latin typeface="Times New Roman"/>
                <a:cs typeface="Times New Roman"/>
              </a:rPr>
              <a:t> </a:t>
            </a:r>
            <a:r>
              <a:rPr sz="1200" b="1" spc="-10" dirty="0">
                <a:latin typeface="Times New Roman"/>
                <a:cs typeface="Times New Roman"/>
              </a:rPr>
              <a:t>Deliverables</a:t>
            </a:r>
            <a:endParaRPr sz="1200" dirty="0">
              <a:latin typeface="Times New Roman"/>
              <a:cs typeface="Times New Roman"/>
            </a:endParaRPr>
          </a:p>
          <a:p>
            <a:pPr marL="285750" indent="-285750">
              <a:buFont typeface="Arial" pitchFamily="34" charset="0"/>
              <a:buChar char="•"/>
            </a:pPr>
            <a:r>
              <a:rPr lang="en-US" sz="1200" dirty="0" smtClean="0"/>
              <a:t>A fully functional gym website integrating subscription management, user authentication, product browsing, and contact submission.</a:t>
            </a:r>
          </a:p>
          <a:p>
            <a:pPr marL="285750" indent="-285750">
              <a:buFont typeface="Arial" pitchFamily="34" charset="0"/>
              <a:buChar char="•"/>
            </a:pPr>
            <a:r>
              <a:rPr lang="en-US" sz="1200" dirty="0" smtClean="0"/>
              <a:t>Dynamic and visually engaging frontend interface.</a:t>
            </a:r>
          </a:p>
          <a:p>
            <a:pPr marL="285750" indent="-285750">
              <a:buFont typeface="Arial" pitchFamily="34" charset="0"/>
              <a:buChar char="•"/>
            </a:pPr>
            <a:r>
              <a:rPr lang="en-US" sz="1200" dirty="0" smtClean="0"/>
              <a:t>Full backend integration with PHP and MySQL.</a:t>
            </a:r>
          </a:p>
          <a:p>
            <a:pPr marL="285750" indent="-285750">
              <a:buFont typeface="Arial" pitchFamily="34" charset="0"/>
              <a:buChar char="•"/>
            </a:pPr>
            <a:r>
              <a:rPr lang="en-US" sz="1200" dirty="0" smtClean="0"/>
              <a:t>Modular, scalable codebase for future feature expansion.</a:t>
            </a:r>
          </a:p>
          <a:p>
            <a:pPr marL="285750" indent="-285750">
              <a:buFont typeface="Arial" pitchFamily="34" charset="0"/>
              <a:buChar char="•"/>
            </a:pPr>
            <a:endParaRPr lang="en-US" sz="1200" dirty="0"/>
          </a:p>
          <a:p>
            <a:r>
              <a:rPr lang="en-US" sz="1400" b="1" spc="-10" dirty="0" smtClean="0">
                <a:latin typeface="Times New Roman"/>
                <a:cs typeface="Times New Roman"/>
              </a:rPr>
              <a:t>Characteristics</a:t>
            </a:r>
            <a:r>
              <a:rPr lang="en-US" sz="1400" b="1" spc="-5" dirty="0" smtClean="0">
                <a:latin typeface="Times New Roman"/>
                <a:cs typeface="Times New Roman"/>
              </a:rPr>
              <a:t> </a:t>
            </a:r>
            <a:r>
              <a:rPr lang="en-US" sz="1400" b="1" dirty="0" smtClean="0">
                <a:latin typeface="Times New Roman"/>
                <a:cs typeface="Times New Roman"/>
              </a:rPr>
              <a:t>of</a:t>
            </a:r>
            <a:r>
              <a:rPr lang="en-US" sz="1400" b="1" spc="-5" dirty="0" smtClean="0">
                <a:latin typeface="Times New Roman"/>
                <a:cs typeface="Times New Roman"/>
              </a:rPr>
              <a:t> </a:t>
            </a:r>
            <a:r>
              <a:rPr lang="en-US" sz="1400" b="1" dirty="0" smtClean="0">
                <a:latin typeface="Times New Roman"/>
                <a:cs typeface="Times New Roman"/>
              </a:rPr>
              <a:t>the </a:t>
            </a:r>
            <a:r>
              <a:rPr lang="en-US" sz="1400" b="1" dirty="0" smtClean="0">
                <a:latin typeface="Times New Roman" pitchFamily="18" charset="0"/>
                <a:cs typeface="Times New Roman" pitchFamily="18" charset="0"/>
              </a:rPr>
              <a:t>Fitness Freak – A Gym Website</a:t>
            </a:r>
          </a:p>
          <a:p>
            <a:pPr marL="171450" indent="-171450">
              <a:buFont typeface="Wingdings" pitchFamily="2" charset="2"/>
              <a:buChar char="v"/>
            </a:pPr>
            <a:r>
              <a:rPr lang="en-US" sz="1200" b="1" dirty="0" smtClean="0">
                <a:latin typeface="Times New Roman" pitchFamily="18" charset="0"/>
                <a:cs typeface="Times New Roman" pitchFamily="18" charset="0"/>
              </a:rPr>
              <a:t>User-Centric Design:</a:t>
            </a:r>
          </a:p>
          <a:p>
            <a:pPr marL="171450" indent="-171450">
              <a:buFont typeface="Arial" pitchFamily="34" charset="0"/>
              <a:buChar char="•"/>
            </a:pPr>
            <a:r>
              <a:rPr lang="en-US" sz="1200" dirty="0" smtClean="0">
                <a:latin typeface="Times New Roman" pitchFamily="18" charset="0"/>
                <a:cs typeface="Times New Roman" pitchFamily="18" charset="0"/>
              </a:rPr>
              <a:t>Focused on providing an intuitive, simple, and visually clean user interface.</a:t>
            </a:r>
          </a:p>
          <a:p>
            <a:pPr marL="171450" indent="-171450">
              <a:buFont typeface="Arial" pitchFamily="34" charset="0"/>
              <a:buChar char="•"/>
            </a:pPr>
            <a:r>
              <a:rPr lang="en-US" sz="1200" dirty="0" smtClean="0">
                <a:latin typeface="Times New Roman" pitchFamily="18" charset="0"/>
                <a:cs typeface="Times New Roman" pitchFamily="18" charset="0"/>
              </a:rPr>
              <a:t>Delivers real-time subscription management and product browsing functionalities.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Dynamic Functionality:</a:t>
            </a:r>
          </a:p>
          <a:p>
            <a:pPr marL="171450" indent="-171450">
              <a:buFont typeface="Arial" pitchFamily="34" charset="0"/>
              <a:buChar char="•"/>
            </a:pPr>
            <a:r>
              <a:rPr lang="en-US" sz="1200" dirty="0" smtClean="0">
                <a:latin typeface="Times New Roman" pitchFamily="18" charset="0"/>
                <a:cs typeface="Times New Roman" pitchFamily="18" charset="0"/>
              </a:rPr>
              <a:t>Real-time data handling for user registration, login, subscriptions, and feedback.</a:t>
            </a:r>
          </a:p>
          <a:p>
            <a:pPr marL="171450" indent="-171450">
              <a:buFont typeface="Arial" pitchFamily="34" charset="0"/>
              <a:buChar char="•"/>
            </a:pPr>
            <a:r>
              <a:rPr lang="en-US" sz="1200" dirty="0" smtClean="0">
                <a:latin typeface="Times New Roman" pitchFamily="18" charset="0"/>
                <a:cs typeface="Times New Roman" pitchFamily="18" charset="0"/>
              </a:rPr>
              <a:t>Responsive layout adapting to various screen sizes and devices.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Seamless Backend Integration:</a:t>
            </a:r>
          </a:p>
          <a:p>
            <a:pPr marL="171450" indent="-171450">
              <a:buFont typeface="Arial" pitchFamily="34" charset="0"/>
              <a:buChar char="•"/>
            </a:pPr>
            <a:r>
              <a:rPr lang="en-US" sz="1200" dirty="0" smtClean="0">
                <a:latin typeface="Times New Roman" pitchFamily="18" charset="0"/>
                <a:cs typeface="Times New Roman" pitchFamily="18" charset="0"/>
              </a:rPr>
              <a:t>Smooth server-side processing using PHP.</a:t>
            </a:r>
          </a:p>
          <a:p>
            <a:pPr marL="171450" indent="-171450">
              <a:buFont typeface="Arial" pitchFamily="34" charset="0"/>
              <a:buChar char="•"/>
            </a:pPr>
            <a:r>
              <a:rPr lang="en-US" sz="1200" dirty="0" smtClean="0">
                <a:latin typeface="Times New Roman" pitchFamily="18" charset="0"/>
                <a:cs typeface="Times New Roman" pitchFamily="18" charset="0"/>
              </a:rPr>
              <a:t>Secure data storage and management through MySQL database.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Scalable and Modular:</a:t>
            </a:r>
          </a:p>
          <a:p>
            <a:pPr marL="171450" indent="-171450">
              <a:buFont typeface="Arial" pitchFamily="34" charset="0"/>
              <a:buChar char="•"/>
            </a:pPr>
            <a:r>
              <a:rPr lang="en-US" sz="1200" dirty="0" smtClean="0">
                <a:latin typeface="Times New Roman" pitchFamily="18" charset="0"/>
                <a:cs typeface="Times New Roman" pitchFamily="18" charset="0"/>
              </a:rPr>
              <a:t>Structured code allows for easy maintenance and future enhancements.</a:t>
            </a:r>
          </a:p>
          <a:p>
            <a:pPr marL="171450" indent="-171450">
              <a:buFont typeface="Arial" pitchFamily="34" charset="0"/>
              <a:buChar char="•"/>
            </a:pPr>
            <a:r>
              <a:rPr lang="en-US" sz="1200" dirty="0" smtClean="0">
                <a:latin typeface="Times New Roman" pitchFamily="18" charset="0"/>
                <a:cs typeface="Times New Roman" pitchFamily="18" charset="0"/>
              </a:rPr>
              <a:t>Prepared for future integrations like payments, AI recommendations, and admin dashboards.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Interactive and Engaging:</a:t>
            </a:r>
          </a:p>
          <a:p>
            <a:pPr marL="171450" indent="-171450">
              <a:buFont typeface="Arial" pitchFamily="34" charset="0"/>
              <a:buChar char="•"/>
            </a:pPr>
            <a:r>
              <a:rPr lang="en-US" sz="1200" dirty="0" smtClean="0">
                <a:latin typeface="Times New Roman" pitchFamily="18" charset="0"/>
                <a:cs typeface="Times New Roman" pitchFamily="18" charset="0"/>
              </a:rPr>
              <a:t>Encourages user interaction through easy navigation, subscriptions, and feedback forms.</a:t>
            </a:r>
          </a:p>
          <a:p>
            <a:pPr marL="171450" indent="-171450">
              <a:buFont typeface="Arial" pitchFamily="34" charset="0"/>
              <a:buChar char="•"/>
            </a:pPr>
            <a:r>
              <a:rPr lang="en-US" sz="1200" dirty="0" smtClean="0">
                <a:latin typeface="Times New Roman" pitchFamily="18" charset="0"/>
                <a:cs typeface="Times New Roman" pitchFamily="18" charset="0"/>
              </a:rPr>
              <a:t>Offers a modern and comfortable browsing experience.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Cross-Platform Compatibility:</a:t>
            </a:r>
          </a:p>
          <a:p>
            <a:pPr marL="171450" indent="-171450">
              <a:buFont typeface="Arial" pitchFamily="34" charset="0"/>
              <a:buChar char="•"/>
            </a:pPr>
            <a:r>
              <a:rPr lang="en-US" sz="1200" dirty="0" smtClean="0">
                <a:latin typeface="Times New Roman" pitchFamily="18" charset="0"/>
                <a:cs typeface="Times New Roman" pitchFamily="18" charset="0"/>
              </a:rPr>
              <a:t>Accessible through all modern browsers and devices.</a:t>
            </a:r>
          </a:p>
          <a:p>
            <a:pPr marL="171450" indent="-171450">
              <a:buFont typeface="Arial" pitchFamily="34" charset="0"/>
              <a:buChar char="•"/>
            </a:pPr>
            <a:r>
              <a:rPr lang="en-US" sz="1200" dirty="0" smtClean="0">
                <a:latin typeface="Times New Roman" pitchFamily="18" charset="0"/>
                <a:cs typeface="Times New Roman" pitchFamily="18" charset="0"/>
              </a:rPr>
              <a:t>Supports desktop and mobile platforms with responsive design.</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Educational Value:</a:t>
            </a:r>
          </a:p>
          <a:p>
            <a:pPr marL="171450" indent="-171450">
              <a:buFont typeface="Arial" pitchFamily="34" charset="0"/>
              <a:buChar char="•"/>
            </a:pPr>
            <a:r>
              <a:rPr lang="en-US" sz="1200" dirty="0" smtClean="0">
                <a:latin typeface="Times New Roman" pitchFamily="18" charset="0"/>
                <a:cs typeface="Times New Roman" pitchFamily="18" charset="0"/>
              </a:rPr>
              <a:t>Serves as a complete full-stack web development learning project.</a:t>
            </a:r>
          </a:p>
          <a:p>
            <a:pPr marL="171450" indent="-171450">
              <a:buFont typeface="Arial" pitchFamily="34" charset="0"/>
              <a:buChar char="•"/>
            </a:pPr>
            <a:r>
              <a:rPr lang="en-US" sz="1200" dirty="0" smtClean="0">
                <a:latin typeface="Times New Roman" pitchFamily="18" charset="0"/>
                <a:cs typeface="Times New Roman" pitchFamily="18" charset="0"/>
              </a:rPr>
              <a:t>Provides practical exposure to frontend, backend, and database technologies.</a:t>
            </a:r>
          </a:p>
          <a:p>
            <a:pPr marL="171450" indent="-171450">
              <a:buFont typeface="Arial" pitchFamily="34" charset="0"/>
              <a:buChar char="•"/>
            </a:pPr>
            <a:endParaRPr lang="en-US" sz="1200" dirty="0">
              <a:latin typeface="Times New Roman" pitchFamily="18" charset="0"/>
              <a:cs typeface="Times New Roman" pitchFamily="18" charset="0"/>
            </a:endParaRPr>
          </a:p>
          <a:p>
            <a:pPr marL="171450" indent="-171450">
              <a:buFont typeface="Arial" pitchFamily="34" charset="0"/>
              <a:buChar char="•"/>
            </a:pPr>
            <a:endParaRPr lang="en-US" sz="1200" dirty="0" smtClean="0">
              <a:latin typeface="Times New Roman" pitchFamily="18" charset="0"/>
              <a:cs typeface="Times New Roman" pitchFamily="18" charset="0"/>
            </a:endParaRPr>
          </a:p>
          <a:p>
            <a:r>
              <a:rPr lang="en-US" sz="1400" b="1" dirty="0" smtClean="0">
                <a:latin typeface="Times New Roman"/>
                <a:cs typeface="Times New Roman"/>
              </a:rPr>
              <a:t>Features</a:t>
            </a:r>
            <a:r>
              <a:rPr lang="en-US" sz="1400" b="1" spc="-20" dirty="0" smtClean="0">
                <a:latin typeface="Times New Roman"/>
                <a:cs typeface="Times New Roman"/>
              </a:rPr>
              <a:t> </a:t>
            </a:r>
            <a:r>
              <a:rPr lang="en-US" sz="1400" b="1" dirty="0" smtClean="0">
                <a:latin typeface="Times New Roman"/>
                <a:cs typeface="Times New Roman"/>
              </a:rPr>
              <a:t>of</a:t>
            </a:r>
            <a:r>
              <a:rPr lang="en-US" sz="1400" b="1" spc="-20" dirty="0" smtClean="0">
                <a:latin typeface="Times New Roman"/>
                <a:cs typeface="Times New Roman"/>
              </a:rPr>
              <a:t> </a:t>
            </a:r>
            <a:r>
              <a:rPr lang="en-US" sz="1400" b="1" dirty="0" smtClean="0">
                <a:latin typeface="Times New Roman"/>
                <a:cs typeface="Times New Roman"/>
              </a:rPr>
              <a:t>the </a:t>
            </a:r>
            <a:r>
              <a:rPr lang="en-US" sz="1400" b="1" dirty="0" smtClean="0">
                <a:latin typeface="Times New Roman" pitchFamily="18" charset="0"/>
                <a:cs typeface="Times New Roman" pitchFamily="18" charset="0"/>
              </a:rPr>
              <a:t>Fitness Freak – A Gym Website</a:t>
            </a:r>
          </a:p>
          <a:p>
            <a:endParaRPr lang="en-US" sz="1400" b="1"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User Registration &amp; Login</a:t>
            </a:r>
          </a:p>
          <a:p>
            <a:pPr marL="171450" indent="-171450">
              <a:buFont typeface="Arial" pitchFamily="34" charset="0"/>
              <a:buChar char="•"/>
            </a:pPr>
            <a:r>
              <a:rPr lang="en-US" sz="1200" dirty="0" smtClean="0">
                <a:latin typeface="Times New Roman" pitchFamily="18" charset="0"/>
                <a:cs typeface="Times New Roman" pitchFamily="18" charset="0"/>
              </a:rPr>
              <a:t>Secure user account creation and authentication.</a:t>
            </a:r>
          </a:p>
          <a:p>
            <a:pPr marL="171450" indent="-171450">
              <a:buFont typeface="Arial" pitchFamily="34" charset="0"/>
              <a:buChar char="•"/>
            </a:pPr>
            <a:r>
              <a:rPr lang="en-US" sz="1200" dirty="0" smtClean="0">
                <a:latin typeface="Times New Roman" pitchFamily="18" charset="0"/>
                <a:cs typeface="Times New Roman" pitchFamily="18" charset="0"/>
              </a:rPr>
              <a:t>Backend processing through PHP and MySQL database.</a:t>
            </a:r>
          </a:p>
          <a:p>
            <a:endParaRPr lang="en-US" sz="1400" dirty="0" smtClean="0">
              <a:latin typeface="Times New Roman" pitchFamily="18" charset="0"/>
              <a:cs typeface="Times New Roman" pitchFamily="18" charset="0"/>
            </a:endParaRPr>
          </a:p>
          <a:p>
            <a:endParaRPr lang="en-US" sz="1400" b="1" dirty="0" smtClean="0">
              <a:latin typeface="Times New Roman" pitchFamily="18" charset="0"/>
              <a:cs typeface="Times New Roman" pitchFamily="18" charset="0"/>
            </a:endParaRPr>
          </a:p>
          <a:p>
            <a:pPr marL="285750" indent="-285750">
              <a:buFont typeface="Arial" pitchFamily="34" charset="0"/>
              <a:buChar char="•"/>
            </a:pPr>
            <a:endParaRPr lang="en-US" sz="1200" b="1" dirty="0">
              <a:latin typeface="Times New Roman" pitchFamily="18" charset="0"/>
              <a:cs typeface="Times New Roman" pitchFamily="18" charset="0"/>
            </a:endParaRPr>
          </a:p>
          <a:p>
            <a:pPr marL="285750" indent="-285750">
              <a:buFont typeface="Arial" pitchFamily="34" charset="0"/>
              <a:buChar char="•"/>
            </a:pPr>
            <a:endParaRPr lang="en-US" sz="1200" b="1" dirty="0" smtClean="0">
              <a:latin typeface="Times New Roman" pitchFamily="18" charset="0"/>
              <a:cs typeface="Times New Roman" pitchFamily="18" charset="0"/>
            </a:endParaRPr>
          </a:p>
          <a:p>
            <a:pPr marL="285750" indent="-285750">
              <a:buFont typeface="Arial" pitchFamily="34" charset="0"/>
              <a:buChar char="•"/>
            </a:pPr>
            <a:endParaRPr lang="en-US" sz="1200" b="1" dirty="0" smtClean="0">
              <a:latin typeface="Times New Roman" pitchFamily="18" charset="0"/>
              <a:cs typeface="Times New Roman" pitchFamily="18" charset="0"/>
            </a:endParaRPr>
          </a:p>
          <a:p>
            <a:pPr marL="285750" indent="-285750">
              <a:buFont typeface="Arial" pitchFamily="34" charset="0"/>
              <a:buChar char="•"/>
            </a:pPr>
            <a:endParaRPr lang="en-US" sz="1200" dirty="0"/>
          </a:p>
          <a:p>
            <a:pPr marL="285750" indent="-285750">
              <a:buFont typeface="Arial" pitchFamily="34" charset="0"/>
              <a:buChar char="•"/>
            </a:pPr>
            <a:endParaRPr lang="en-US" sz="1200" dirty="0" smtClean="0"/>
          </a:p>
          <a:p>
            <a:pPr marL="241300" lvl="1">
              <a:lnSpc>
                <a:spcPct val="100000"/>
              </a:lnSpc>
              <a:spcBef>
                <a:spcPts val="625"/>
              </a:spcBef>
              <a:buSzPct val="83333"/>
              <a:tabLst>
                <a:tab pos="469900" algn="l"/>
              </a:tabLst>
            </a:pPr>
            <a:endParaRPr sz="1200"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14</a:t>
            </a:fld>
            <a:r>
              <a:rPr spc="-20" dirty="0"/>
              <a:t>]</a:t>
            </a:r>
          </a:p>
        </p:txBody>
      </p:sp>
      <p:sp>
        <p:nvSpPr>
          <p:cNvPr id="2" name="object 2"/>
          <p:cNvSpPr txBox="1"/>
          <p:nvPr/>
        </p:nvSpPr>
        <p:spPr>
          <a:xfrm>
            <a:off x="528319" y="293623"/>
            <a:ext cx="6647180" cy="8433719"/>
          </a:xfrm>
          <a:prstGeom prst="rect">
            <a:avLst/>
          </a:prstGeom>
        </p:spPr>
        <p:txBody>
          <a:bodyPr vert="horz" wrap="square" lIns="0" tIns="92075" rIns="0" bIns="0" rtlCol="0">
            <a:spAutoFit/>
          </a:bodyPr>
          <a:lstStyle/>
          <a:p>
            <a:pPr marL="171450" indent="-171450">
              <a:buFont typeface="Wingdings" pitchFamily="2" charset="2"/>
              <a:buChar char="v"/>
            </a:pPr>
            <a:r>
              <a:rPr lang="en-US" sz="1200" b="1" dirty="0" smtClean="0">
                <a:latin typeface="Times New Roman" pitchFamily="18" charset="0"/>
                <a:cs typeface="Times New Roman" pitchFamily="18" charset="0"/>
              </a:rPr>
              <a:t>Subscription Management</a:t>
            </a:r>
          </a:p>
          <a:p>
            <a:pPr marL="171450" indent="-171450">
              <a:buFont typeface="Arial" pitchFamily="34" charset="0"/>
              <a:buChar char="•"/>
            </a:pPr>
            <a:r>
              <a:rPr lang="en-US" sz="1200" dirty="0" smtClean="0">
                <a:latin typeface="Times New Roman" pitchFamily="18" charset="0"/>
                <a:cs typeface="Times New Roman" pitchFamily="18" charset="0"/>
              </a:rPr>
              <a:t>Users can select from available fitness plans and register subscriptions.</a:t>
            </a:r>
          </a:p>
          <a:p>
            <a:pPr marL="171450" indent="-171450">
              <a:buFont typeface="Arial" pitchFamily="34" charset="0"/>
              <a:buChar char="•"/>
            </a:pPr>
            <a:r>
              <a:rPr lang="en-US" sz="1200" dirty="0" smtClean="0">
                <a:latin typeface="Times New Roman" pitchFamily="18" charset="0"/>
                <a:cs typeface="Times New Roman" pitchFamily="18" charset="0"/>
              </a:rPr>
              <a:t>Subscriptions stored and managed through backend database operations.</a:t>
            </a:r>
          </a:p>
          <a:p>
            <a:pPr marL="171450" indent="-171450">
              <a:buFont typeface="Arial" pitchFamily="34" charset="0"/>
              <a:buChar char="•"/>
            </a:pPr>
            <a:endParaRPr lang="en-US" sz="1200" dirty="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Product Store</a:t>
            </a:r>
          </a:p>
          <a:p>
            <a:pPr marL="171450" indent="-171450">
              <a:buFont typeface="Arial" pitchFamily="34" charset="0"/>
              <a:buChar char="•"/>
            </a:pPr>
            <a:r>
              <a:rPr lang="en-US" sz="1200" dirty="0" smtClean="0">
                <a:latin typeface="Times New Roman" pitchFamily="18" charset="0"/>
                <a:cs typeface="Times New Roman" pitchFamily="18" charset="0"/>
              </a:rPr>
              <a:t>Display and categorize gym products for online browsing.</a:t>
            </a:r>
          </a:p>
          <a:p>
            <a:pPr marL="171450" indent="-171450">
              <a:buFont typeface="Arial" pitchFamily="34" charset="0"/>
              <a:buChar char="•"/>
            </a:pPr>
            <a:r>
              <a:rPr lang="en-US" sz="1200" dirty="0" smtClean="0">
                <a:latin typeface="Times New Roman" pitchFamily="18" charset="0"/>
                <a:cs typeface="Times New Roman" pitchFamily="18" charset="0"/>
              </a:rPr>
              <a:t>Organized product information and visuals for easy shopping experience.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 Contact &amp; Feedback</a:t>
            </a:r>
          </a:p>
          <a:p>
            <a:pPr marL="171450" indent="-171450">
              <a:buFont typeface="Arial" pitchFamily="34" charset="0"/>
              <a:buChar char="•"/>
            </a:pPr>
            <a:r>
              <a:rPr lang="en-US" sz="1200" dirty="0" smtClean="0">
                <a:latin typeface="Times New Roman" pitchFamily="18" charset="0"/>
                <a:cs typeface="Times New Roman" pitchFamily="18" charset="0"/>
              </a:rPr>
              <a:t>Allow users to submit messages or queries through contact form.</a:t>
            </a:r>
          </a:p>
          <a:p>
            <a:pPr marL="171450" indent="-171450">
              <a:buFont typeface="Arial" pitchFamily="34" charset="0"/>
              <a:buChar char="•"/>
            </a:pPr>
            <a:r>
              <a:rPr lang="en-US" sz="1200" dirty="0" smtClean="0">
                <a:latin typeface="Times New Roman" pitchFamily="18" charset="0"/>
                <a:cs typeface="Times New Roman" pitchFamily="18" charset="0"/>
              </a:rPr>
              <a:t>Store feedback data for administrative review and improvement.</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Responsive Web Interface</a:t>
            </a:r>
          </a:p>
          <a:p>
            <a:pPr marL="171450" indent="-171450">
              <a:buFont typeface="Arial" pitchFamily="34" charset="0"/>
              <a:buChar char="•"/>
            </a:pPr>
            <a:r>
              <a:rPr lang="en-US" sz="1200" dirty="0" smtClean="0">
                <a:latin typeface="Times New Roman" pitchFamily="18" charset="0"/>
                <a:cs typeface="Times New Roman" pitchFamily="18" charset="0"/>
              </a:rPr>
              <a:t>Modern design using HTML, CSS, JavaScript.</a:t>
            </a:r>
          </a:p>
          <a:p>
            <a:pPr marL="171450" indent="-171450">
              <a:buFont typeface="Arial" pitchFamily="34" charset="0"/>
              <a:buChar char="•"/>
            </a:pPr>
            <a:r>
              <a:rPr lang="en-US" sz="1200" dirty="0" smtClean="0">
                <a:latin typeface="Times New Roman" pitchFamily="18" charset="0"/>
                <a:cs typeface="Times New Roman" pitchFamily="18" charset="0"/>
              </a:rPr>
              <a:t>Smooth transitions, hover effects, and adaptable layouts for different devices.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Backend &amp; Database Management</a:t>
            </a:r>
          </a:p>
          <a:p>
            <a:pPr marL="171450" indent="-171450">
              <a:buFont typeface="Arial" pitchFamily="34" charset="0"/>
              <a:buChar char="•"/>
            </a:pPr>
            <a:r>
              <a:rPr lang="en-US" sz="1200" dirty="0" smtClean="0">
                <a:latin typeface="Times New Roman" pitchFamily="18" charset="0"/>
                <a:cs typeface="Times New Roman" pitchFamily="18" charset="0"/>
              </a:rPr>
              <a:t>PHP handles all server-side logic for form submissions and data retrieval.</a:t>
            </a:r>
          </a:p>
          <a:p>
            <a:pPr marL="171450" indent="-171450">
              <a:buFont typeface="Arial" pitchFamily="34" charset="0"/>
              <a:buChar char="•"/>
            </a:pPr>
            <a:r>
              <a:rPr lang="en-US" sz="1200" dirty="0" smtClean="0">
                <a:latin typeface="Times New Roman" pitchFamily="18" charset="0"/>
                <a:cs typeface="Times New Roman" pitchFamily="18" charset="0"/>
              </a:rPr>
              <a:t>MySQL securely stores user and subscription data.</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7. Dynamic Content Updates</a:t>
            </a:r>
          </a:p>
          <a:p>
            <a:pPr marL="171450" indent="-171450">
              <a:buFont typeface="Arial" pitchFamily="34" charset="0"/>
              <a:buChar char="•"/>
            </a:pPr>
            <a:r>
              <a:rPr lang="en-US" sz="1200" dirty="0" smtClean="0">
                <a:latin typeface="Times New Roman" pitchFamily="18" charset="0"/>
                <a:cs typeface="Times New Roman" pitchFamily="18" charset="0"/>
              </a:rPr>
              <a:t>Real-time interaction with database to fetch and display user subscriptions and feedback.</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 Error Handling</a:t>
            </a:r>
          </a:p>
          <a:p>
            <a:pPr marL="171450" indent="-171450">
              <a:buFont typeface="Arial" pitchFamily="34" charset="0"/>
              <a:buChar char="•"/>
            </a:pPr>
            <a:r>
              <a:rPr lang="en-US" sz="1200" dirty="0" smtClean="0">
                <a:latin typeface="Times New Roman" pitchFamily="18" charset="0"/>
                <a:cs typeface="Times New Roman" pitchFamily="18" charset="0"/>
              </a:rPr>
              <a:t>User-friendly error messages for invalid inputs or form submission failures.</a:t>
            </a:r>
          </a:p>
          <a:p>
            <a:pPr marL="171450" indent="-171450">
              <a:buFont typeface="Arial" pitchFamily="34" charset="0"/>
              <a:buChar char="•"/>
            </a:pPr>
            <a:r>
              <a:rPr lang="en-US" sz="1200" dirty="0" smtClean="0">
                <a:latin typeface="Times New Roman" pitchFamily="18" charset="0"/>
                <a:cs typeface="Times New Roman" pitchFamily="18" charset="0"/>
              </a:rPr>
              <a:t>Server-side validation and basic form sanitization to ensure data integrity.</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Scalable &amp; Expandable Architecture</a:t>
            </a:r>
          </a:p>
          <a:p>
            <a:pPr marL="171450" indent="-171450">
              <a:buFont typeface="Arial" pitchFamily="34" charset="0"/>
              <a:buChar char="•"/>
            </a:pPr>
            <a:r>
              <a:rPr lang="en-US" sz="1200" dirty="0" smtClean="0">
                <a:latin typeface="Times New Roman" pitchFamily="18" charset="0"/>
                <a:cs typeface="Times New Roman" pitchFamily="18" charset="0"/>
              </a:rPr>
              <a:t>Supports future features like:</a:t>
            </a:r>
          </a:p>
          <a:p>
            <a:pPr marL="171450" lvl="1" indent="-171450">
              <a:buFont typeface="Arial" pitchFamily="34" charset="0"/>
              <a:buChar char="•"/>
            </a:pPr>
            <a:r>
              <a:rPr lang="en-US" sz="1200" dirty="0" smtClean="0">
                <a:latin typeface="Times New Roman" pitchFamily="18" charset="0"/>
                <a:cs typeface="Times New Roman" pitchFamily="18" charset="0"/>
              </a:rPr>
              <a:t>Online payments</a:t>
            </a:r>
          </a:p>
          <a:p>
            <a:pPr marL="171450" lvl="1" indent="-171450">
              <a:buFont typeface="Arial" pitchFamily="34" charset="0"/>
              <a:buChar char="•"/>
            </a:pPr>
            <a:r>
              <a:rPr lang="en-US" sz="1200" dirty="0" smtClean="0">
                <a:latin typeface="Times New Roman" pitchFamily="18" charset="0"/>
                <a:cs typeface="Times New Roman" pitchFamily="18" charset="0"/>
              </a:rPr>
              <a:t>Personalized dashboards</a:t>
            </a:r>
          </a:p>
          <a:p>
            <a:pPr marL="171450" lvl="1" indent="-171450">
              <a:buFont typeface="Arial" pitchFamily="34" charset="0"/>
              <a:buChar char="•"/>
            </a:pPr>
            <a:r>
              <a:rPr lang="en-US" sz="1200" dirty="0" smtClean="0">
                <a:latin typeface="Times New Roman" pitchFamily="18" charset="0"/>
                <a:cs typeface="Times New Roman" pitchFamily="18" charset="0"/>
              </a:rPr>
              <a:t>Admin panel integration</a:t>
            </a:r>
          </a:p>
          <a:p>
            <a:pPr marL="171450" lvl="1" indent="-171450">
              <a:buFont typeface="Arial" pitchFamily="34" charset="0"/>
              <a:buChar char="•"/>
            </a:pPr>
            <a:r>
              <a:rPr lang="en-US" sz="1200" dirty="0" smtClean="0">
                <a:latin typeface="Times New Roman" pitchFamily="18" charset="0"/>
                <a:cs typeface="Times New Roman" pitchFamily="18" charset="0"/>
              </a:rPr>
              <a:t>Cloud-based hosting</a:t>
            </a:r>
          </a:p>
          <a:p>
            <a:pPr lvl="1"/>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Modular Codebase</a:t>
            </a:r>
          </a:p>
          <a:p>
            <a:pPr marL="171450" indent="-171450">
              <a:buFont typeface="Arial" pitchFamily="34" charset="0"/>
              <a:buChar char="•"/>
            </a:pPr>
            <a:r>
              <a:rPr lang="en-US" sz="1200" dirty="0" smtClean="0">
                <a:latin typeface="Times New Roman" pitchFamily="18" charset="0"/>
                <a:cs typeface="Times New Roman" pitchFamily="18" charset="0"/>
              </a:rPr>
              <a:t>Structured code allows easy maintenance, bug fix</a:t>
            </a:r>
          </a:p>
          <a:p>
            <a:endParaRPr lang="en-US" sz="1200" dirty="0" smtClean="0">
              <a:latin typeface="Times New Roman" pitchFamily="18" charset="0"/>
              <a:cs typeface="Times New Roman" pitchFamily="18" charset="0"/>
            </a:endParaRPr>
          </a:p>
          <a:p>
            <a:pPr marL="12700">
              <a:lnSpc>
                <a:spcPct val="100000"/>
              </a:lnSpc>
              <a:spcBef>
                <a:spcPts val="5"/>
              </a:spcBef>
            </a:pPr>
            <a:r>
              <a:rPr lang="en-US" sz="1200" b="1" dirty="0" smtClean="0">
                <a:latin typeface="Times New Roman"/>
                <a:cs typeface="Times New Roman"/>
              </a:rPr>
              <a:t>Key</a:t>
            </a:r>
            <a:r>
              <a:rPr lang="en-US" sz="1200" b="1" spc="-25" dirty="0" smtClean="0">
                <a:latin typeface="Times New Roman"/>
                <a:cs typeface="Times New Roman"/>
              </a:rPr>
              <a:t> </a:t>
            </a:r>
            <a:r>
              <a:rPr lang="en-US" sz="1200" b="1" spc="-10" dirty="0" smtClean="0">
                <a:latin typeface="Times New Roman"/>
                <a:cs typeface="Times New Roman"/>
              </a:rPr>
              <a:t>Differentiators</a:t>
            </a:r>
          </a:p>
          <a:p>
            <a:pPr marL="12700">
              <a:lnSpc>
                <a:spcPct val="100000"/>
              </a:lnSpc>
              <a:spcBef>
                <a:spcPts val="5"/>
              </a:spcBef>
            </a:pPr>
            <a:endParaRPr lang="en-US" sz="1200" b="1" spc="-10" dirty="0" smtClean="0">
              <a:latin typeface="Times New Roman"/>
              <a:cs typeface="Times New Roman"/>
            </a:endParaRPr>
          </a:p>
          <a:p>
            <a:pPr marL="171450" indent="-171450">
              <a:buFont typeface="Arial" pitchFamily="34" charset="0"/>
              <a:buChar char="•"/>
            </a:pPr>
            <a:r>
              <a:rPr lang="en-US" sz="1200" dirty="0" smtClean="0">
                <a:latin typeface="Times New Roman" pitchFamily="18" charset="0"/>
                <a:cs typeface="Times New Roman" pitchFamily="18" charset="0"/>
              </a:rPr>
              <a:t>Combines subscription services, product browsing, and feedback features into a single integrated fitness platform.</a:t>
            </a:r>
          </a:p>
          <a:p>
            <a:pPr marL="171450" indent="-171450">
              <a:buFont typeface="Arial" pitchFamily="34" charset="0"/>
              <a:buChar char="•"/>
            </a:pPr>
            <a:r>
              <a:rPr lang="en-US" sz="1200" dirty="0" smtClean="0">
                <a:latin typeface="Times New Roman" pitchFamily="18" charset="0"/>
                <a:cs typeface="Times New Roman" pitchFamily="18" charset="0"/>
              </a:rPr>
              <a:t>Offers a complete learning experience in full-stack web development.</a:t>
            </a:r>
          </a:p>
          <a:p>
            <a:pPr marL="171450" indent="-171450">
              <a:buFont typeface="Arial" pitchFamily="34" charset="0"/>
              <a:buChar char="•"/>
            </a:pPr>
            <a:r>
              <a:rPr lang="en-US" sz="1200" dirty="0" smtClean="0">
                <a:latin typeface="Times New Roman" pitchFamily="18" charset="0"/>
                <a:cs typeface="Times New Roman" pitchFamily="18" charset="0"/>
              </a:rPr>
              <a:t>Scalable foundation for advanced future upgrades and business-level deployment.</a:t>
            </a:r>
            <a:endParaRPr lang="en-US" sz="1200" dirty="0" smtClean="0"/>
          </a:p>
          <a:p>
            <a:endParaRPr lang="en-US" sz="1200" dirty="0" smtClean="0">
              <a:latin typeface="Times New Roman" pitchFamily="18" charset="0"/>
              <a:cs typeface="Times New Roman" pitchFamily="18" charset="0"/>
            </a:endParaRPr>
          </a:p>
          <a:p>
            <a:pPr marL="12700">
              <a:lnSpc>
                <a:spcPct val="100000"/>
              </a:lnSpc>
            </a:pPr>
            <a:endParaRPr sz="14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319" y="369823"/>
            <a:ext cx="6650990" cy="7678384"/>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0"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2</a:t>
            </a:r>
            <a:endParaRPr sz="1600" dirty="0">
              <a:latin typeface="Times New Roman"/>
              <a:cs typeface="Times New Roman"/>
            </a:endParaRPr>
          </a:p>
          <a:p>
            <a:pPr>
              <a:lnSpc>
                <a:spcPct val="100000"/>
              </a:lnSpc>
              <a:spcBef>
                <a:spcPts val="1435"/>
              </a:spcBef>
            </a:pPr>
            <a:endParaRPr sz="1600" dirty="0">
              <a:latin typeface="Times New Roman"/>
              <a:cs typeface="Times New Roman"/>
            </a:endParaRPr>
          </a:p>
          <a:p>
            <a:pPr marL="280035" lvl="1" indent="-267335" algn="just">
              <a:lnSpc>
                <a:spcPct val="100000"/>
              </a:lnSpc>
              <a:buAutoNum type="arabicPeriod"/>
              <a:tabLst>
                <a:tab pos="280035" algn="l"/>
              </a:tabLst>
            </a:pPr>
            <a:r>
              <a:rPr sz="1400" b="1" dirty="0">
                <a:latin typeface="Times New Roman"/>
                <a:cs typeface="Times New Roman"/>
              </a:rPr>
              <a:t>Software</a:t>
            </a:r>
            <a:r>
              <a:rPr sz="1400" b="1" spc="-30" dirty="0">
                <a:latin typeface="Times New Roman"/>
                <a:cs typeface="Times New Roman"/>
              </a:rPr>
              <a:t> </a:t>
            </a:r>
            <a:r>
              <a:rPr sz="1400" b="1" dirty="0">
                <a:latin typeface="Times New Roman"/>
                <a:cs typeface="Times New Roman"/>
              </a:rPr>
              <a:t>Used</a:t>
            </a:r>
            <a:r>
              <a:rPr sz="1400" b="1" spc="-40" dirty="0">
                <a:latin typeface="Times New Roman"/>
                <a:cs typeface="Times New Roman"/>
              </a:rPr>
              <a:t> </a:t>
            </a:r>
            <a:r>
              <a:rPr sz="1400" b="1" dirty="0" smtClean="0">
                <a:latin typeface="Times New Roman"/>
                <a:cs typeface="Times New Roman"/>
              </a:rPr>
              <a:t>in</a:t>
            </a:r>
            <a:r>
              <a:rPr lang="en-US" sz="1400" b="1" dirty="0" smtClean="0">
                <a:latin typeface="Times New Roman"/>
                <a:cs typeface="Times New Roman"/>
              </a:rPr>
              <a:t> Fitness Freak Website</a:t>
            </a:r>
            <a:r>
              <a:rPr sz="1400" b="1" spc="-20" dirty="0" smtClean="0">
                <a:latin typeface="Times New Roman"/>
                <a:cs typeface="Times New Roman"/>
              </a:rPr>
              <a:t>.</a:t>
            </a:r>
            <a:endParaRPr sz="1400" dirty="0">
              <a:latin typeface="Times New Roman"/>
              <a:cs typeface="Times New Roman"/>
            </a:endParaRPr>
          </a:p>
          <a:p>
            <a:pPr>
              <a:lnSpc>
                <a:spcPct val="100000"/>
              </a:lnSpc>
              <a:spcBef>
                <a:spcPts val="1310"/>
              </a:spcBef>
            </a:pPr>
            <a:r>
              <a:rPr lang="en-US" sz="1200" dirty="0" smtClean="0">
                <a:latin typeface="Times New Roman" pitchFamily="18" charset="0"/>
                <a:cs typeface="Times New Roman" pitchFamily="18" charset="0"/>
              </a:rPr>
              <a:t>We have used </a:t>
            </a:r>
            <a:r>
              <a:rPr lang="en-US" sz="1200" b="1" dirty="0" smtClean="0">
                <a:latin typeface="Times New Roman" pitchFamily="18" charset="0"/>
                <a:cs typeface="Times New Roman" pitchFamily="18" charset="0"/>
              </a:rPr>
              <a:t>full-stack web development technologies</a:t>
            </a:r>
            <a:r>
              <a:rPr lang="en-US" sz="1200" dirty="0" smtClean="0">
                <a:latin typeface="Times New Roman" pitchFamily="18" charset="0"/>
                <a:cs typeface="Times New Roman" pitchFamily="18" charset="0"/>
              </a:rPr>
              <a:t> in the creation of this website. The project utilizes modern web languages like </a:t>
            </a:r>
            <a:r>
              <a:rPr lang="en-US" sz="1200" b="1" dirty="0" smtClean="0">
                <a:latin typeface="Times New Roman" pitchFamily="18" charset="0"/>
                <a:cs typeface="Times New Roman" pitchFamily="18" charset="0"/>
              </a:rPr>
              <a:t>HTML, CSS, JavaScript, PHP, MySQL</a:t>
            </a:r>
            <a:r>
              <a:rPr lang="en-US" sz="1200" dirty="0" smtClean="0">
                <a:latin typeface="Times New Roman" pitchFamily="18" charset="0"/>
                <a:cs typeface="Times New Roman" pitchFamily="18" charset="0"/>
              </a:rPr>
              <a:t>, and </a:t>
            </a:r>
            <a:r>
              <a:rPr lang="en-US" sz="1200" b="1" dirty="0" smtClean="0">
                <a:latin typeface="Times New Roman" pitchFamily="18" charset="0"/>
                <a:cs typeface="Times New Roman" pitchFamily="18" charset="0"/>
              </a:rPr>
              <a:t>XAMPP</a:t>
            </a:r>
            <a:r>
              <a:rPr lang="en-US" sz="1200" dirty="0" smtClean="0">
                <a:latin typeface="Times New Roman" pitchFamily="18" charset="0"/>
                <a:cs typeface="Times New Roman" pitchFamily="18" charset="0"/>
              </a:rPr>
              <a:t> for local development. These technologies work together to create a functional, interactive, and user-friendly fitness platform.</a:t>
            </a:r>
          </a:p>
          <a:p>
            <a:pPr>
              <a:lnSpc>
                <a:spcPct val="100000"/>
              </a:lnSpc>
              <a:spcBef>
                <a:spcPts val="1310"/>
              </a:spcBef>
            </a:pPr>
            <a:endParaRPr sz="1200" dirty="0">
              <a:latin typeface="Times New Roman" pitchFamily="18" charset="0"/>
              <a:cs typeface="Times New Roman" pitchFamily="18" charset="0"/>
            </a:endParaRPr>
          </a:p>
          <a:p>
            <a:r>
              <a:rPr lang="en-US" sz="1200" b="1" dirty="0" smtClean="0"/>
              <a:t>2. Web Development Technologies</a:t>
            </a:r>
          </a:p>
          <a:p>
            <a:endParaRPr lang="en-US" sz="1200" b="1" dirty="0" smtClean="0"/>
          </a:p>
          <a:p>
            <a:pPr marL="171450" indent="-171450">
              <a:buFont typeface="Wingdings" pitchFamily="2" charset="2"/>
              <a:buChar char="v"/>
            </a:pPr>
            <a:r>
              <a:rPr lang="en-US" sz="1200" b="1" dirty="0" smtClean="0">
                <a:latin typeface="Times New Roman" pitchFamily="18" charset="0"/>
                <a:cs typeface="Times New Roman" pitchFamily="18" charset="0"/>
              </a:rPr>
              <a:t>HTML (Hyper Text Markup Language)</a:t>
            </a:r>
          </a:p>
          <a:p>
            <a:r>
              <a:rPr lang="en-US" sz="1200" dirty="0" smtClean="0">
                <a:latin typeface="Times New Roman" pitchFamily="18" charset="0"/>
                <a:cs typeface="Times New Roman" pitchFamily="18" charset="0"/>
              </a:rPr>
              <a:t>HTML is the standard markup language used to create the structure and content of web pages. It defines the layout, headings, forms, buttons, tables, and all essential elements displayed to the user.</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CSS (Cascading Style Sheets)</a:t>
            </a:r>
          </a:p>
          <a:p>
            <a:r>
              <a:rPr lang="en-US" sz="1200" dirty="0" smtClean="0">
                <a:latin typeface="Times New Roman" pitchFamily="18" charset="0"/>
                <a:cs typeface="Times New Roman" pitchFamily="18" charset="0"/>
              </a:rPr>
              <a:t>CSS is responsible for designing and styling the appearance of the website. It controls the layout, colors, fonts, spacing, and overall visual presentation of the content, making the interface aesthetically appealing and user-friendly.</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JavaScript</a:t>
            </a:r>
          </a:p>
          <a:p>
            <a:r>
              <a:rPr lang="en-US" sz="1200" dirty="0" smtClean="0">
                <a:latin typeface="Times New Roman" pitchFamily="18" charset="0"/>
                <a:cs typeface="Times New Roman" pitchFamily="18" charset="0"/>
              </a:rPr>
              <a:t>JavaScript adds interactivity and dynamic behavior to the website. It handles client-side interactions like form validation, responsive behavior, animations, and basic logic to enhance user experience.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PHP (Hypertext Preprocessor)</a:t>
            </a:r>
          </a:p>
          <a:p>
            <a:r>
              <a:rPr lang="en-US" sz="1200" dirty="0" smtClean="0">
                <a:latin typeface="Times New Roman" pitchFamily="18" charset="0"/>
                <a:cs typeface="Times New Roman" pitchFamily="18" charset="0"/>
              </a:rPr>
              <a:t>PHP is a server-side scripting language used to handle backend logic. It processes form submissions (registration, login, subscription, contact forms), interacts with the database, and generates dynamic content for the user.</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MySQL</a:t>
            </a:r>
          </a:p>
          <a:p>
            <a:r>
              <a:rPr lang="en-US" sz="1200" dirty="0" smtClean="0">
                <a:latin typeface="Times New Roman" pitchFamily="18" charset="0"/>
                <a:cs typeface="Times New Roman" pitchFamily="18" charset="0"/>
              </a:rPr>
              <a:t>MySQL is a relational database management system used to securely store all persistent data, including user registrations, subscription records, and contact feedback. MySQL allows efficient storage, retrieval, and management of user data.</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XAMPP (Cross-Platform Apache, MySQL, PHP, Perl)</a:t>
            </a:r>
          </a:p>
          <a:p>
            <a:r>
              <a:rPr lang="en-US" sz="1200" dirty="0" smtClean="0">
                <a:latin typeface="Times New Roman" pitchFamily="18" charset="0"/>
                <a:cs typeface="Times New Roman" pitchFamily="18" charset="0"/>
              </a:rPr>
              <a:t>XAMPP provides a local development environment with a pre-configured Apache server, MySQL database, and PHP interpreter. It enables developers to test and run PHP scripts locally during development before deployment.</a:t>
            </a:r>
          </a:p>
          <a:p>
            <a:pPr>
              <a:lnSpc>
                <a:spcPct val="100000"/>
              </a:lnSpc>
              <a:spcBef>
                <a:spcPts val="1310"/>
              </a:spcBef>
            </a:pPr>
            <a:endParaRPr sz="12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15</a:t>
            </a:fld>
            <a:r>
              <a:rPr spc="-2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3050" y="241300"/>
            <a:ext cx="6649720" cy="7333418"/>
          </a:xfrm>
          <a:prstGeom prst="rect">
            <a:avLst/>
          </a:prstGeom>
        </p:spPr>
        <p:txBody>
          <a:bodyPr vert="horz" wrap="square" lIns="0" tIns="122555" rIns="0" bIns="0" rtlCol="0">
            <a:spAutoFit/>
          </a:bodyPr>
          <a:lstStyle/>
          <a:p>
            <a:pPr marL="278765" lvl="1" indent="-266065">
              <a:lnSpc>
                <a:spcPct val="100000"/>
              </a:lnSpc>
              <a:spcBef>
                <a:spcPts val="965"/>
              </a:spcBef>
              <a:buAutoNum type="arabicPeriod" startAt="3"/>
              <a:tabLst>
                <a:tab pos="278765" algn="l"/>
              </a:tabLst>
            </a:pPr>
            <a:r>
              <a:rPr sz="1400" b="1" dirty="0">
                <a:latin typeface="Times New Roman"/>
                <a:cs typeface="Times New Roman"/>
              </a:rPr>
              <a:t>Common</a:t>
            </a:r>
            <a:r>
              <a:rPr sz="1400" b="1" spc="-25" dirty="0">
                <a:latin typeface="Times New Roman"/>
                <a:cs typeface="Times New Roman"/>
              </a:rPr>
              <a:t> </a:t>
            </a:r>
            <a:r>
              <a:rPr sz="1400" b="1" dirty="0">
                <a:latin typeface="Times New Roman"/>
                <a:cs typeface="Times New Roman"/>
              </a:rPr>
              <a:t>Uses</a:t>
            </a:r>
            <a:r>
              <a:rPr sz="1400" b="1" spc="-20" dirty="0">
                <a:latin typeface="Times New Roman"/>
                <a:cs typeface="Times New Roman"/>
              </a:rPr>
              <a:t> </a:t>
            </a:r>
            <a:r>
              <a:rPr sz="1400" b="1" dirty="0">
                <a:latin typeface="Times New Roman"/>
                <a:cs typeface="Times New Roman"/>
              </a:rPr>
              <a:t>of</a:t>
            </a:r>
            <a:r>
              <a:rPr sz="1400" b="1" spc="-35" dirty="0">
                <a:latin typeface="Times New Roman"/>
                <a:cs typeface="Times New Roman"/>
              </a:rPr>
              <a:t> </a:t>
            </a:r>
            <a:r>
              <a:rPr lang="en-US" sz="1400" b="1" spc="-10" dirty="0">
                <a:latin typeface="Times New Roman"/>
                <a:cs typeface="Times New Roman"/>
              </a:rPr>
              <a:t> </a:t>
            </a:r>
            <a:r>
              <a:rPr lang="en-US" sz="1400" b="1" spc="-10" dirty="0" smtClean="0">
                <a:latin typeface="Times New Roman"/>
                <a:cs typeface="Times New Roman"/>
              </a:rPr>
              <a:t>the project</a:t>
            </a:r>
            <a:r>
              <a:rPr sz="1400" b="1" spc="-10" dirty="0" smtClean="0">
                <a:latin typeface="Times New Roman"/>
                <a:cs typeface="Times New Roman"/>
              </a:rPr>
              <a:t>.</a:t>
            </a:r>
            <a:endParaRPr lang="en-US" sz="1400" b="1" spc="-10" dirty="0" smtClean="0">
              <a:latin typeface="Times New Roman"/>
              <a:cs typeface="Times New Roman"/>
            </a:endParaRPr>
          </a:p>
          <a:p>
            <a:pPr marL="12700" lvl="1">
              <a:lnSpc>
                <a:spcPct val="100000"/>
              </a:lnSpc>
              <a:spcBef>
                <a:spcPts val="965"/>
              </a:spcBef>
              <a:tabLst>
                <a:tab pos="278765" algn="l"/>
              </a:tabLst>
            </a:pPr>
            <a:endParaRPr sz="1400" dirty="0">
              <a:latin typeface="Times New Roman"/>
              <a:cs typeface="Times New Roman"/>
            </a:endParaRPr>
          </a:p>
          <a:p>
            <a:pPr marL="171450" indent="-171450">
              <a:buFont typeface="Wingdings" pitchFamily="2" charset="2"/>
              <a:buChar char="v"/>
            </a:pPr>
            <a:r>
              <a:rPr lang="en-US" sz="1200" b="1" dirty="0" smtClean="0">
                <a:latin typeface="Times New Roman" pitchFamily="18" charset="0"/>
                <a:cs typeface="Times New Roman" pitchFamily="18" charset="0"/>
              </a:rPr>
              <a:t>Frontend Development:</a:t>
            </a:r>
          </a:p>
          <a:p>
            <a:r>
              <a:rPr lang="en-US" sz="1200" b="1" dirty="0" smtClean="0">
                <a:latin typeface="Times New Roman" pitchFamily="18" charset="0"/>
                <a:cs typeface="Times New Roman" pitchFamily="18" charset="0"/>
              </a:rPr>
              <a:t>HTML/CSS/JavaScript:</a:t>
            </a:r>
            <a:r>
              <a:rPr lang="en-US" sz="1200" dirty="0" smtClean="0">
                <a:latin typeface="Times New Roman" pitchFamily="18" charset="0"/>
                <a:cs typeface="Times New Roman" pitchFamily="18" charset="0"/>
              </a:rPr>
              <a:t> Build the website structure, design, and interactivity.</a:t>
            </a:r>
          </a:p>
          <a:p>
            <a:pPr marL="171450" indent="-171450">
              <a:buFont typeface="Arial" pitchFamily="34" charset="0"/>
              <a:buChar char="•"/>
            </a:pPr>
            <a:r>
              <a:rPr lang="en-US" sz="1200" dirty="0" smtClean="0">
                <a:latin typeface="Times New Roman" pitchFamily="18" charset="0"/>
                <a:cs typeface="Times New Roman" pitchFamily="18" charset="0"/>
              </a:rPr>
              <a:t>Create responsive and accessible layouts.</a:t>
            </a:r>
          </a:p>
          <a:p>
            <a:pPr marL="171450" indent="-171450">
              <a:buFont typeface="Arial" pitchFamily="34" charset="0"/>
              <a:buChar char="•"/>
            </a:pPr>
            <a:r>
              <a:rPr lang="en-US" sz="1200" dirty="0" smtClean="0">
                <a:latin typeface="Times New Roman" pitchFamily="18" charset="0"/>
                <a:cs typeface="Times New Roman" pitchFamily="18" charset="0"/>
              </a:rPr>
              <a:t>Ensure smooth navigation across pages.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Backend Development:</a:t>
            </a:r>
          </a:p>
          <a:p>
            <a:pPr marL="171450" indent="-171450">
              <a:buFont typeface="Arial" pitchFamily="34" charset="0"/>
              <a:buChar char="•"/>
            </a:pPr>
            <a:r>
              <a:rPr lang="en-US" sz="1200" b="1" dirty="0" smtClean="0">
                <a:latin typeface="Times New Roman" pitchFamily="18" charset="0"/>
                <a:cs typeface="Times New Roman" pitchFamily="18" charset="0"/>
              </a:rPr>
              <a:t>PHP:</a:t>
            </a:r>
            <a:r>
              <a:rPr lang="en-US" sz="1200" dirty="0" smtClean="0">
                <a:latin typeface="Times New Roman" pitchFamily="18" charset="0"/>
                <a:cs typeface="Times New Roman" pitchFamily="18" charset="0"/>
              </a:rPr>
              <a:t> Handle form submissions, user registration/login, subscription processing, and feedback storage.</a:t>
            </a:r>
          </a:p>
          <a:p>
            <a:pPr marL="171450" indent="-171450">
              <a:buFont typeface="Arial" pitchFamily="34" charset="0"/>
              <a:buChar char="•"/>
            </a:pPr>
            <a:r>
              <a:rPr lang="en-US" sz="1200" b="1" dirty="0" smtClean="0">
                <a:latin typeface="Times New Roman" pitchFamily="18" charset="0"/>
                <a:cs typeface="Times New Roman" pitchFamily="18" charset="0"/>
              </a:rPr>
              <a:t>MySQL:</a:t>
            </a:r>
            <a:r>
              <a:rPr lang="en-US" sz="1200" dirty="0" smtClean="0">
                <a:latin typeface="Times New Roman" pitchFamily="18" charset="0"/>
                <a:cs typeface="Times New Roman" pitchFamily="18" charset="0"/>
              </a:rPr>
              <a:t> Manage database operations like inserting, updating, and retrieving user data.</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Development Environment:</a:t>
            </a:r>
          </a:p>
          <a:p>
            <a:pPr marL="171450" indent="-171450">
              <a:buFont typeface="Arial" pitchFamily="34" charset="0"/>
              <a:buChar char="•"/>
            </a:pPr>
            <a:r>
              <a:rPr lang="en-US" sz="1200" b="1" dirty="0" smtClean="0">
                <a:latin typeface="Times New Roman" pitchFamily="18" charset="0"/>
                <a:cs typeface="Times New Roman" pitchFamily="18" charset="0"/>
              </a:rPr>
              <a:t>Visual Studio Code:</a:t>
            </a:r>
            <a:r>
              <a:rPr lang="en-US" sz="1200" dirty="0" smtClean="0">
                <a:latin typeface="Times New Roman" pitchFamily="18" charset="0"/>
                <a:cs typeface="Times New Roman" pitchFamily="18" charset="0"/>
              </a:rPr>
              <a:t> The primary code editor used for writing, editing, and debugging the project code.</a:t>
            </a:r>
          </a:p>
          <a:p>
            <a:pPr marL="171450" indent="-171450">
              <a:buFont typeface="Arial" pitchFamily="34" charset="0"/>
              <a:buChar char="•"/>
            </a:pPr>
            <a:r>
              <a:rPr lang="en-US" sz="1200" b="1" dirty="0" smtClean="0">
                <a:latin typeface="Times New Roman" pitchFamily="18" charset="0"/>
                <a:cs typeface="Times New Roman" pitchFamily="18" charset="0"/>
              </a:rPr>
              <a:t>XAMPP:</a:t>
            </a:r>
            <a:r>
              <a:rPr lang="en-US" sz="1200" dirty="0" smtClean="0">
                <a:latin typeface="Times New Roman" pitchFamily="18" charset="0"/>
                <a:cs typeface="Times New Roman" pitchFamily="18" charset="0"/>
              </a:rPr>
              <a:t> Local hosting environment to simulate a production server.</a:t>
            </a:r>
          </a:p>
          <a:p>
            <a:endParaRPr lang="en-US" sz="1200" dirty="0" smtClean="0">
              <a:latin typeface="Times New Roman" pitchFamily="18" charset="0"/>
              <a:cs typeface="Times New Roman" pitchFamily="18" charset="0"/>
            </a:endParaRPr>
          </a:p>
          <a:p>
            <a:pPr marL="12700" lvl="1">
              <a:lnSpc>
                <a:spcPct val="100000"/>
              </a:lnSpc>
              <a:tabLst>
                <a:tab pos="278765" algn="l"/>
              </a:tabLst>
            </a:pPr>
            <a:r>
              <a:rPr lang="en-US" sz="1400" b="1" dirty="0" smtClean="0">
                <a:latin typeface="Times New Roman"/>
                <a:cs typeface="Times New Roman"/>
              </a:rPr>
              <a:t>4.  </a:t>
            </a:r>
            <a:r>
              <a:rPr sz="1400" b="1" dirty="0" smtClean="0">
                <a:latin typeface="Times New Roman"/>
                <a:cs typeface="Times New Roman"/>
              </a:rPr>
              <a:t>Popular</a:t>
            </a:r>
            <a:r>
              <a:rPr sz="1400" b="1" spc="-40" dirty="0" smtClean="0">
                <a:latin typeface="Times New Roman"/>
                <a:cs typeface="Times New Roman"/>
              </a:rPr>
              <a:t> </a:t>
            </a:r>
            <a:r>
              <a:rPr sz="1400" b="1" dirty="0">
                <a:latin typeface="Times New Roman"/>
                <a:cs typeface="Times New Roman"/>
              </a:rPr>
              <a:t>Libraries</a:t>
            </a:r>
            <a:r>
              <a:rPr sz="1400" b="1" spc="-30" dirty="0">
                <a:latin typeface="Times New Roman"/>
                <a:cs typeface="Times New Roman"/>
              </a:rPr>
              <a:t> </a:t>
            </a:r>
            <a:r>
              <a:rPr sz="1400" b="1" dirty="0">
                <a:latin typeface="Times New Roman"/>
                <a:cs typeface="Times New Roman"/>
              </a:rPr>
              <a:t>and</a:t>
            </a:r>
            <a:r>
              <a:rPr sz="1400" b="1" spc="-35" dirty="0">
                <a:latin typeface="Times New Roman"/>
                <a:cs typeface="Times New Roman"/>
              </a:rPr>
              <a:t> </a:t>
            </a:r>
            <a:r>
              <a:rPr sz="1400" b="1" spc="-10" dirty="0">
                <a:latin typeface="Times New Roman"/>
                <a:cs typeface="Times New Roman"/>
              </a:rPr>
              <a:t>Frameworks.</a:t>
            </a:r>
            <a:endParaRPr sz="1400" dirty="0">
              <a:latin typeface="Times New Roman"/>
              <a:cs typeface="Times New Roman"/>
            </a:endParaRPr>
          </a:p>
          <a:p>
            <a:pPr marL="171450" indent="-171450">
              <a:buFont typeface="Arial" pitchFamily="34" charset="0"/>
              <a:buChar char="•"/>
            </a:pPr>
            <a:r>
              <a:rPr lang="en-US" sz="1200" b="1" dirty="0" smtClean="0"/>
              <a:t>Font</a:t>
            </a:r>
            <a:r>
              <a:rPr lang="en-US" b="1" dirty="0" smtClean="0"/>
              <a:t> </a:t>
            </a:r>
            <a:r>
              <a:rPr lang="en-US" sz="1200" b="1" dirty="0" smtClean="0">
                <a:latin typeface="Times New Roman" pitchFamily="18" charset="0"/>
                <a:cs typeface="Times New Roman" pitchFamily="18" charset="0"/>
              </a:rPr>
              <a:t>Awesome:</a:t>
            </a:r>
            <a:r>
              <a:rPr lang="en-US" sz="1200" dirty="0" smtClean="0">
                <a:latin typeface="Times New Roman" pitchFamily="18" charset="0"/>
                <a:cs typeface="Times New Roman" pitchFamily="18" charset="0"/>
              </a:rPr>
              <a:t> For icons used across the navigation bar and forms.</a:t>
            </a:r>
          </a:p>
          <a:p>
            <a:pPr marL="171450" indent="-171450">
              <a:buFont typeface="Arial" pitchFamily="34" charset="0"/>
              <a:buChar char="•"/>
            </a:pPr>
            <a:r>
              <a:rPr lang="en-US" sz="1200" b="1" dirty="0" smtClean="0">
                <a:latin typeface="Times New Roman" pitchFamily="18" charset="0"/>
                <a:cs typeface="Times New Roman" pitchFamily="18" charset="0"/>
              </a:rPr>
              <a:t>Google Fonts (Anton):</a:t>
            </a:r>
            <a:r>
              <a:rPr lang="en-US" sz="1200" dirty="0" smtClean="0">
                <a:latin typeface="Times New Roman" pitchFamily="18" charset="0"/>
                <a:cs typeface="Times New Roman" pitchFamily="18" charset="0"/>
              </a:rPr>
              <a:t> For typography enhancement.</a:t>
            </a:r>
          </a:p>
          <a:p>
            <a:pPr marL="171450" indent="-171450">
              <a:buFont typeface="Arial" pitchFamily="34" charset="0"/>
              <a:buChar char="•"/>
            </a:pPr>
            <a:r>
              <a:rPr lang="en-US" sz="1200" b="1" dirty="0" smtClean="0">
                <a:latin typeface="Times New Roman" pitchFamily="18" charset="0"/>
                <a:cs typeface="Times New Roman" pitchFamily="18" charset="0"/>
              </a:rPr>
              <a:t>CSS Animations and Hover Effects:</a:t>
            </a:r>
            <a:r>
              <a:rPr lang="en-US" sz="1200" dirty="0" smtClean="0">
                <a:latin typeface="Times New Roman" pitchFamily="18" charset="0"/>
                <a:cs typeface="Times New Roman" pitchFamily="18" charset="0"/>
              </a:rPr>
              <a:t> To enrich user interaction.</a:t>
            </a:r>
          </a:p>
          <a:p>
            <a:pPr lvl="2">
              <a:lnSpc>
                <a:spcPct val="100000"/>
              </a:lnSpc>
              <a:spcBef>
                <a:spcPts val="1310"/>
              </a:spcBef>
              <a:buFont typeface="Symbol"/>
              <a:buChar char=""/>
            </a:pPr>
            <a:endParaRPr sz="1200" dirty="0">
              <a:latin typeface="Times New Roman"/>
              <a:cs typeface="Times New Roman"/>
            </a:endParaRPr>
          </a:p>
          <a:p>
            <a:pPr marL="12700" lvl="1">
              <a:lnSpc>
                <a:spcPct val="100000"/>
              </a:lnSpc>
              <a:tabLst>
                <a:tab pos="278765" algn="l"/>
              </a:tabLst>
            </a:pPr>
            <a:r>
              <a:rPr lang="en-US" sz="1400" b="1" dirty="0" smtClean="0">
                <a:latin typeface="Times New Roman"/>
                <a:cs typeface="Times New Roman"/>
              </a:rPr>
              <a:t>5.  </a:t>
            </a:r>
            <a:r>
              <a:rPr sz="1400" b="1" dirty="0" smtClean="0">
                <a:latin typeface="Times New Roman"/>
                <a:cs typeface="Times New Roman"/>
              </a:rPr>
              <a:t>Development</a:t>
            </a:r>
            <a:r>
              <a:rPr sz="1400" b="1" spc="-45" dirty="0" smtClean="0">
                <a:latin typeface="Times New Roman"/>
                <a:cs typeface="Times New Roman"/>
              </a:rPr>
              <a:t> </a:t>
            </a:r>
            <a:r>
              <a:rPr sz="1400" b="1" spc="-10" dirty="0">
                <a:latin typeface="Times New Roman"/>
                <a:cs typeface="Times New Roman"/>
              </a:rPr>
              <a:t>Environment</a:t>
            </a:r>
            <a:r>
              <a:rPr sz="1400" b="1" spc="-10" dirty="0" smtClean="0">
                <a:latin typeface="Times New Roman"/>
                <a:cs typeface="Times New Roman"/>
              </a:rPr>
              <a:t>.</a:t>
            </a:r>
            <a:endParaRPr lang="en-US" sz="1400" b="1" spc="-10" dirty="0" smtClean="0">
              <a:latin typeface="Times New Roman"/>
              <a:cs typeface="Times New Roman"/>
            </a:endParaRPr>
          </a:p>
          <a:p>
            <a:pPr marL="12700" lvl="1">
              <a:lnSpc>
                <a:spcPct val="100000"/>
              </a:lnSpc>
              <a:tabLst>
                <a:tab pos="278765" algn="l"/>
              </a:tabLst>
            </a:pPr>
            <a:endParaRPr lang="en-US" sz="1400" b="1" spc="-1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MDN Web Docs, W3Schools, PHP Manual:</a:t>
            </a:r>
            <a:r>
              <a:rPr lang="en-US" sz="1200" dirty="0" smtClean="0">
                <a:latin typeface="Times New Roman" pitchFamily="18" charset="0"/>
                <a:cs typeface="Times New Roman" pitchFamily="18" charset="0"/>
              </a:rPr>
              <a:t> For official web standards reference.</a:t>
            </a:r>
          </a:p>
          <a:p>
            <a:pPr marL="171450" indent="-171450">
              <a:buFont typeface="Arial" pitchFamily="34" charset="0"/>
              <a:buChar char="•"/>
            </a:pPr>
            <a:r>
              <a:rPr lang="en-US" sz="1200" b="1" dirty="0" smtClean="0">
                <a:latin typeface="Times New Roman" pitchFamily="18" charset="0"/>
                <a:cs typeface="Times New Roman" pitchFamily="18" charset="0"/>
              </a:rPr>
              <a:t>YouTube Tutorials:</a:t>
            </a:r>
            <a:r>
              <a:rPr lang="en-US" sz="1200" dirty="0" smtClean="0">
                <a:latin typeface="Times New Roman" pitchFamily="18" charset="0"/>
                <a:cs typeface="Times New Roman" pitchFamily="18" charset="0"/>
              </a:rPr>
              <a:t> Practical coding tutorials (</a:t>
            </a:r>
            <a:r>
              <a:rPr lang="en-US" sz="1200" dirty="0" err="1" smtClean="0">
                <a:latin typeface="Times New Roman" pitchFamily="18" charset="0"/>
                <a:cs typeface="Times New Roman" pitchFamily="18" charset="0"/>
              </a:rPr>
              <a:t>CodeWithHarry</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Thapa</a:t>
            </a:r>
            <a:r>
              <a:rPr lang="en-US" sz="1200" dirty="0" smtClean="0">
                <a:latin typeface="Times New Roman" pitchFamily="18" charset="0"/>
                <a:cs typeface="Times New Roman" pitchFamily="18" charset="0"/>
              </a:rPr>
              <a:t> Technical).</a:t>
            </a:r>
          </a:p>
          <a:p>
            <a:pPr marL="171450" indent="-171450">
              <a:buFont typeface="Arial" pitchFamily="34" charset="0"/>
              <a:buChar char="•"/>
            </a:pPr>
            <a:r>
              <a:rPr lang="en-US" sz="1200" b="1" dirty="0" smtClean="0">
                <a:latin typeface="Times New Roman" pitchFamily="18" charset="0"/>
                <a:cs typeface="Times New Roman" pitchFamily="18" charset="0"/>
              </a:rPr>
              <a:t>Stack Overflow, </a:t>
            </a:r>
            <a:r>
              <a:rPr lang="en-US" sz="1200" b="1" dirty="0" err="1" smtClean="0">
                <a:latin typeface="Times New Roman" pitchFamily="18" charset="0"/>
                <a:cs typeface="Times New Roman" pitchFamily="18" charset="0"/>
              </a:rPr>
              <a:t>GitHub</a:t>
            </a:r>
            <a:r>
              <a:rPr lang="en-US" sz="1200" b="1" dirty="0" smtClean="0">
                <a:latin typeface="Times New Roman" pitchFamily="18" charset="0"/>
                <a:cs typeface="Times New Roman" pitchFamily="18" charset="0"/>
              </a:rPr>
              <a:t> Discussions:</a:t>
            </a:r>
            <a:r>
              <a:rPr lang="en-US" sz="1200" dirty="0" smtClean="0">
                <a:latin typeface="Times New Roman" pitchFamily="18" charset="0"/>
                <a:cs typeface="Times New Roman" pitchFamily="18" charset="0"/>
              </a:rPr>
              <a:t> Community support for troubleshooting and learning.</a:t>
            </a:r>
          </a:p>
          <a:p>
            <a:endParaRPr lang="en-US" sz="1200" dirty="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2.6 Getting Started with Development</a:t>
            </a:r>
          </a:p>
          <a:p>
            <a:pPr marL="171450" indent="-171450">
              <a:buFont typeface="Arial" pitchFamily="34" charset="0"/>
              <a:buChar char="•"/>
            </a:pPr>
            <a:r>
              <a:rPr lang="en-US" sz="1200" dirty="0" smtClean="0">
                <a:latin typeface="Times New Roman" pitchFamily="18" charset="0"/>
                <a:cs typeface="Times New Roman" pitchFamily="18" charset="0"/>
              </a:rPr>
              <a:t>Install </a:t>
            </a:r>
            <a:r>
              <a:rPr lang="en-US" sz="1200" b="1" dirty="0" smtClean="0">
                <a:latin typeface="Times New Roman" pitchFamily="18" charset="0"/>
                <a:cs typeface="Times New Roman" pitchFamily="18" charset="0"/>
              </a:rPr>
              <a:t>XAMPP</a:t>
            </a:r>
            <a:r>
              <a:rPr lang="en-US" sz="1200" dirty="0" smtClean="0">
                <a:latin typeface="Times New Roman" pitchFamily="18" charset="0"/>
                <a:cs typeface="Times New Roman" pitchFamily="18" charset="0"/>
              </a:rPr>
              <a:t> for server setup.</a:t>
            </a:r>
          </a:p>
          <a:p>
            <a:pPr marL="171450" indent="-171450">
              <a:buFont typeface="Arial" pitchFamily="34" charset="0"/>
              <a:buChar char="•"/>
            </a:pPr>
            <a:r>
              <a:rPr lang="en-US" sz="1200" dirty="0" smtClean="0">
                <a:latin typeface="Times New Roman" pitchFamily="18" charset="0"/>
                <a:cs typeface="Times New Roman" pitchFamily="18" charset="0"/>
              </a:rPr>
              <a:t>Install </a:t>
            </a:r>
            <a:r>
              <a:rPr lang="en-US" sz="1200" b="1" dirty="0" smtClean="0">
                <a:latin typeface="Times New Roman" pitchFamily="18" charset="0"/>
                <a:cs typeface="Times New Roman" pitchFamily="18" charset="0"/>
              </a:rPr>
              <a:t>Visual Studio Code</a:t>
            </a:r>
            <a:r>
              <a:rPr lang="en-US" sz="1200" dirty="0" smtClean="0">
                <a:latin typeface="Times New Roman" pitchFamily="18" charset="0"/>
                <a:cs typeface="Times New Roman" pitchFamily="18" charset="0"/>
              </a:rPr>
              <a:t> for code editing.</a:t>
            </a:r>
          </a:p>
          <a:p>
            <a:pPr marL="171450" indent="-171450">
              <a:buFont typeface="Arial" pitchFamily="34" charset="0"/>
              <a:buChar char="•"/>
            </a:pPr>
            <a:r>
              <a:rPr lang="en-US" sz="1200" dirty="0" smtClean="0">
                <a:latin typeface="Times New Roman" pitchFamily="18" charset="0"/>
                <a:cs typeface="Times New Roman" pitchFamily="18" charset="0"/>
              </a:rPr>
              <a:t>Create project directories for HTML, CSS, JS, PHP, and MySQL database.</a:t>
            </a:r>
          </a:p>
          <a:p>
            <a:pPr marL="171450" indent="-171450">
              <a:buFont typeface="Arial" pitchFamily="34" charset="0"/>
              <a:buChar char="•"/>
            </a:pPr>
            <a:r>
              <a:rPr lang="en-US" sz="1200" dirty="0" smtClean="0">
                <a:latin typeface="Times New Roman" pitchFamily="18" charset="0"/>
                <a:cs typeface="Times New Roman" pitchFamily="18" charset="0"/>
              </a:rPr>
              <a:t>Begin developing frontend interfaces and backend scripts.</a:t>
            </a:r>
          </a:p>
          <a:p>
            <a:pPr marL="68580">
              <a:lnSpc>
                <a:spcPts val="1380"/>
              </a:lnSpc>
            </a:pPr>
            <a:endParaRPr lang="en-US" sz="1200" dirty="0" smtClean="0">
              <a:latin typeface="Times New Roman" pitchFamily="18" charset="0"/>
              <a:cs typeface="Times New Roman" pitchFamily="18" charset="0"/>
            </a:endParaRPr>
          </a:p>
          <a:p>
            <a:pPr marL="171450" indent="-171450">
              <a:buFont typeface="Arial" pitchFamily="34" charset="0"/>
              <a:buChar char="•"/>
            </a:pPr>
            <a:endParaRPr lang="en-US" sz="1200" dirty="0" smtClean="0">
              <a:latin typeface="Times New Roman" pitchFamily="18" charset="0"/>
              <a:cs typeface="Times New Roman" pitchFamily="18" charset="0"/>
            </a:endParaRPr>
          </a:p>
          <a:p>
            <a:pPr marL="278765" lvl="1" indent="-266065">
              <a:lnSpc>
                <a:spcPct val="100000"/>
              </a:lnSpc>
              <a:buAutoNum type="arabicPeriod" startAt="3"/>
              <a:tabLst>
                <a:tab pos="278765" algn="l"/>
              </a:tabLst>
            </a:pPr>
            <a:endParaRPr sz="1400" dirty="0">
              <a:latin typeface="Times New Roman"/>
              <a:cs typeface="Times New Roman"/>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16</a:t>
            </a:fld>
            <a:r>
              <a:rPr spc="-20"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25650" y="7251700"/>
            <a:ext cx="2667000" cy="2468145"/>
          </a:xfrm>
          <a:prstGeom prst="rect">
            <a:avLst/>
          </a:prstGeom>
        </p:spPr>
      </p:pic>
      <p:sp>
        <p:nvSpPr>
          <p:cNvPr id="5" name="TextBox 4"/>
          <p:cNvSpPr txBox="1"/>
          <p:nvPr/>
        </p:nvSpPr>
        <p:spPr>
          <a:xfrm>
            <a:off x="1568450" y="9918700"/>
            <a:ext cx="4572000" cy="553998"/>
          </a:xfrm>
          <a:prstGeom prst="rect">
            <a:avLst/>
          </a:prstGeom>
          <a:noFill/>
        </p:spPr>
        <p:txBody>
          <a:bodyPr wrap="square" rtlCol="0">
            <a:spAutoFit/>
          </a:bodyPr>
          <a:lstStyle/>
          <a:p>
            <a:r>
              <a:rPr lang="en-US" sz="1200" u="sng" dirty="0" smtClean="0">
                <a:uFill>
                  <a:solidFill>
                    <a:srgbClr val="000000"/>
                  </a:solidFill>
                </a:uFill>
                <a:latin typeface="Times New Roman"/>
                <a:cs typeface="Times New Roman"/>
              </a:rPr>
              <a:t>Table</a:t>
            </a:r>
            <a:r>
              <a:rPr lang="en-US" sz="1200" u="sng" spc="-25" dirty="0" smtClean="0">
                <a:uFill>
                  <a:solidFill>
                    <a:srgbClr val="000000"/>
                  </a:solidFill>
                </a:uFill>
                <a:latin typeface="Times New Roman"/>
                <a:cs typeface="Times New Roman"/>
              </a:rPr>
              <a:t> </a:t>
            </a:r>
            <a:r>
              <a:rPr lang="en-US" sz="1200" u="sng" dirty="0">
                <a:uFill>
                  <a:solidFill>
                    <a:srgbClr val="000000"/>
                  </a:solidFill>
                </a:uFill>
                <a:latin typeface="Times New Roman"/>
                <a:cs typeface="Times New Roman"/>
              </a:rPr>
              <a:t>2</a:t>
            </a:r>
            <a:r>
              <a:rPr lang="en-US" sz="1200" u="sng" dirty="0" smtClean="0">
                <a:uFill>
                  <a:solidFill>
                    <a:srgbClr val="000000"/>
                  </a:solidFill>
                </a:uFill>
                <a:latin typeface="Times New Roman"/>
                <a:cs typeface="Times New Roman"/>
              </a:rPr>
              <a:t>.1.1:</a:t>
            </a:r>
            <a:r>
              <a:rPr lang="en-US" sz="1200" u="sng" spc="-20" dirty="0" smtClean="0">
                <a:uFill>
                  <a:solidFill>
                    <a:srgbClr val="000000"/>
                  </a:solidFill>
                </a:uFill>
                <a:latin typeface="Times New Roman"/>
                <a:cs typeface="Times New Roman"/>
              </a:rPr>
              <a:t> </a:t>
            </a:r>
            <a:r>
              <a:rPr lang="en-US" sz="1200" u="sng" dirty="0" smtClean="0">
                <a:uFill>
                  <a:solidFill>
                    <a:srgbClr val="000000"/>
                  </a:solidFill>
                </a:uFill>
                <a:latin typeface="Times New Roman"/>
                <a:cs typeface="Times New Roman"/>
              </a:rPr>
              <a:t>Website flowchart</a:t>
            </a:r>
            <a:r>
              <a:rPr lang="en-US" sz="1200" u="sng" spc="-20" dirty="0" smtClean="0">
                <a:uFill>
                  <a:solidFill>
                    <a:srgbClr val="000000"/>
                  </a:solidFill>
                </a:uFill>
                <a:latin typeface="Times New Roman"/>
                <a:cs typeface="Times New Roman"/>
              </a:rPr>
              <a:t>.</a:t>
            </a:r>
            <a:endParaRPr lang="en-US" sz="1200" dirty="0" smtClean="0">
              <a:latin typeface="Times New Roman"/>
              <a:cs typeface="Times New Roman"/>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17</a:t>
            </a:fld>
            <a:r>
              <a:rPr spc="-20" dirty="0"/>
              <a:t>]</a:t>
            </a:r>
          </a:p>
        </p:txBody>
      </p:sp>
      <p:sp>
        <p:nvSpPr>
          <p:cNvPr id="2" name="object 2"/>
          <p:cNvSpPr txBox="1"/>
          <p:nvPr/>
        </p:nvSpPr>
        <p:spPr>
          <a:xfrm>
            <a:off x="528319" y="369823"/>
            <a:ext cx="6649720" cy="1905009"/>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3</a:t>
            </a:r>
            <a:endParaRPr sz="1600" dirty="0">
              <a:latin typeface="Times New Roman"/>
              <a:cs typeface="Times New Roman"/>
            </a:endParaRPr>
          </a:p>
          <a:p>
            <a:pPr>
              <a:lnSpc>
                <a:spcPct val="100000"/>
              </a:lnSpc>
              <a:spcBef>
                <a:spcPts val="1780"/>
              </a:spcBef>
            </a:pPr>
            <a:endParaRPr sz="1600" dirty="0">
              <a:latin typeface="Times New Roman"/>
              <a:cs typeface="Times New Roman"/>
            </a:endParaRPr>
          </a:p>
          <a:p>
            <a:pPr marL="12700" algn="just">
              <a:lnSpc>
                <a:spcPct val="100000"/>
              </a:lnSpc>
            </a:pPr>
            <a:r>
              <a:rPr sz="1400" b="1" dirty="0">
                <a:latin typeface="Times New Roman"/>
                <a:cs typeface="Times New Roman"/>
              </a:rPr>
              <a:t>3.1</a:t>
            </a:r>
            <a:r>
              <a:rPr sz="1400" b="1" spc="-10" dirty="0">
                <a:latin typeface="Times New Roman"/>
                <a:cs typeface="Times New Roman"/>
              </a:rPr>
              <a:t> </a:t>
            </a:r>
            <a:r>
              <a:rPr sz="1400" b="1" dirty="0">
                <a:latin typeface="Times New Roman"/>
                <a:cs typeface="Times New Roman"/>
              </a:rPr>
              <a:t>System</a:t>
            </a:r>
            <a:r>
              <a:rPr sz="1400" b="1" spc="-25" dirty="0">
                <a:latin typeface="Times New Roman"/>
                <a:cs typeface="Times New Roman"/>
              </a:rPr>
              <a:t> </a:t>
            </a:r>
            <a:r>
              <a:rPr sz="1400" b="1" spc="-10" dirty="0">
                <a:latin typeface="Times New Roman"/>
                <a:cs typeface="Times New Roman"/>
              </a:rPr>
              <a:t>Requirements</a:t>
            </a:r>
            <a:r>
              <a:rPr sz="1400" b="1" spc="-10" dirty="0" smtClean="0">
                <a:latin typeface="Times New Roman"/>
                <a:cs typeface="Times New Roman"/>
              </a:rPr>
              <a:t>.</a:t>
            </a:r>
            <a:r>
              <a:rPr lang="en-US" sz="1400" dirty="0" smtClean="0"/>
              <a:t> </a:t>
            </a:r>
          </a:p>
          <a:p>
            <a:pPr marL="12700" algn="just">
              <a:lnSpc>
                <a:spcPct val="100000"/>
              </a:lnSpc>
            </a:pPr>
            <a:endParaRPr lang="en-US" sz="1400" dirty="0"/>
          </a:p>
          <a:p>
            <a:pPr marL="12700" algn="just">
              <a:lnSpc>
                <a:spcPct val="100000"/>
              </a:lnSpc>
            </a:pPr>
            <a:r>
              <a:rPr lang="en-US" sz="1200" dirty="0" smtClean="0">
                <a:latin typeface="Times New Roman" pitchFamily="18" charset="0"/>
                <a:cs typeface="Times New Roman" pitchFamily="18" charset="0"/>
              </a:rPr>
              <a:t>To successfully deploy and operate the </a:t>
            </a:r>
            <a:r>
              <a:rPr lang="en-US" sz="1200" b="1" dirty="0" smtClean="0">
                <a:latin typeface="Times New Roman" pitchFamily="18" charset="0"/>
                <a:cs typeface="Times New Roman" pitchFamily="18" charset="0"/>
              </a:rPr>
              <a:t>Fitness Freak Gym Website</a:t>
            </a:r>
            <a:r>
              <a:rPr lang="en-US" sz="1200" dirty="0" smtClean="0">
                <a:latin typeface="Times New Roman" pitchFamily="18" charset="0"/>
                <a:cs typeface="Times New Roman" pitchFamily="18" charset="0"/>
              </a:rPr>
              <a:t>, certain hardware and software requirements must be met to ensure optimal functionality and performance. The website is built using standard web technologies including HTML, CSS, JavaScript, PHP, and MySQL, and is intended to run on a local or remote web server environment.</a:t>
            </a:r>
            <a:endParaRPr sz="1200" dirty="0">
              <a:latin typeface="Times New Roman" pitchFamily="18" charset="0"/>
              <a:cs typeface="Times New Roman" pitchFamily="18" charset="0"/>
            </a:endParaRPr>
          </a:p>
        </p:txBody>
      </p:sp>
      <p:graphicFrame>
        <p:nvGraphicFramePr>
          <p:cNvPr id="3" name="object 3"/>
          <p:cNvGraphicFramePr>
            <a:graphicFrameLocks noGrp="1"/>
          </p:cNvGraphicFramePr>
          <p:nvPr>
            <p:extLst>
              <p:ext uri="{D42A27DB-BD31-4B8C-83A1-F6EECF244321}">
                <p14:modId xmlns:p14="http://schemas.microsoft.com/office/powerpoint/2010/main" val="3556620003"/>
              </p:ext>
            </p:extLst>
          </p:nvPr>
        </p:nvGraphicFramePr>
        <p:xfrm>
          <a:off x="425450" y="2984500"/>
          <a:ext cx="6612254" cy="3399790"/>
        </p:xfrm>
        <a:graphic>
          <a:graphicData uri="http://schemas.openxmlformats.org/drawingml/2006/table">
            <a:tbl>
              <a:tblPr firstRow="1" bandRow="1">
                <a:tableStyleId>{2D5ABB26-0587-4C30-8999-92F81FD0307C}</a:tableStyleId>
              </a:tblPr>
              <a:tblGrid>
                <a:gridCol w="1694814"/>
                <a:gridCol w="4917440"/>
              </a:tblGrid>
              <a:tr h="0">
                <a:tc>
                  <a:txBody>
                    <a:bodyPr/>
                    <a:lstStyle/>
                    <a:p>
                      <a:pPr marL="68580">
                        <a:lnSpc>
                          <a:spcPct val="100000"/>
                        </a:lnSpc>
                        <a:spcBef>
                          <a:spcPts val="315"/>
                        </a:spcBef>
                      </a:pPr>
                      <a:r>
                        <a:rPr sz="1400" b="1" spc="-10" dirty="0">
                          <a:latin typeface="Times New Roman"/>
                          <a:cs typeface="Times New Roman"/>
                        </a:rPr>
                        <a:t>Category</a:t>
                      </a:r>
                      <a:endParaRPr sz="1400" dirty="0">
                        <a:latin typeface="Times New Roman"/>
                        <a:cs typeface="Times New Roman"/>
                      </a:endParaRPr>
                    </a:p>
                  </a:txBody>
                  <a:tcPr marL="0" marR="0" marT="400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15"/>
                        </a:spcBef>
                      </a:pPr>
                      <a:r>
                        <a:rPr sz="1400" b="1" spc="-10" dirty="0">
                          <a:latin typeface="Times New Roman"/>
                          <a:cs typeface="Times New Roman"/>
                        </a:rPr>
                        <a:t>Requirement</a:t>
                      </a:r>
                      <a:endParaRPr sz="1400">
                        <a:latin typeface="Times New Roman"/>
                        <a:cs typeface="Times New Roman"/>
                      </a:endParaRPr>
                    </a:p>
                  </a:txBody>
                  <a:tcPr marL="0" marR="0" marT="400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53060">
                <a:tc>
                  <a:txBody>
                    <a:bodyPr/>
                    <a:lstStyle/>
                    <a:p>
                      <a:pPr marL="68580">
                        <a:lnSpc>
                          <a:spcPct val="100000"/>
                        </a:lnSpc>
                        <a:spcBef>
                          <a:spcPts val="275"/>
                        </a:spcBef>
                      </a:pPr>
                      <a:r>
                        <a:rPr sz="1200" b="1" dirty="0">
                          <a:latin typeface="Times New Roman"/>
                          <a:cs typeface="Times New Roman"/>
                        </a:rPr>
                        <a:t>Operating</a:t>
                      </a:r>
                      <a:r>
                        <a:rPr sz="1200" b="1" spc="-20"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a:txBody>
                  <a:tcPr marL="0" marR="0" marT="349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lang="en-US" sz="1200" dirty="0" smtClean="0"/>
                        <a:t>Windows 10 or later / </a:t>
                      </a:r>
                      <a:r>
                        <a:rPr lang="en-US" sz="1200" dirty="0" err="1" smtClean="0"/>
                        <a:t>macOS</a:t>
                      </a:r>
                      <a:r>
                        <a:rPr lang="en-US" sz="1200" dirty="0" smtClean="0"/>
                        <a:t> 10.12 or later / Modern Linux Distribution</a:t>
                      </a:r>
                      <a:r>
                        <a:rPr sz="1200" spc="-10" dirty="0" smtClean="0">
                          <a:latin typeface="Times New Roman"/>
                          <a:cs typeface="Times New Roman"/>
                        </a:rPr>
                        <a: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59410">
                <a:tc>
                  <a:txBody>
                    <a:bodyPr/>
                    <a:lstStyle/>
                    <a:p>
                      <a:pPr marL="68580">
                        <a:lnSpc>
                          <a:spcPct val="100000"/>
                        </a:lnSpc>
                        <a:spcBef>
                          <a:spcPts val="300"/>
                        </a:spcBef>
                      </a:pPr>
                      <a:r>
                        <a:rPr lang="en-US" sz="1200" b="1" dirty="0" smtClean="0">
                          <a:latin typeface="Times New Roman"/>
                          <a:cs typeface="Times New Roman"/>
                        </a:rPr>
                        <a:t>Web</a:t>
                      </a:r>
                      <a:r>
                        <a:rPr lang="en-US" sz="1200" b="1" baseline="0" dirty="0" smtClean="0">
                          <a:latin typeface="Times New Roman"/>
                          <a:cs typeface="Times New Roman"/>
                        </a:rPr>
                        <a:t> server</a:t>
                      </a:r>
                      <a:endParaRPr sz="1200" b="1" dirty="0">
                        <a:latin typeface="Times New Roman"/>
                        <a:cs typeface="Times New Roman"/>
                      </a:endParaRPr>
                    </a:p>
                  </a:txBody>
                  <a:tcPr marL="0" marR="0" marT="381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lang="en-US" sz="1200" dirty="0" smtClean="0"/>
                        <a:t>Apache (recommended via XAMPP, WAMP, LAMP or similar)</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64490">
                <a:tc>
                  <a:txBody>
                    <a:bodyPr/>
                    <a:lstStyle/>
                    <a:p>
                      <a:pPr marL="68580">
                        <a:lnSpc>
                          <a:spcPct val="100000"/>
                        </a:lnSpc>
                        <a:spcBef>
                          <a:spcPts val="315"/>
                        </a:spcBef>
                      </a:pPr>
                      <a:r>
                        <a:rPr sz="1200" b="1" spc="-25" dirty="0" smtClean="0">
                          <a:latin typeface="Times New Roman"/>
                          <a:cs typeface="Times New Roman"/>
                        </a:rPr>
                        <a:t>RAM</a:t>
                      </a:r>
                      <a:endParaRPr sz="1200" dirty="0">
                        <a:latin typeface="Times New Roman"/>
                        <a:cs typeface="Times New Roman"/>
                      </a:endParaRPr>
                    </a:p>
                  </a:txBody>
                  <a:tcPr marL="0" marR="0" marT="400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smtClean="0">
                          <a:latin typeface="Times New Roman"/>
                          <a:cs typeface="Times New Roman"/>
                        </a:rPr>
                        <a:t>Minimum:</a:t>
                      </a:r>
                      <a:r>
                        <a:rPr sz="1200" spc="-10" dirty="0" smtClean="0">
                          <a:latin typeface="Times New Roman"/>
                          <a:cs typeface="Times New Roman"/>
                        </a:rPr>
                        <a:t> </a:t>
                      </a:r>
                      <a:r>
                        <a:rPr sz="1200" dirty="0" smtClean="0">
                          <a:latin typeface="Times New Roman"/>
                          <a:cs typeface="Times New Roman"/>
                        </a:rPr>
                        <a:t>4</a:t>
                      </a:r>
                      <a:r>
                        <a:rPr sz="1200" spc="-5" dirty="0" smtClean="0">
                          <a:latin typeface="Times New Roman"/>
                          <a:cs typeface="Times New Roman"/>
                        </a:rPr>
                        <a:t> </a:t>
                      </a:r>
                      <a:r>
                        <a:rPr sz="1200" dirty="0" smtClean="0">
                          <a:latin typeface="Times New Roman"/>
                          <a:cs typeface="Times New Roman"/>
                        </a:rPr>
                        <a:t>GB;</a:t>
                      </a:r>
                      <a:r>
                        <a:rPr sz="1200" spc="-10" dirty="0" smtClean="0">
                          <a:latin typeface="Times New Roman"/>
                          <a:cs typeface="Times New Roman"/>
                        </a:rPr>
                        <a:t> Recommended:</a:t>
                      </a:r>
                      <a:r>
                        <a:rPr sz="1200" spc="-5" dirty="0" smtClean="0">
                          <a:latin typeface="Times New Roman"/>
                          <a:cs typeface="Times New Roman"/>
                        </a:rPr>
                        <a:t> </a:t>
                      </a:r>
                      <a:r>
                        <a:rPr sz="1200" dirty="0" smtClean="0">
                          <a:latin typeface="Times New Roman"/>
                          <a:cs typeface="Times New Roman"/>
                        </a:rPr>
                        <a:t>8</a:t>
                      </a:r>
                      <a:r>
                        <a:rPr sz="1200" spc="-5" dirty="0" smtClean="0">
                          <a:latin typeface="Times New Roman"/>
                          <a:cs typeface="Times New Roman"/>
                        </a:rPr>
                        <a:t> </a:t>
                      </a:r>
                      <a:r>
                        <a:rPr sz="1200" dirty="0" smtClean="0">
                          <a:latin typeface="Times New Roman"/>
                          <a:cs typeface="Times New Roman"/>
                        </a:rPr>
                        <a:t>GB</a:t>
                      </a:r>
                      <a:r>
                        <a:rPr sz="1200" spc="-5" dirty="0" smtClean="0">
                          <a:latin typeface="Times New Roman"/>
                          <a:cs typeface="Times New Roman"/>
                        </a:rPr>
                        <a:t> </a:t>
                      </a:r>
                      <a:r>
                        <a:rPr sz="1200" dirty="0" smtClean="0">
                          <a:latin typeface="Times New Roman"/>
                          <a:cs typeface="Times New Roman"/>
                        </a:rPr>
                        <a:t>or</a:t>
                      </a:r>
                      <a:r>
                        <a:rPr sz="1200" spc="-5" dirty="0" smtClean="0">
                          <a:latin typeface="Times New Roman"/>
                          <a:cs typeface="Times New Roman"/>
                        </a:rPr>
                        <a:t> </a:t>
                      </a:r>
                      <a:r>
                        <a:rPr sz="1200" spc="-20" dirty="0" smtClean="0">
                          <a:latin typeface="Times New Roman"/>
                          <a:cs typeface="Times New Roman"/>
                        </a:rPr>
                        <a:t>more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8580">
                        <a:lnSpc>
                          <a:spcPct val="100000"/>
                        </a:lnSpc>
                        <a:spcBef>
                          <a:spcPts val="969"/>
                        </a:spcBef>
                      </a:pPr>
                      <a:r>
                        <a:rPr sz="1200" b="1" spc="-10" dirty="0" smtClean="0">
                          <a:latin typeface="Times New Roman"/>
                          <a:cs typeface="Times New Roman"/>
                        </a:rPr>
                        <a:t>Processor</a:t>
                      </a:r>
                      <a:endParaRPr sz="1200" dirty="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Minimum:</a:t>
                      </a:r>
                      <a:r>
                        <a:rPr sz="1200" spc="-20" dirty="0">
                          <a:latin typeface="Times New Roman"/>
                          <a:cs typeface="Times New Roman"/>
                        </a:rPr>
                        <a:t> </a:t>
                      </a:r>
                      <a:r>
                        <a:rPr sz="1200" spc="-10" dirty="0">
                          <a:latin typeface="Times New Roman"/>
                          <a:cs typeface="Times New Roman"/>
                        </a:rPr>
                        <a:t>Dual-</a:t>
                      </a:r>
                      <a:r>
                        <a:rPr sz="1200" dirty="0">
                          <a:latin typeface="Times New Roman"/>
                          <a:cs typeface="Times New Roman"/>
                        </a:rPr>
                        <a:t>core</a:t>
                      </a:r>
                      <a:r>
                        <a:rPr sz="1200" spc="-35" dirty="0">
                          <a:latin typeface="Times New Roman"/>
                          <a:cs typeface="Times New Roman"/>
                        </a:rPr>
                        <a:t> </a:t>
                      </a:r>
                      <a:r>
                        <a:rPr sz="1200" dirty="0">
                          <a:latin typeface="Times New Roman"/>
                          <a:cs typeface="Times New Roman"/>
                        </a:rPr>
                        <a:t>processor</a:t>
                      </a:r>
                      <a:r>
                        <a:rPr sz="1200" spc="-25" dirty="0">
                          <a:latin typeface="Times New Roman"/>
                          <a:cs typeface="Times New Roman"/>
                        </a:rPr>
                        <a:t> </a:t>
                      </a:r>
                      <a:r>
                        <a:rPr sz="1200" dirty="0">
                          <a:latin typeface="Times New Roman"/>
                          <a:cs typeface="Times New Roman"/>
                        </a:rPr>
                        <a:t>(Intel</a:t>
                      </a:r>
                      <a:r>
                        <a:rPr sz="1200" spc="-20" dirty="0">
                          <a:latin typeface="Times New Roman"/>
                          <a:cs typeface="Times New Roman"/>
                        </a:rPr>
                        <a:t> </a:t>
                      </a:r>
                      <a:r>
                        <a:rPr sz="1200" dirty="0">
                          <a:latin typeface="Times New Roman"/>
                          <a:cs typeface="Times New Roman"/>
                        </a:rPr>
                        <a:t>i3</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equivalent);</a:t>
                      </a:r>
                      <a:r>
                        <a:rPr sz="1200" spc="-25" dirty="0">
                          <a:latin typeface="Times New Roman"/>
                          <a:cs typeface="Times New Roman"/>
                        </a:rPr>
                        <a:t> </a:t>
                      </a:r>
                      <a:r>
                        <a:rPr sz="1200" spc="-10" dirty="0">
                          <a:latin typeface="Times New Roman"/>
                          <a:cs typeface="Times New Roman"/>
                        </a:rPr>
                        <a:t>Recommended:</a:t>
                      </a:r>
                      <a:r>
                        <a:rPr sz="1200" spc="-20" dirty="0">
                          <a:latin typeface="Times New Roman"/>
                          <a:cs typeface="Times New Roman"/>
                        </a:rPr>
                        <a:t> </a:t>
                      </a:r>
                      <a:r>
                        <a:rPr sz="1200" spc="-10" dirty="0">
                          <a:latin typeface="Times New Roman"/>
                          <a:cs typeface="Times New Roman"/>
                        </a:rPr>
                        <a:t>Quad-</a:t>
                      </a:r>
                      <a:endParaRPr sz="1200">
                        <a:latin typeface="Times New Roman"/>
                        <a:cs typeface="Times New Roman"/>
                      </a:endParaRPr>
                    </a:p>
                    <a:p>
                      <a:pPr marL="68580">
                        <a:lnSpc>
                          <a:spcPct val="100000"/>
                        </a:lnSpc>
                        <a:spcBef>
                          <a:spcPts val="635"/>
                        </a:spcBef>
                      </a:pPr>
                      <a:r>
                        <a:rPr sz="1200" dirty="0">
                          <a:latin typeface="Times New Roman"/>
                          <a:cs typeface="Times New Roman"/>
                        </a:rPr>
                        <a:t>core</a:t>
                      </a:r>
                      <a:r>
                        <a:rPr sz="1200" spc="-30" dirty="0">
                          <a:latin typeface="Times New Roman"/>
                          <a:cs typeface="Times New Roman"/>
                        </a:rPr>
                        <a:t> </a:t>
                      </a:r>
                      <a:r>
                        <a:rPr sz="1200" dirty="0">
                          <a:latin typeface="Times New Roman"/>
                          <a:cs typeface="Times New Roman"/>
                        </a:rPr>
                        <a:t>processor</a:t>
                      </a:r>
                      <a:r>
                        <a:rPr sz="1200" spc="-20" dirty="0">
                          <a:latin typeface="Times New Roman"/>
                          <a:cs typeface="Times New Roman"/>
                        </a:rPr>
                        <a:t> </a:t>
                      </a:r>
                      <a:r>
                        <a:rPr sz="1200" dirty="0">
                          <a:latin typeface="Times New Roman"/>
                          <a:cs typeface="Times New Roman"/>
                        </a:rPr>
                        <a:t>(Intel</a:t>
                      </a:r>
                      <a:r>
                        <a:rPr sz="1200" spc="-20" dirty="0">
                          <a:latin typeface="Times New Roman"/>
                          <a:cs typeface="Times New Roman"/>
                        </a:rPr>
                        <a:t> </a:t>
                      </a:r>
                      <a:r>
                        <a:rPr sz="1200" dirty="0">
                          <a:latin typeface="Times New Roman"/>
                          <a:cs typeface="Times New Roman"/>
                        </a:rPr>
                        <a:t>i5</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equivalent)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68300">
                <a:tc>
                  <a:txBody>
                    <a:bodyPr/>
                    <a:lstStyle/>
                    <a:p>
                      <a:pPr marL="68580">
                        <a:lnSpc>
                          <a:spcPct val="100000"/>
                        </a:lnSpc>
                        <a:spcBef>
                          <a:spcPts val="335"/>
                        </a:spcBef>
                      </a:pPr>
                      <a:r>
                        <a:rPr sz="1200" b="1" spc="-10" dirty="0">
                          <a:latin typeface="Times New Roman"/>
                          <a:cs typeface="Times New Roman"/>
                        </a:rPr>
                        <a:t>Storage</a:t>
                      </a:r>
                      <a:endParaRPr sz="1200" dirty="0">
                        <a:latin typeface="Times New Roman"/>
                        <a:cs typeface="Times New Roman"/>
                      </a:endParaRPr>
                    </a:p>
                  </a:txBody>
                  <a:tcPr marL="0" marR="0" marT="425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Minimum:</a:t>
                      </a:r>
                      <a:r>
                        <a:rPr sz="1200" spc="-15" dirty="0">
                          <a:latin typeface="Times New Roman"/>
                          <a:cs typeface="Times New Roman"/>
                        </a:rPr>
                        <a:t> </a:t>
                      </a:r>
                      <a:r>
                        <a:rPr sz="1200" dirty="0">
                          <a:latin typeface="Times New Roman"/>
                          <a:cs typeface="Times New Roman"/>
                        </a:rPr>
                        <a:t>100</a:t>
                      </a:r>
                      <a:r>
                        <a:rPr sz="1200" spc="-10" dirty="0">
                          <a:latin typeface="Times New Roman"/>
                          <a:cs typeface="Times New Roman"/>
                        </a:rPr>
                        <a:t> </a:t>
                      </a:r>
                      <a:r>
                        <a:rPr sz="1200" dirty="0">
                          <a:latin typeface="Times New Roman"/>
                          <a:cs typeface="Times New Roman"/>
                        </a:rPr>
                        <a:t>MB</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free</a:t>
                      </a:r>
                      <a:r>
                        <a:rPr sz="1200" spc="-15" dirty="0">
                          <a:latin typeface="Times New Roman"/>
                          <a:cs typeface="Times New Roman"/>
                        </a:rPr>
                        <a:t> </a:t>
                      </a:r>
                      <a:r>
                        <a:rPr sz="1200" dirty="0">
                          <a:latin typeface="Times New Roman"/>
                          <a:cs typeface="Times New Roman"/>
                        </a:rPr>
                        <a:t>disk</a:t>
                      </a:r>
                      <a:r>
                        <a:rPr sz="1200" spc="-10" dirty="0">
                          <a:latin typeface="Times New Roman"/>
                          <a:cs typeface="Times New Roman"/>
                        </a:rPr>
                        <a:t> </a:t>
                      </a:r>
                      <a:r>
                        <a:rPr sz="1200" dirty="0">
                          <a:latin typeface="Times New Roman"/>
                          <a:cs typeface="Times New Roman"/>
                        </a:rPr>
                        <a:t>space;</a:t>
                      </a:r>
                      <a:r>
                        <a:rPr sz="1200" spc="-10" dirty="0">
                          <a:latin typeface="Times New Roman"/>
                          <a:cs typeface="Times New Roman"/>
                        </a:rPr>
                        <a:t> Recommended:</a:t>
                      </a:r>
                      <a:r>
                        <a:rPr sz="1200" spc="-15" dirty="0">
                          <a:latin typeface="Times New Roman"/>
                          <a:cs typeface="Times New Roman"/>
                        </a:rPr>
                        <a:t>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GB</a:t>
                      </a:r>
                      <a:r>
                        <a:rPr sz="1200" spc="-10"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spc="-20" dirty="0">
                          <a:latin typeface="Times New Roman"/>
                          <a:cs typeface="Times New Roman"/>
                        </a:rPr>
                        <a:t>more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8580">
                        <a:lnSpc>
                          <a:spcPct val="100000"/>
                        </a:lnSpc>
                        <a:spcBef>
                          <a:spcPts val="969"/>
                        </a:spcBef>
                      </a:pPr>
                      <a:r>
                        <a:rPr sz="1200" b="1" dirty="0">
                          <a:latin typeface="Times New Roman"/>
                          <a:cs typeface="Times New Roman"/>
                        </a:rPr>
                        <a:t>Internet</a:t>
                      </a:r>
                      <a:r>
                        <a:rPr sz="1200" b="1" spc="-45" dirty="0">
                          <a:latin typeface="Times New Roman"/>
                          <a:cs typeface="Times New Roman"/>
                        </a:rPr>
                        <a:t> </a:t>
                      </a:r>
                      <a:r>
                        <a:rPr sz="1200" b="1" spc="-10" dirty="0">
                          <a:latin typeface="Times New Roman"/>
                          <a:cs typeface="Times New Roman"/>
                        </a:rPr>
                        <a:t>Connection</a:t>
                      </a:r>
                      <a:endParaRPr sz="1200" dirty="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spc="-10" dirty="0" smtClean="0">
                          <a:latin typeface="Times New Roman"/>
                          <a:cs typeface="Times New Roman"/>
                        </a:rPr>
                        <a:t>Required</a:t>
                      </a:r>
                      <a:r>
                        <a:rPr sz="1200" spc="-25" dirty="0" smtClean="0">
                          <a:latin typeface="Times New Roman"/>
                          <a:cs typeface="Times New Roman"/>
                        </a:rPr>
                        <a:t> </a:t>
                      </a:r>
                      <a:r>
                        <a:rPr sz="1200" dirty="0" smtClean="0">
                          <a:latin typeface="Times New Roman"/>
                          <a:cs typeface="Times New Roman"/>
                        </a:rPr>
                        <a:t>for</a:t>
                      </a:r>
                      <a:r>
                        <a:rPr lang="en-US" sz="1200" dirty="0" smtClean="0">
                          <a:latin typeface="Times New Roman"/>
                          <a:cs typeface="Times New Roman"/>
                        </a:rPr>
                        <a:t> chrome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71475">
                <a:tc>
                  <a:txBody>
                    <a:bodyPr/>
                    <a:lstStyle/>
                    <a:p>
                      <a:pPr marL="68580">
                        <a:lnSpc>
                          <a:spcPct val="100000"/>
                        </a:lnSpc>
                        <a:spcBef>
                          <a:spcPts val="345"/>
                        </a:spcBef>
                      </a:pPr>
                      <a:r>
                        <a:rPr sz="1200" b="1" spc="-10" dirty="0">
                          <a:latin typeface="Times New Roman"/>
                          <a:cs typeface="Times New Roman"/>
                        </a:rPr>
                        <a:t>Libraries</a:t>
                      </a:r>
                      <a:endParaRPr sz="1200" dirty="0">
                        <a:latin typeface="Times New Roman"/>
                        <a:cs typeface="Times New Roman"/>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06680">
                        <a:lnSpc>
                          <a:spcPts val="1380"/>
                        </a:lnSpc>
                      </a:pPr>
                      <a:r>
                        <a:rPr lang="en-US" sz="1200" dirty="0" smtClean="0"/>
                        <a:t>PHP extensions (PDO, </a:t>
                      </a:r>
                      <a:r>
                        <a:rPr lang="en-US" sz="1200" dirty="0" err="1" smtClean="0"/>
                        <a:t>MySQLi</a:t>
                      </a:r>
                      <a:r>
                        <a:rPr lang="en-US" sz="1200" dirty="0" smtClean="0"/>
                        <a: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04343">
                <a:tc>
                  <a:txBody>
                    <a:bodyPr/>
                    <a:lstStyle/>
                    <a:p>
                      <a:pPr marL="68580">
                        <a:lnSpc>
                          <a:spcPct val="100000"/>
                        </a:lnSpc>
                        <a:spcBef>
                          <a:spcPts val="660"/>
                        </a:spcBef>
                      </a:pPr>
                      <a:r>
                        <a:rPr sz="1200" b="1" dirty="0">
                          <a:latin typeface="Times New Roman"/>
                          <a:cs typeface="Times New Roman"/>
                        </a:rPr>
                        <a:t>API</a:t>
                      </a:r>
                      <a:r>
                        <a:rPr sz="1200" b="1" spc="-25" dirty="0">
                          <a:latin typeface="Times New Roman"/>
                          <a:cs typeface="Times New Roman"/>
                        </a:rPr>
                        <a:t> </a:t>
                      </a:r>
                      <a:endParaRPr sz="1200" dirty="0">
                        <a:latin typeface="Times New Roman"/>
                        <a:cs typeface="Times New Roman"/>
                      </a:endParaRPr>
                    </a:p>
                  </a:txBody>
                  <a:tcPr marL="0" marR="0" marT="838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5"/>
                        </a:lnSpc>
                      </a:pPr>
                      <a:r>
                        <a:rPr lang="en-US" sz="1200" dirty="0" smtClean="0"/>
                        <a:t>Payment Gateway API (for subscription or membership payments)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4" name="object 4"/>
          <p:cNvSpPr txBox="1"/>
          <p:nvPr/>
        </p:nvSpPr>
        <p:spPr>
          <a:xfrm>
            <a:off x="528319" y="6489700"/>
            <a:ext cx="6221095" cy="2970044"/>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25" dirty="0">
                <a:uFill>
                  <a:solidFill>
                    <a:srgbClr val="000000"/>
                  </a:solidFill>
                </a:uFill>
                <a:latin typeface="Times New Roman"/>
                <a:cs typeface="Times New Roman"/>
              </a:rPr>
              <a:t> </a:t>
            </a:r>
            <a:r>
              <a:rPr sz="1200" u="sng" dirty="0" smtClean="0">
                <a:uFill>
                  <a:solidFill>
                    <a:srgbClr val="000000"/>
                  </a:solidFill>
                </a:uFill>
                <a:latin typeface="Times New Roman"/>
                <a:cs typeface="Times New Roman"/>
              </a:rPr>
              <a:t>3.11</a:t>
            </a:r>
            <a:r>
              <a:rPr sz="1200" u="sng" dirty="0">
                <a:uFill>
                  <a:solidFill>
                    <a:srgbClr val="000000"/>
                  </a:solidFill>
                </a:uFill>
                <a:latin typeface="Times New Roman"/>
                <a:cs typeface="Times New Roman"/>
              </a:rPr>
              <a:t>:</a:t>
            </a:r>
            <a:r>
              <a:rPr sz="1200" u="sng" spc="-2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System</a:t>
            </a:r>
            <a:r>
              <a:rPr sz="1200" u="sng" spc="-2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Requirement</a:t>
            </a:r>
            <a:r>
              <a:rPr sz="1200" u="sng" spc="-20" dirty="0">
                <a:uFill>
                  <a:solidFill>
                    <a:srgbClr val="000000"/>
                  </a:solidFill>
                </a:uFill>
                <a:latin typeface="Times New Roman"/>
                <a:cs typeface="Times New Roman"/>
              </a:rPr>
              <a:t> </a:t>
            </a:r>
            <a:r>
              <a:rPr sz="1200" u="sng" dirty="0" smtClean="0">
                <a:uFill>
                  <a:solidFill>
                    <a:srgbClr val="000000"/>
                  </a:solidFill>
                </a:uFill>
                <a:latin typeface="Times New Roman"/>
                <a:cs typeface="Times New Roman"/>
              </a:rPr>
              <a:t>for</a:t>
            </a:r>
            <a:r>
              <a:rPr lang="en-US" sz="1200" u="sng" dirty="0" smtClean="0">
                <a:uFill>
                  <a:solidFill>
                    <a:srgbClr val="000000"/>
                  </a:solidFill>
                </a:uFill>
                <a:latin typeface="Times New Roman"/>
                <a:cs typeface="Times New Roman"/>
              </a:rPr>
              <a:t> Fitnes</a:t>
            </a:r>
            <a:r>
              <a:rPr lang="en-US" sz="1200" u="sng" dirty="0" smtClean="0">
                <a:uFill>
                  <a:solidFill>
                    <a:srgbClr val="000000"/>
                  </a:solidFill>
                </a:uFill>
                <a:latin typeface="Times New Roman"/>
                <a:cs typeface="Times New Roman"/>
              </a:rPr>
              <a:t>s Freak Website</a:t>
            </a:r>
            <a:r>
              <a:rPr sz="1200" u="sng" spc="-20" dirty="0" smtClean="0">
                <a:uFill>
                  <a:solidFill>
                    <a:srgbClr val="000000"/>
                  </a:solidFill>
                </a:uFill>
                <a:latin typeface="Times New Roman"/>
                <a:cs typeface="Times New Roman"/>
              </a:rPr>
              <a:t>.</a:t>
            </a:r>
            <a:endParaRPr sz="1200" dirty="0">
              <a:latin typeface="Times New Roman"/>
              <a:cs typeface="Times New Roman"/>
            </a:endParaRPr>
          </a:p>
          <a:p>
            <a:pPr>
              <a:lnSpc>
                <a:spcPct val="100000"/>
              </a:lnSpc>
              <a:spcBef>
                <a:spcPts val="1310"/>
              </a:spcBef>
            </a:pPr>
            <a:endParaRPr sz="1200" dirty="0">
              <a:latin typeface="Times New Roman"/>
              <a:cs typeface="Times New Roman"/>
            </a:endParaRPr>
          </a:p>
          <a:p>
            <a:pPr marL="469265" indent="-227965">
              <a:lnSpc>
                <a:spcPct val="100000"/>
              </a:lnSpc>
              <a:buAutoNum type="arabicPeriod"/>
              <a:tabLst>
                <a:tab pos="469265" algn="l"/>
              </a:tabLst>
            </a:pPr>
            <a:r>
              <a:rPr sz="1400" b="1" dirty="0">
                <a:latin typeface="Times New Roman"/>
                <a:cs typeface="Times New Roman"/>
              </a:rPr>
              <a:t>Operating</a:t>
            </a:r>
            <a:r>
              <a:rPr sz="1400" b="1" spc="-20" dirty="0">
                <a:latin typeface="Times New Roman"/>
                <a:cs typeface="Times New Roman"/>
              </a:rPr>
              <a:t> </a:t>
            </a:r>
            <a:r>
              <a:rPr sz="1400" b="1" spc="-10" dirty="0">
                <a:latin typeface="Times New Roman"/>
                <a:cs typeface="Times New Roman"/>
              </a:rPr>
              <a:t>System</a:t>
            </a:r>
            <a:r>
              <a:rPr sz="1400" spc="-10" dirty="0">
                <a:latin typeface="Times New Roman"/>
                <a:cs typeface="Times New Roman"/>
              </a:rPr>
              <a:t>:</a:t>
            </a:r>
            <a:endParaRPr sz="1400" dirty="0">
              <a:latin typeface="Times New Roman"/>
              <a:cs typeface="Times New Roman"/>
            </a:endParaRPr>
          </a:p>
          <a:p>
            <a:pPr marL="927100" lvl="1" indent="-228600">
              <a:lnSpc>
                <a:spcPct val="100000"/>
              </a:lnSpc>
              <a:spcBef>
                <a:spcPts val="740"/>
              </a:spcBef>
              <a:buSzPct val="83333"/>
              <a:buFont typeface="Symbol"/>
              <a:buChar char=""/>
              <a:tabLst>
                <a:tab pos="927100" algn="l"/>
              </a:tabLst>
            </a:pPr>
            <a:r>
              <a:rPr sz="1200" dirty="0">
                <a:latin typeface="Times New Roman"/>
                <a:cs typeface="Times New Roman"/>
              </a:rPr>
              <a:t>Windows</a:t>
            </a:r>
            <a:r>
              <a:rPr sz="1200" spc="-10"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spc="-20" dirty="0">
                <a:latin typeface="Times New Roman"/>
                <a:cs typeface="Times New Roman"/>
              </a:rPr>
              <a:t>later</a:t>
            </a:r>
            <a:endParaRPr sz="1200" dirty="0">
              <a:latin typeface="Times New Roman"/>
              <a:cs typeface="Times New Roman"/>
            </a:endParaRPr>
          </a:p>
          <a:p>
            <a:pPr marL="927100" lvl="1" indent="-228600">
              <a:lnSpc>
                <a:spcPct val="100000"/>
              </a:lnSpc>
              <a:spcBef>
                <a:spcPts val="635"/>
              </a:spcBef>
              <a:buSzPct val="83333"/>
              <a:buFont typeface="Symbol"/>
              <a:buChar char=""/>
              <a:tabLst>
                <a:tab pos="927100" algn="l"/>
              </a:tabLst>
            </a:pPr>
            <a:r>
              <a:rPr sz="1200" dirty="0">
                <a:latin typeface="Times New Roman"/>
                <a:cs typeface="Times New Roman"/>
              </a:rPr>
              <a:t>macOS</a:t>
            </a:r>
            <a:r>
              <a:rPr sz="1200" spc="-20" dirty="0">
                <a:latin typeface="Times New Roman"/>
                <a:cs typeface="Times New Roman"/>
              </a:rPr>
              <a:t> </a:t>
            </a:r>
            <a:r>
              <a:rPr sz="1200" dirty="0">
                <a:latin typeface="Times New Roman"/>
                <a:cs typeface="Times New Roman"/>
              </a:rPr>
              <a:t>10.12</a:t>
            </a:r>
            <a:r>
              <a:rPr sz="1200" spc="-20" dirty="0">
                <a:latin typeface="Times New Roman"/>
                <a:cs typeface="Times New Roman"/>
              </a:rPr>
              <a:t> </a:t>
            </a:r>
            <a:r>
              <a:rPr sz="1200" dirty="0">
                <a:latin typeface="Times New Roman"/>
                <a:cs typeface="Times New Roman"/>
              </a:rPr>
              <a:t>(Sierra)</a:t>
            </a:r>
            <a:r>
              <a:rPr sz="1200" spc="-15" dirty="0">
                <a:latin typeface="Times New Roman"/>
                <a:cs typeface="Times New Roman"/>
              </a:rPr>
              <a:t> </a:t>
            </a:r>
            <a:r>
              <a:rPr sz="1200" dirty="0">
                <a:latin typeface="Times New Roman"/>
                <a:cs typeface="Times New Roman"/>
              </a:rPr>
              <a:t>or</a:t>
            </a:r>
            <a:r>
              <a:rPr sz="1200" spc="-20" dirty="0">
                <a:latin typeface="Times New Roman"/>
                <a:cs typeface="Times New Roman"/>
              </a:rPr>
              <a:t> later</a:t>
            </a:r>
            <a:endParaRPr sz="1200" dirty="0">
              <a:latin typeface="Times New Roman"/>
              <a:cs typeface="Times New Roman"/>
            </a:endParaRPr>
          </a:p>
          <a:p>
            <a:pPr marL="927100" lvl="1" indent="-228600">
              <a:lnSpc>
                <a:spcPct val="100000"/>
              </a:lnSpc>
              <a:spcBef>
                <a:spcPts val="625"/>
              </a:spcBef>
              <a:buSzPct val="83333"/>
              <a:buFont typeface="Symbol"/>
              <a:buChar char=""/>
              <a:tabLst>
                <a:tab pos="927100" algn="l"/>
              </a:tabLst>
            </a:pPr>
            <a:r>
              <a:rPr sz="1200" dirty="0">
                <a:latin typeface="Times New Roman"/>
                <a:cs typeface="Times New Roman"/>
              </a:rPr>
              <a:t>Linux</a:t>
            </a:r>
            <a:r>
              <a:rPr sz="1200" spc="-30" dirty="0">
                <a:latin typeface="Times New Roman"/>
                <a:cs typeface="Times New Roman"/>
              </a:rPr>
              <a:t> </a:t>
            </a:r>
            <a:r>
              <a:rPr sz="1200" dirty="0">
                <a:latin typeface="Times New Roman"/>
                <a:cs typeface="Times New Roman"/>
              </a:rPr>
              <a:t>(most</a:t>
            </a:r>
            <a:r>
              <a:rPr sz="1200" spc="-30" dirty="0">
                <a:latin typeface="Times New Roman"/>
                <a:cs typeface="Times New Roman"/>
              </a:rPr>
              <a:t> </a:t>
            </a:r>
            <a:r>
              <a:rPr sz="1200" spc="-10" dirty="0">
                <a:latin typeface="Times New Roman"/>
                <a:cs typeface="Times New Roman"/>
              </a:rPr>
              <a:t>distributions)</a:t>
            </a:r>
            <a:endParaRPr sz="1200" dirty="0">
              <a:latin typeface="Times New Roman"/>
              <a:cs typeface="Times New Roman"/>
            </a:endParaRPr>
          </a:p>
          <a:p>
            <a:pPr marL="469265" indent="-227965">
              <a:lnSpc>
                <a:spcPct val="100000"/>
              </a:lnSpc>
              <a:spcBef>
                <a:spcPts val="630"/>
              </a:spcBef>
              <a:buAutoNum type="arabicPeriod"/>
              <a:tabLst>
                <a:tab pos="469265" algn="l"/>
              </a:tabLst>
            </a:pPr>
            <a:r>
              <a:rPr lang="en-US" sz="1400" b="1" spc="-10" dirty="0" smtClean="0">
                <a:latin typeface="Times New Roman"/>
                <a:cs typeface="Times New Roman"/>
              </a:rPr>
              <a:t>Web server</a:t>
            </a:r>
            <a:r>
              <a:rPr sz="1400" spc="-10" dirty="0" smtClean="0">
                <a:latin typeface="Times New Roman"/>
                <a:cs typeface="Times New Roman"/>
              </a:rPr>
              <a:t>:</a:t>
            </a:r>
            <a:endParaRPr sz="1400" dirty="0">
              <a:latin typeface="Times New Roman"/>
              <a:cs typeface="Times New Roman"/>
            </a:endParaRPr>
          </a:p>
          <a:p>
            <a:pPr marL="927100" lvl="1" indent="-228600">
              <a:spcBef>
                <a:spcPts val="740"/>
              </a:spcBef>
              <a:buSzPct val="83333"/>
              <a:buFont typeface="Symbol"/>
              <a:buChar char=""/>
              <a:tabLst>
                <a:tab pos="927100" algn="l"/>
              </a:tabLst>
            </a:pPr>
            <a:r>
              <a:rPr lang="en-US" sz="1200" dirty="0" smtClean="0"/>
              <a:t>Apache (recommended via XAMPP, WAMP, LAMP or similar)</a:t>
            </a:r>
            <a:endParaRPr lang="en-US" sz="1200" dirty="0" smtClean="0">
              <a:latin typeface="Times New Roman"/>
              <a:cs typeface="Times New Roman"/>
            </a:endParaRPr>
          </a:p>
          <a:p>
            <a:pPr marL="927100" lvl="1" indent="-228600">
              <a:lnSpc>
                <a:spcPct val="100000"/>
              </a:lnSpc>
              <a:spcBef>
                <a:spcPts val="740"/>
              </a:spcBef>
              <a:buSzPct val="83333"/>
              <a:buFont typeface="Symbol"/>
              <a:buChar char=""/>
              <a:tabLst>
                <a:tab pos="927100" algn="l"/>
              </a:tabLst>
            </a:pPr>
            <a:endParaRPr sz="1200" dirty="0">
              <a:latin typeface="Times New Roman"/>
              <a:cs typeface="Times New Roman"/>
            </a:endParaRPr>
          </a:p>
          <a:p>
            <a:pPr marL="469265" indent="-227965">
              <a:lnSpc>
                <a:spcPct val="100000"/>
              </a:lnSpc>
              <a:spcBef>
                <a:spcPts val="630"/>
              </a:spcBef>
              <a:buAutoNum type="arabicPeriod"/>
              <a:tabLst>
                <a:tab pos="469265" algn="l"/>
              </a:tabLst>
            </a:pPr>
            <a:r>
              <a:rPr sz="1400" b="1" spc="-20" dirty="0">
                <a:latin typeface="Times New Roman"/>
                <a:cs typeface="Times New Roman"/>
              </a:rPr>
              <a:t>RAM</a:t>
            </a:r>
            <a:r>
              <a:rPr sz="1400" spc="-20" dirty="0">
                <a:latin typeface="Times New Roman"/>
                <a:cs typeface="Times New Roman"/>
              </a:rPr>
              <a:t>:</a:t>
            </a:r>
            <a:endParaRPr sz="1400" dirty="0">
              <a:latin typeface="Times New Roman"/>
              <a:cs typeface="Times New Roman"/>
            </a:endParaRPr>
          </a:p>
          <a:p>
            <a:pPr marL="927100" lvl="1" indent="-228600">
              <a:lnSpc>
                <a:spcPct val="100000"/>
              </a:lnSpc>
              <a:spcBef>
                <a:spcPts val="740"/>
              </a:spcBef>
              <a:buSzPct val="83333"/>
              <a:buFont typeface="Symbol"/>
              <a:buChar char=""/>
              <a:tabLst>
                <a:tab pos="927100" algn="l"/>
              </a:tabLst>
            </a:pPr>
            <a:r>
              <a:rPr sz="1200" dirty="0">
                <a:latin typeface="Times New Roman"/>
                <a:cs typeface="Times New Roman"/>
              </a:rPr>
              <a:t>Minimum:</a:t>
            </a:r>
            <a:r>
              <a:rPr sz="1200" spc="-30" dirty="0">
                <a:latin typeface="Times New Roman"/>
                <a:cs typeface="Times New Roman"/>
              </a:rPr>
              <a:t> </a:t>
            </a:r>
            <a:r>
              <a:rPr sz="1200" dirty="0">
                <a:latin typeface="Times New Roman"/>
                <a:cs typeface="Times New Roman"/>
              </a:rPr>
              <a:t>4</a:t>
            </a:r>
            <a:r>
              <a:rPr sz="1200" spc="-25" dirty="0">
                <a:latin typeface="Times New Roman"/>
                <a:cs typeface="Times New Roman"/>
              </a:rPr>
              <a:t> GB</a:t>
            </a:r>
            <a:endParaRPr sz="1200" dirty="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08836" y="3169030"/>
            <a:ext cx="5973445" cy="6350"/>
          </a:xfrm>
          <a:custGeom>
            <a:avLst/>
            <a:gdLst/>
            <a:ahLst/>
            <a:cxnLst/>
            <a:rect l="l" t="t" r="r" b="b"/>
            <a:pathLst>
              <a:path w="5973445" h="6350">
                <a:moveTo>
                  <a:pt x="5973445" y="0"/>
                </a:moveTo>
                <a:lnTo>
                  <a:pt x="0" y="0"/>
                </a:lnTo>
                <a:lnTo>
                  <a:pt x="0" y="6096"/>
                </a:lnTo>
                <a:lnTo>
                  <a:pt x="5973445" y="6096"/>
                </a:lnTo>
                <a:lnTo>
                  <a:pt x="5973445" y="0"/>
                </a:lnTo>
                <a:close/>
              </a:path>
            </a:pathLst>
          </a:custGeom>
          <a:solidFill>
            <a:srgbClr val="000000"/>
          </a:solidFill>
        </p:spPr>
        <p:txBody>
          <a:bodyPr wrap="square" lIns="0" tIns="0" rIns="0" bIns="0" rtlCol="0"/>
          <a:lstStyle/>
          <a:p>
            <a:endParaRPr/>
          </a:p>
        </p:txBody>
      </p:sp>
      <p:sp>
        <p:nvSpPr>
          <p:cNvPr id="16" name="object 16"/>
          <p:cNvSpPr txBox="1"/>
          <p:nvPr/>
        </p:nvSpPr>
        <p:spPr>
          <a:xfrm>
            <a:off x="757224" y="293623"/>
            <a:ext cx="6416675" cy="3074944"/>
          </a:xfrm>
          <a:prstGeom prst="rect">
            <a:avLst/>
          </a:prstGeom>
        </p:spPr>
        <p:txBody>
          <a:bodyPr vert="horz" wrap="square" lIns="0" tIns="12700" rIns="0" bIns="0" rtlCol="0">
            <a:spAutoFit/>
          </a:bodyPr>
          <a:lstStyle/>
          <a:p>
            <a:pPr marL="697865" marR="5080" indent="-228600">
              <a:lnSpc>
                <a:spcPct val="143300"/>
              </a:lnSpc>
              <a:spcBef>
                <a:spcPts val="100"/>
              </a:spcBef>
              <a:buSzPct val="83333"/>
              <a:buFont typeface="Symbol"/>
              <a:buChar char=""/>
              <a:tabLst>
                <a:tab pos="697865" algn="l"/>
              </a:tabLst>
            </a:pPr>
            <a:r>
              <a:rPr sz="1200" dirty="0">
                <a:latin typeface="Times New Roman"/>
                <a:cs typeface="Times New Roman"/>
              </a:rPr>
              <a:t>Recommended:</a:t>
            </a:r>
            <a:r>
              <a:rPr sz="1200" spc="390" dirty="0">
                <a:latin typeface="Times New Roman"/>
                <a:cs typeface="Times New Roman"/>
              </a:rPr>
              <a:t> </a:t>
            </a:r>
            <a:r>
              <a:rPr sz="1200" dirty="0">
                <a:latin typeface="Times New Roman"/>
                <a:cs typeface="Times New Roman"/>
              </a:rPr>
              <a:t>8</a:t>
            </a:r>
            <a:r>
              <a:rPr sz="1200" spc="385" dirty="0">
                <a:latin typeface="Times New Roman"/>
                <a:cs typeface="Times New Roman"/>
              </a:rPr>
              <a:t> </a:t>
            </a:r>
            <a:r>
              <a:rPr sz="1200" dirty="0">
                <a:latin typeface="Times New Roman"/>
                <a:cs typeface="Times New Roman"/>
              </a:rPr>
              <a:t>GB</a:t>
            </a:r>
            <a:r>
              <a:rPr sz="1200" spc="395" dirty="0">
                <a:latin typeface="Times New Roman"/>
                <a:cs typeface="Times New Roman"/>
              </a:rPr>
              <a:t> </a:t>
            </a:r>
            <a:r>
              <a:rPr sz="1200" dirty="0">
                <a:latin typeface="Times New Roman"/>
                <a:cs typeface="Times New Roman"/>
              </a:rPr>
              <a:t>or</a:t>
            </a:r>
            <a:r>
              <a:rPr sz="1200" spc="390" dirty="0">
                <a:latin typeface="Times New Roman"/>
                <a:cs typeface="Times New Roman"/>
              </a:rPr>
              <a:t> </a:t>
            </a:r>
            <a:r>
              <a:rPr sz="1200" dirty="0">
                <a:latin typeface="Times New Roman"/>
                <a:cs typeface="Times New Roman"/>
              </a:rPr>
              <a:t>more</a:t>
            </a:r>
            <a:r>
              <a:rPr sz="1200" spc="380" dirty="0">
                <a:latin typeface="Times New Roman"/>
                <a:cs typeface="Times New Roman"/>
              </a:rPr>
              <a:t> </a:t>
            </a:r>
            <a:r>
              <a:rPr sz="1200" dirty="0">
                <a:latin typeface="Times New Roman"/>
                <a:cs typeface="Times New Roman"/>
              </a:rPr>
              <a:t>for</a:t>
            </a:r>
            <a:r>
              <a:rPr sz="1200" spc="380" dirty="0">
                <a:latin typeface="Times New Roman"/>
                <a:cs typeface="Times New Roman"/>
              </a:rPr>
              <a:t> </a:t>
            </a:r>
            <a:r>
              <a:rPr sz="1200" dirty="0">
                <a:latin typeface="Times New Roman"/>
                <a:cs typeface="Times New Roman"/>
              </a:rPr>
              <a:t>better</a:t>
            </a:r>
            <a:r>
              <a:rPr sz="1200" spc="385" dirty="0">
                <a:latin typeface="Times New Roman"/>
                <a:cs typeface="Times New Roman"/>
              </a:rPr>
              <a:t> </a:t>
            </a:r>
            <a:r>
              <a:rPr sz="1200" dirty="0">
                <a:latin typeface="Times New Roman"/>
                <a:cs typeface="Times New Roman"/>
              </a:rPr>
              <a:t>performance,</a:t>
            </a:r>
            <a:r>
              <a:rPr sz="1200" spc="385" dirty="0">
                <a:latin typeface="Times New Roman"/>
                <a:cs typeface="Times New Roman"/>
              </a:rPr>
              <a:t> </a:t>
            </a:r>
            <a:r>
              <a:rPr sz="1200" dirty="0">
                <a:latin typeface="Times New Roman"/>
                <a:cs typeface="Times New Roman"/>
              </a:rPr>
              <a:t>especially</a:t>
            </a:r>
            <a:r>
              <a:rPr sz="1200" spc="390" dirty="0">
                <a:latin typeface="Times New Roman"/>
                <a:cs typeface="Times New Roman"/>
              </a:rPr>
              <a:t> </a:t>
            </a:r>
            <a:r>
              <a:rPr sz="1200" dirty="0">
                <a:latin typeface="Times New Roman"/>
                <a:cs typeface="Times New Roman"/>
              </a:rPr>
              <a:t>if</a:t>
            </a:r>
            <a:r>
              <a:rPr sz="1200" spc="395" dirty="0">
                <a:latin typeface="Times New Roman"/>
                <a:cs typeface="Times New Roman"/>
              </a:rPr>
              <a:t> </a:t>
            </a:r>
            <a:r>
              <a:rPr sz="1200" dirty="0">
                <a:latin typeface="Times New Roman"/>
                <a:cs typeface="Times New Roman"/>
              </a:rPr>
              <a:t>running</a:t>
            </a:r>
            <a:r>
              <a:rPr sz="1200" spc="385" dirty="0">
                <a:latin typeface="Times New Roman"/>
                <a:cs typeface="Times New Roman"/>
              </a:rPr>
              <a:t> </a:t>
            </a:r>
            <a:r>
              <a:rPr sz="1200" spc="-10" dirty="0">
                <a:latin typeface="Times New Roman"/>
                <a:cs typeface="Times New Roman"/>
              </a:rPr>
              <a:t>multiple applications.</a:t>
            </a:r>
            <a:endParaRPr sz="1200" dirty="0">
              <a:latin typeface="Times New Roman"/>
              <a:cs typeface="Times New Roman"/>
            </a:endParaRPr>
          </a:p>
          <a:p>
            <a:pPr marL="240665" indent="-227965">
              <a:lnSpc>
                <a:spcPct val="100000"/>
              </a:lnSpc>
              <a:spcBef>
                <a:spcPts val="630"/>
              </a:spcBef>
              <a:buAutoNum type="arabicPeriod" startAt="4"/>
              <a:tabLst>
                <a:tab pos="240665" algn="l"/>
              </a:tabLst>
            </a:pPr>
            <a:r>
              <a:rPr sz="1400" b="1" spc="-10" dirty="0">
                <a:latin typeface="Times New Roman"/>
                <a:cs typeface="Times New Roman"/>
              </a:rPr>
              <a:t>Processor</a:t>
            </a:r>
            <a:r>
              <a:rPr sz="1400" spc="-10" dirty="0">
                <a:latin typeface="Times New Roman"/>
                <a:cs typeface="Times New Roman"/>
              </a:rPr>
              <a:t>:</a:t>
            </a:r>
            <a:endParaRPr sz="1400" dirty="0">
              <a:latin typeface="Times New Roman"/>
              <a:cs typeface="Times New Roman"/>
            </a:endParaRPr>
          </a:p>
          <a:p>
            <a:pPr marL="697865" lvl="1" indent="-228600">
              <a:lnSpc>
                <a:spcPct val="100000"/>
              </a:lnSpc>
              <a:spcBef>
                <a:spcPts val="740"/>
              </a:spcBef>
              <a:buSzPct val="83333"/>
              <a:buFont typeface="Symbol"/>
              <a:buChar char=""/>
              <a:tabLst>
                <a:tab pos="697865" algn="l"/>
              </a:tabLst>
            </a:pPr>
            <a:r>
              <a:rPr sz="1200" dirty="0">
                <a:latin typeface="Times New Roman"/>
                <a:cs typeface="Times New Roman"/>
              </a:rPr>
              <a:t>Minimum:</a:t>
            </a:r>
            <a:r>
              <a:rPr sz="1200" spc="-25" dirty="0">
                <a:latin typeface="Times New Roman"/>
                <a:cs typeface="Times New Roman"/>
              </a:rPr>
              <a:t> </a:t>
            </a:r>
            <a:r>
              <a:rPr sz="1200" spc="-10" dirty="0">
                <a:latin typeface="Times New Roman"/>
                <a:cs typeface="Times New Roman"/>
              </a:rPr>
              <a:t>Dual-</a:t>
            </a:r>
            <a:r>
              <a:rPr sz="1200" dirty="0">
                <a:latin typeface="Times New Roman"/>
                <a:cs typeface="Times New Roman"/>
              </a:rPr>
              <a:t>core</a:t>
            </a:r>
            <a:r>
              <a:rPr sz="1200" spc="-35" dirty="0">
                <a:latin typeface="Times New Roman"/>
                <a:cs typeface="Times New Roman"/>
              </a:rPr>
              <a:t> </a:t>
            </a:r>
            <a:r>
              <a:rPr sz="1200" dirty="0">
                <a:latin typeface="Times New Roman"/>
                <a:cs typeface="Times New Roman"/>
              </a:rPr>
              <a:t>processor</a:t>
            </a:r>
            <a:r>
              <a:rPr sz="1200" spc="-25" dirty="0">
                <a:latin typeface="Times New Roman"/>
                <a:cs typeface="Times New Roman"/>
              </a:rPr>
              <a:t> </a:t>
            </a:r>
            <a:r>
              <a:rPr sz="1200" dirty="0">
                <a:latin typeface="Times New Roman"/>
                <a:cs typeface="Times New Roman"/>
              </a:rPr>
              <a:t>(Intel</a:t>
            </a:r>
            <a:r>
              <a:rPr sz="1200" spc="-25" dirty="0">
                <a:latin typeface="Times New Roman"/>
                <a:cs typeface="Times New Roman"/>
              </a:rPr>
              <a:t> </a:t>
            </a:r>
            <a:r>
              <a:rPr sz="1200" dirty="0">
                <a:latin typeface="Times New Roman"/>
                <a:cs typeface="Times New Roman"/>
              </a:rPr>
              <a:t>i3</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equivalent)</a:t>
            </a:r>
            <a:endParaRPr sz="1200" dirty="0">
              <a:latin typeface="Times New Roman"/>
              <a:cs typeface="Times New Roman"/>
            </a:endParaRPr>
          </a:p>
          <a:p>
            <a:pPr marL="697865" lvl="1" indent="-228600">
              <a:lnSpc>
                <a:spcPct val="100000"/>
              </a:lnSpc>
              <a:spcBef>
                <a:spcPts val="635"/>
              </a:spcBef>
              <a:buSzPct val="83333"/>
              <a:buFont typeface="Symbol"/>
              <a:buChar char=""/>
              <a:tabLst>
                <a:tab pos="697865" algn="l"/>
              </a:tabLst>
            </a:pPr>
            <a:r>
              <a:rPr sz="1200" spc="-10" dirty="0">
                <a:latin typeface="Times New Roman"/>
                <a:cs typeface="Times New Roman"/>
              </a:rPr>
              <a:t>Recommended:</a:t>
            </a:r>
            <a:r>
              <a:rPr sz="1200" spc="-20" dirty="0">
                <a:latin typeface="Times New Roman"/>
                <a:cs typeface="Times New Roman"/>
              </a:rPr>
              <a:t> </a:t>
            </a:r>
            <a:r>
              <a:rPr sz="1200" spc="-10" dirty="0">
                <a:latin typeface="Times New Roman"/>
                <a:cs typeface="Times New Roman"/>
              </a:rPr>
              <a:t>Quad-</a:t>
            </a:r>
            <a:r>
              <a:rPr sz="1200" dirty="0">
                <a:latin typeface="Times New Roman"/>
                <a:cs typeface="Times New Roman"/>
              </a:rPr>
              <a:t>core</a:t>
            </a:r>
            <a:r>
              <a:rPr sz="1200" spc="-25" dirty="0">
                <a:latin typeface="Times New Roman"/>
                <a:cs typeface="Times New Roman"/>
              </a:rPr>
              <a:t> </a:t>
            </a:r>
            <a:r>
              <a:rPr sz="1200" dirty="0">
                <a:latin typeface="Times New Roman"/>
                <a:cs typeface="Times New Roman"/>
              </a:rPr>
              <a:t>processor</a:t>
            </a:r>
            <a:r>
              <a:rPr sz="1200" spc="-15" dirty="0">
                <a:latin typeface="Times New Roman"/>
                <a:cs typeface="Times New Roman"/>
              </a:rPr>
              <a:t> </a:t>
            </a:r>
            <a:r>
              <a:rPr sz="1200" dirty="0">
                <a:latin typeface="Times New Roman"/>
                <a:cs typeface="Times New Roman"/>
              </a:rPr>
              <a:t>(Intel</a:t>
            </a:r>
            <a:r>
              <a:rPr sz="1200" spc="-20" dirty="0">
                <a:latin typeface="Times New Roman"/>
                <a:cs typeface="Times New Roman"/>
              </a:rPr>
              <a:t> </a:t>
            </a:r>
            <a:r>
              <a:rPr sz="1200" dirty="0">
                <a:latin typeface="Times New Roman"/>
                <a:cs typeface="Times New Roman"/>
              </a:rPr>
              <a:t>i5</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equivalent)</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smoother</a:t>
            </a:r>
            <a:r>
              <a:rPr sz="1200" spc="-25" dirty="0">
                <a:latin typeface="Times New Roman"/>
                <a:cs typeface="Times New Roman"/>
              </a:rPr>
              <a:t> </a:t>
            </a:r>
            <a:r>
              <a:rPr sz="1200" spc="-10" dirty="0">
                <a:latin typeface="Times New Roman"/>
                <a:cs typeface="Times New Roman"/>
              </a:rPr>
              <a:t>performance.</a:t>
            </a:r>
            <a:endParaRPr sz="1200" dirty="0">
              <a:latin typeface="Times New Roman"/>
              <a:cs typeface="Times New Roman"/>
            </a:endParaRPr>
          </a:p>
          <a:p>
            <a:pPr marL="240665" indent="-227965">
              <a:lnSpc>
                <a:spcPct val="100000"/>
              </a:lnSpc>
              <a:spcBef>
                <a:spcPts val="615"/>
              </a:spcBef>
              <a:buAutoNum type="arabicPeriod" startAt="4"/>
              <a:tabLst>
                <a:tab pos="240665" algn="l"/>
              </a:tabLst>
            </a:pPr>
            <a:r>
              <a:rPr sz="1400" b="1" spc="-10" dirty="0">
                <a:latin typeface="Times New Roman"/>
                <a:cs typeface="Times New Roman"/>
              </a:rPr>
              <a:t>Storage</a:t>
            </a:r>
            <a:r>
              <a:rPr sz="1400" spc="-10" dirty="0">
                <a:latin typeface="Times New Roman"/>
                <a:cs typeface="Times New Roman"/>
              </a:rPr>
              <a:t>:</a:t>
            </a:r>
            <a:endParaRPr sz="1400" dirty="0">
              <a:latin typeface="Times New Roman"/>
              <a:cs typeface="Times New Roman"/>
            </a:endParaRPr>
          </a:p>
          <a:p>
            <a:pPr marL="697865" lvl="1" indent="-228600">
              <a:lnSpc>
                <a:spcPct val="100000"/>
              </a:lnSpc>
              <a:spcBef>
                <a:spcPts val="740"/>
              </a:spcBef>
              <a:buSzPct val="83333"/>
              <a:buFont typeface="Symbol"/>
              <a:buChar char=""/>
              <a:tabLst>
                <a:tab pos="697865" algn="l"/>
              </a:tabLst>
            </a:pPr>
            <a:r>
              <a:rPr sz="1200" dirty="0">
                <a:latin typeface="Times New Roman"/>
                <a:cs typeface="Times New Roman"/>
              </a:rPr>
              <a:t>Minimum:</a:t>
            </a:r>
            <a:r>
              <a:rPr sz="1200" spc="-25" dirty="0">
                <a:latin typeface="Times New Roman"/>
                <a:cs typeface="Times New Roman"/>
              </a:rPr>
              <a:t> </a:t>
            </a:r>
            <a:r>
              <a:rPr sz="1200" dirty="0">
                <a:latin typeface="Times New Roman"/>
                <a:cs typeface="Times New Roman"/>
              </a:rPr>
              <a:t>100</a:t>
            </a:r>
            <a:r>
              <a:rPr sz="1200" spc="-20" dirty="0">
                <a:latin typeface="Times New Roman"/>
                <a:cs typeface="Times New Roman"/>
              </a:rPr>
              <a:t> </a:t>
            </a:r>
            <a:r>
              <a:rPr sz="1200" dirty="0">
                <a:latin typeface="Times New Roman"/>
                <a:cs typeface="Times New Roman"/>
              </a:rPr>
              <a:t>MB</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free</a:t>
            </a:r>
            <a:r>
              <a:rPr sz="1200" spc="-25" dirty="0">
                <a:latin typeface="Times New Roman"/>
                <a:cs typeface="Times New Roman"/>
              </a:rPr>
              <a:t> </a:t>
            </a:r>
            <a:r>
              <a:rPr sz="1200" dirty="0">
                <a:latin typeface="Times New Roman"/>
                <a:cs typeface="Times New Roman"/>
              </a:rPr>
              <a:t>disk</a:t>
            </a:r>
            <a:r>
              <a:rPr sz="1200" spc="-20" dirty="0">
                <a:latin typeface="Times New Roman"/>
                <a:cs typeface="Times New Roman"/>
              </a:rPr>
              <a:t> </a:t>
            </a:r>
            <a:r>
              <a:rPr sz="1200" dirty="0">
                <a:latin typeface="Times New Roman"/>
                <a:cs typeface="Times New Roman"/>
              </a:rPr>
              <a:t>space</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application</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libraries.</a:t>
            </a:r>
            <a:endParaRPr sz="1200" dirty="0">
              <a:latin typeface="Times New Roman"/>
              <a:cs typeface="Times New Roman"/>
            </a:endParaRPr>
          </a:p>
          <a:p>
            <a:pPr marL="697865" lvl="1" indent="-228600">
              <a:lnSpc>
                <a:spcPct val="100000"/>
              </a:lnSpc>
              <a:spcBef>
                <a:spcPts val="635"/>
              </a:spcBef>
              <a:buSzPct val="83333"/>
              <a:buFont typeface="Symbol"/>
              <a:buChar char=""/>
              <a:tabLst>
                <a:tab pos="697865" algn="l"/>
              </a:tabLst>
            </a:pPr>
            <a:r>
              <a:rPr sz="1200" spc="-10" dirty="0">
                <a:latin typeface="Times New Roman"/>
                <a:cs typeface="Times New Roman"/>
              </a:rPr>
              <a:t>Recommended:</a:t>
            </a:r>
            <a:r>
              <a:rPr sz="1200" spc="-20"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GB</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more</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additional</a:t>
            </a:r>
            <a:r>
              <a:rPr sz="1200" spc="-15" dirty="0">
                <a:latin typeface="Times New Roman"/>
                <a:cs typeface="Times New Roman"/>
              </a:rPr>
              <a:t> </a:t>
            </a:r>
            <a:r>
              <a:rPr sz="1200" dirty="0">
                <a:latin typeface="Times New Roman"/>
                <a:cs typeface="Times New Roman"/>
              </a:rPr>
              <a:t>libraries,</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caching.</a:t>
            </a:r>
            <a:endParaRPr sz="1200" dirty="0">
              <a:latin typeface="Times New Roman"/>
              <a:cs typeface="Times New Roman"/>
            </a:endParaRPr>
          </a:p>
          <a:p>
            <a:pPr marL="240665" indent="-227965">
              <a:lnSpc>
                <a:spcPct val="100000"/>
              </a:lnSpc>
              <a:spcBef>
                <a:spcPts val="620"/>
              </a:spcBef>
              <a:buAutoNum type="arabicPeriod" startAt="4"/>
              <a:tabLst>
                <a:tab pos="240665" algn="l"/>
              </a:tabLst>
            </a:pPr>
            <a:r>
              <a:rPr sz="1400" b="1" dirty="0">
                <a:latin typeface="Times New Roman"/>
                <a:cs typeface="Times New Roman"/>
              </a:rPr>
              <a:t>Internet</a:t>
            </a:r>
            <a:r>
              <a:rPr sz="1400" b="1" spc="-25" dirty="0">
                <a:latin typeface="Times New Roman"/>
                <a:cs typeface="Times New Roman"/>
              </a:rPr>
              <a:t> </a:t>
            </a:r>
            <a:r>
              <a:rPr sz="1400" b="1" spc="-10" dirty="0">
                <a:latin typeface="Times New Roman"/>
                <a:cs typeface="Times New Roman"/>
              </a:rPr>
              <a:t>Connection</a:t>
            </a:r>
            <a:r>
              <a:rPr sz="1400" spc="-10" dirty="0" smtClean="0">
                <a:latin typeface="Times New Roman"/>
                <a:cs typeface="Times New Roman"/>
              </a:rPr>
              <a:t>:</a:t>
            </a:r>
            <a:endParaRPr lang="en-US" sz="1400" spc="-10" dirty="0" smtClean="0">
              <a:latin typeface="Times New Roman"/>
              <a:cs typeface="Times New Roman"/>
            </a:endParaRPr>
          </a:p>
          <a:p>
            <a:pPr marL="298450" indent="-285750">
              <a:spcBef>
                <a:spcPts val="620"/>
              </a:spcBef>
              <a:buFont typeface="Arial" pitchFamily="34" charset="0"/>
              <a:buChar char="•"/>
              <a:tabLst>
                <a:tab pos="240665" algn="l"/>
              </a:tabLst>
            </a:pPr>
            <a:r>
              <a:rPr lang="en-US" sz="1400" spc="-10" dirty="0" smtClean="0">
                <a:latin typeface="Times New Roman"/>
                <a:cs typeface="Times New Roman"/>
              </a:rPr>
              <a:t>Required</a:t>
            </a:r>
            <a:r>
              <a:rPr lang="en-US" sz="1400" spc="-25" dirty="0" smtClean="0">
                <a:latin typeface="Times New Roman"/>
                <a:cs typeface="Times New Roman"/>
              </a:rPr>
              <a:t> </a:t>
            </a:r>
            <a:r>
              <a:rPr lang="en-US" sz="1400" dirty="0" smtClean="0">
                <a:latin typeface="Times New Roman"/>
                <a:cs typeface="Times New Roman"/>
              </a:rPr>
              <a:t>for chrome</a:t>
            </a:r>
          </a:p>
          <a:p>
            <a:pPr marL="240665" indent="-227965">
              <a:lnSpc>
                <a:spcPct val="100000"/>
              </a:lnSpc>
              <a:spcBef>
                <a:spcPts val="620"/>
              </a:spcBef>
              <a:buAutoNum type="arabicPeriod" startAt="4"/>
              <a:tabLst>
                <a:tab pos="240665" algn="l"/>
              </a:tabLst>
            </a:pPr>
            <a:endParaRPr sz="1400" dirty="0">
              <a:latin typeface="Times New Roman"/>
              <a:cs typeface="Times New Roman"/>
            </a:endParaRP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18</a:t>
            </a:fld>
            <a:r>
              <a:rPr spc="-20" dirty="0"/>
              <a:t>]</a:t>
            </a:r>
          </a:p>
        </p:txBody>
      </p:sp>
      <p:pic>
        <p:nvPicPr>
          <p:cNvPr id="37" name="Picture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650" y="3822700"/>
            <a:ext cx="5562600" cy="5226050"/>
          </a:xfrm>
          <a:prstGeom prst="rect">
            <a:avLst/>
          </a:prstGeom>
        </p:spPr>
      </p:pic>
      <p:sp>
        <p:nvSpPr>
          <p:cNvPr id="3" name="TextBox 2"/>
          <p:cNvSpPr txBox="1"/>
          <p:nvPr/>
        </p:nvSpPr>
        <p:spPr>
          <a:xfrm>
            <a:off x="1035050" y="9309100"/>
            <a:ext cx="3886200" cy="261610"/>
          </a:xfrm>
          <a:prstGeom prst="rect">
            <a:avLst/>
          </a:prstGeom>
          <a:noFill/>
        </p:spPr>
        <p:txBody>
          <a:bodyPr wrap="square" rtlCol="0">
            <a:spAutoFit/>
          </a:bodyPr>
          <a:lstStyle/>
          <a:p>
            <a:r>
              <a:rPr lang="en-US" sz="1100" u="sng" dirty="0" smtClean="0">
                <a:uFill>
                  <a:solidFill>
                    <a:srgbClr val="000000"/>
                  </a:solidFill>
                </a:uFill>
                <a:latin typeface="Times New Roman"/>
                <a:cs typeface="Times New Roman"/>
              </a:rPr>
              <a:t>Table</a:t>
            </a:r>
            <a:r>
              <a:rPr lang="en-US" sz="1100" u="sng" spc="-25" dirty="0" smtClean="0">
                <a:uFill>
                  <a:solidFill>
                    <a:srgbClr val="000000"/>
                  </a:solidFill>
                </a:uFill>
                <a:latin typeface="Times New Roman"/>
                <a:cs typeface="Times New Roman"/>
              </a:rPr>
              <a:t> </a:t>
            </a:r>
            <a:r>
              <a:rPr lang="en-US" sz="1100" u="sng" dirty="0" smtClean="0">
                <a:uFill>
                  <a:solidFill>
                    <a:srgbClr val="000000"/>
                  </a:solidFill>
                </a:uFill>
                <a:latin typeface="Times New Roman"/>
                <a:cs typeface="Times New Roman"/>
              </a:rPr>
              <a:t>3.1.1: Module Interconnection.</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 y="2603500"/>
            <a:ext cx="6659880" cy="6350"/>
          </a:xfrm>
          <a:custGeom>
            <a:avLst/>
            <a:gdLst/>
            <a:ahLst/>
            <a:cxnLst/>
            <a:rect l="l" t="t" r="r" b="b"/>
            <a:pathLst>
              <a:path w="6659880" h="6350">
                <a:moveTo>
                  <a:pt x="6659626" y="0"/>
                </a:moveTo>
                <a:lnTo>
                  <a:pt x="0" y="0"/>
                </a:lnTo>
                <a:lnTo>
                  <a:pt x="0" y="6095"/>
                </a:lnTo>
                <a:lnTo>
                  <a:pt x="6659626" y="6095"/>
                </a:lnTo>
                <a:lnTo>
                  <a:pt x="6659626" y="0"/>
                </a:lnTo>
                <a:close/>
              </a:path>
            </a:pathLst>
          </a:custGeom>
          <a:solidFill>
            <a:srgbClr val="000000"/>
          </a:solidFill>
        </p:spPr>
        <p:txBody>
          <a:bodyPr wrap="square" lIns="0" tIns="0" rIns="0" bIns="0" rtlCol="0"/>
          <a:lstStyle/>
          <a:p>
            <a:endParaRPr/>
          </a:p>
        </p:txBody>
      </p:sp>
      <p:sp>
        <p:nvSpPr>
          <p:cNvPr id="3" name="object 3"/>
          <p:cNvSpPr txBox="1"/>
          <p:nvPr/>
        </p:nvSpPr>
        <p:spPr>
          <a:xfrm>
            <a:off x="445135" y="2736850"/>
            <a:ext cx="5831840" cy="5470087"/>
          </a:xfrm>
          <a:prstGeom prst="rect">
            <a:avLst/>
          </a:prstGeom>
        </p:spPr>
        <p:txBody>
          <a:bodyPr vert="horz" wrap="square" lIns="0" tIns="93345" rIns="0" bIns="0" rtlCol="0">
            <a:spAutoFit/>
          </a:bodyPr>
          <a:lstStyle/>
          <a:p>
            <a:pPr marL="12700">
              <a:lnSpc>
                <a:spcPct val="100000"/>
              </a:lnSpc>
            </a:pPr>
            <a:r>
              <a:rPr sz="1400" b="1" dirty="0" smtClean="0">
                <a:latin typeface="Times New Roman"/>
                <a:cs typeface="Times New Roman"/>
              </a:rPr>
              <a:t>3.3</a:t>
            </a:r>
            <a:r>
              <a:rPr sz="1400" b="1" spc="-35" dirty="0" smtClean="0">
                <a:latin typeface="Times New Roman"/>
                <a:cs typeface="Times New Roman"/>
              </a:rPr>
              <a:t> </a:t>
            </a:r>
            <a:r>
              <a:rPr sz="1400" b="1" dirty="0">
                <a:latin typeface="Times New Roman"/>
                <a:cs typeface="Times New Roman"/>
              </a:rPr>
              <a:t>Additional</a:t>
            </a:r>
            <a:r>
              <a:rPr sz="1400" b="1" spc="-30" dirty="0">
                <a:latin typeface="Times New Roman"/>
                <a:cs typeface="Times New Roman"/>
              </a:rPr>
              <a:t> </a:t>
            </a:r>
            <a:r>
              <a:rPr sz="1400" b="1" spc="-10" dirty="0">
                <a:latin typeface="Times New Roman"/>
                <a:cs typeface="Times New Roman"/>
              </a:rPr>
              <a:t>Recommendations</a:t>
            </a:r>
            <a:r>
              <a:rPr sz="1400" b="1" spc="-10" dirty="0" smtClean="0">
                <a:latin typeface="Times New Roman"/>
                <a:cs typeface="Times New Roman"/>
              </a:rPr>
              <a:t>.</a:t>
            </a:r>
            <a:endParaRPr lang="en-US" sz="1400" b="1" spc="-10" dirty="0">
              <a:latin typeface="Times New Roman"/>
              <a:cs typeface="Times New Roman"/>
            </a:endParaRPr>
          </a:p>
          <a:p>
            <a:pPr marL="12700">
              <a:lnSpc>
                <a:spcPct val="100000"/>
              </a:lnSpc>
            </a:pPr>
            <a:endParaRPr lang="en-US" sz="1400" b="1" spc="-10" dirty="0" smtClean="0">
              <a:latin typeface="Times New Roman"/>
              <a:cs typeface="Times New Roman"/>
            </a:endParaRPr>
          </a:p>
          <a:p>
            <a:pPr marL="285750" indent="-285750">
              <a:buFont typeface="Wingdings" pitchFamily="2" charset="2"/>
              <a:buChar char="v"/>
            </a:pPr>
            <a:r>
              <a:rPr lang="en-US" sz="1400" b="1" dirty="0" smtClean="0">
                <a:latin typeface="Times New Roman" pitchFamily="18" charset="0"/>
                <a:cs typeface="Times New Roman" pitchFamily="18" charset="0"/>
              </a:rPr>
              <a:t>Add User Analytics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Track user activity (pages visited, time spent) to better understand what features your users enjoy.</a:t>
            </a:r>
          </a:p>
          <a:p>
            <a:endParaRPr lang="en-US" sz="1400" dirty="0" smtClean="0">
              <a:latin typeface="Times New Roman" pitchFamily="18" charset="0"/>
              <a:cs typeface="Times New Roman" pitchFamily="18" charset="0"/>
            </a:endParaRPr>
          </a:p>
          <a:p>
            <a:pPr marL="285750" indent="-285750">
              <a:buFont typeface="Wingdings" pitchFamily="2" charset="2"/>
              <a:buChar char="v"/>
            </a:pPr>
            <a:r>
              <a:rPr lang="en-US" sz="1400" b="1" dirty="0" smtClean="0">
                <a:latin typeface="Times New Roman" pitchFamily="18" charset="0"/>
                <a:cs typeface="Times New Roman" pitchFamily="18" charset="0"/>
              </a:rPr>
              <a:t>Responsive Design Improvements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Use media queries to optimize your site for all screen sizes, especially for mobile devices.</a:t>
            </a:r>
          </a:p>
          <a:p>
            <a:endParaRPr lang="en-US" sz="1400" dirty="0" smtClean="0">
              <a:latin typeface="Times New Roman" pitchFamily="18" charset="0"/>
              <a:cs typeface="Times New Roman" pitchFamily="18" charset="0"/>
            </a:endParaRPr>
          </a:p>
          <a:p>
            <a:pPr marL="285750" indent="-285750">
              <a:buFont typeface="Wingdings" pitchFamily="2" charset="2"/>
              <a:buChar char="v"/>
            </a:pPr>
            <a:r>
              <a:rPr lang="en-US" sz="1400" b="1" dirty="0" smtClean="0">
                <a:latin typeface="Times New Roman" pitchFamily="18" charset="0"/>
                <a:cs typeface="Times New Roman" pitchFamily="18" charset="0"/>
              </a:rPr>
              <a:t>Implement Payment Gateway</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If you have a subscription option, integrate secure payment options (</a:t>
            </a:r>
            <a:r>
              <a:rPr lang="en-US" sz="1400" dirty="0" err="1" smtClean="0">
                <a:latin typeface="Times New Roman" pitchFamily="18" charset="0"/>
                <a:cs typeface="Times New Roman" pitchFamily="18" charset="0"/>
              </a:rPr>
              <a:t>paytm</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gpay</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phonepay</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etc</a:t>
            </a:r>
            <a:r>
              <a:rPr lang="en-US" sz="1400" dirty="0" smtClean="0">
                <a:latin typeface="Times New Roman" pitchFamily="18" charset="0"/>
                <a:cs typeface="Times New Roman" pitchFamily="18" charset="0"/>
              </a:rPr>
              <a:t>).</a:t>
            </a:r>
          </a:p>
          <a:p>
            <a:endParaRPr lang="en-US" sz="1400" dirty="0" smtClean="0">
              <a:latin typeface="Times New Roman" pitchFamily="18" charset="0"/>
              <a:cs typeface="Times New Roman" pitchFamily="18" charset="0"/>
            </a:endParaRPr>
          </a:p>
          <a:p>
            <a:pPr marL="285750" indent="-285750">
              <a:buFont typeface="Wingdings" pitchFamily="2" charset="2"/>
              <a:buChar char="v"/>
            </a:pPr>
            <a:r>
              <a:rPr lang="en-US" sz="1400" b="1" dirty="0" smtClean="0">
                <a:latin typeface="Times New Roman" pitchFamily="18" charset="0"/>
                <a:cs typeface="Times New Roman" pitchFamily="18" charset="0"/>
              </a:rPr>
              <a:t>Progress Tracker Feature</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Allow members to log workouts, track progress, and set fitness goals.</a:t>
            </a:r>
          </a:p>
          <a:p>
            <a:endParaRPr lang="en-US" sz="1400" dirty="0" smtClean="0">
              <a:latin typeface="Times New Roman" pitchFamily="18" charset="0"/>
              <a:cs typeface="Times New Roman" pitchFamily="18" charset="0"/>
            </a:endParaRPr>
          </a:p>
          <a:p>
            <a:pPr marL="285750" indent="-285750">
              <a:buFont typeface="Wingdings" pitchFamily="2" charset="2"/>
              <a:buChar char="v"/>
            </a:pPr>
            <a:r>
              <a:rPr lang="en-US" sz="1400" b="1" dirty="0" smtClean="0">
                <a:latin typeface="Times New Roman" pitchFamily="18" charset="0"/>
                <a:cs typeface="Times New Roman" pitchFamily="18" charset="0"/>
              </a:rPr>
              <a:t>Push Notifications (optional)</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Use browser notifications or email reminders for workouts, offers, or subscription renewals.</a:t>
            </a:r>
          </a:p>
          <a:p>
            <a:pPr marL="12700">
              <a:lnSpc>
                <a:spcPct val="100000"/>
              </a:lnSpc>
            </a:pPr>
            <a:endParaRPr lang="en-US" sz="1400" b="1" spc="-10" dirty="0" smtClean="0">
              <a:latin typeface="Times New Roman"/>
              <a:cs typeface="Times New Roman"/>
            </a:endParaRPr>
          </a:p>
          <a:p>
            <a:pPr marL="12700">
              <a:lnSpc>
                <a:spcPct val="100000"/>
              </a:lnSpc>
            </a:pPr>
            <a:endParaRPr lang="en-US" sz="1400" b="1" spc="-10" dirty="0" smtClean="0">
              <a:latin typeface="Times New Roman"/>
              <a:cs typeface="Times New Roman"/>
            </a:endParaRPr>
          </a:p>
          <a:p>
            <a:pPr marL="12700">
              <a:lnSpc>
                <a:spcPct val="100000"/>
              </a:lnSpc>
            </a:pPr>
            <a:endParaRPr sz="1400" dirty="0">
              <a:latin typeface="Times New Roman"/>
              <a:cs typeface="Times New Roman"/>
            </a:endParaRPr>
          </a:p>
          <a:p>
            <a:pPr>
              <a:lnSpc>
                <a:spcPct val="100000"/>
              </a:lnSpc>
              <a:spcBef>
                <a:spcPts val="1550"/>
              </a:spcBef>
            </a:pPr>
            <a:endParaRPr sz="1400" dirty="0">
              <a:latin typeface="Times New Roman"/>
              <a:cs typeface="Times New Roman"/>
            </a:endParaRPr>
          </a:p>
        </p:txBody>
      </p:sp>
      <p:sp>
        <p:nvSpPr>
          <p:cNvPr id="10" name="object 10"/>
          <p:cNvSpPr txBox="1"/>
          <p:nvPr/>
        </p:nvSpPr>
        <p:spPr>
          <a:xfrm>
            <a:off x="528319" y="424688"/>
            <a:ext cx="6649084" cy="2020938"/>
          </a:xfrm>
          <a:prstGeom prst="rect">
            <a:avLst/>
          </a:prstGeom>
        </p:spPr>
        <p:txBody>
          <a:bodyPr vert="horz" wrap="square" lIns="0" tIns="12700" rIns="0" bIns="0" rtlCol="0">
            <a:spAutoFit/>
          </a:bodyPr>
          <a:lstStyle/>
          <a:p>
            <a:pPr>
              <a:lnSpc>
                <a:spcPct val="100000"/>
              </a:lnSpc>
            </a:pPr>
            <a:endParaRPr sz="1200" dirty="0">
              <a:latin typeface="Times New Roman"/>
              <a:cs typeface="Times New Roman"/>
            </a:endParaRPr>
          </a:p>
          <a:p>
            <a:pPr>
              <a:lnSpc>
                <a:spcPct val="100000"/>
              </a:lnSpc>
              <a:spcBef>
                <a:spcPts val="270"/>
              </a:spcBef>
            </a:pPr>
            <a:endParaRPr sz="1200" dirty="0">
              <a:latin typeface="Times New Roman"/>
              <a:cs typeface="Times New Roman"/>
            </a:endParaRPr>
          </a:p>
          <a:p>
            <a:pPr marL="12700">
              <a:lnSpc>
                <a:spcPct val="100000"/>
              </a:lnSpc>
            </a:pPr>
            <a:r>
              <a:rPr sz="1400" b="1" dirty="0">
                <a:latin typeface="Times New Roman"/>
                <a:cs typeface="Times New Roman"/>
              </a:rPr>
              <a:t>3.2</a:t>
            </a:r>
            <a:r>
              <a:rPr sz="1400" b="1" spc="-20" dirty="0">
                <a:latin typeface="Times New Roman"/>
                <a:cs typeface="Times New Roman"/>
              </a:rPr>
              <a:t> </a:t>
            </a:r>
            <a:r>
              <a:rPr sz="1400" b="1" dirty="0">
                <a:latin typeface="Times New Roman"/>
                <a:cs typeface="Times New Roman"/>
              </a:rPr>
              <a:t>Software</a:t>
            </a:r>
            <a:r>
              <a:rPr sz="1400" b="1" spc="-20" dirty="0">
                <a:latin typeface="Times New Roman"/>
                <a:cs typeface="Times New Roman"/>
              </a:rPr>
              <a:t> </a:t>
            </a:r>
            <a:r>
              <a:rPr sz="1400" b="1" spc="-10" dirty="0">
                <a:latin typeface="Times New Roman"/>
                <a:cs typeface="Times New Roman"/>
              </a:rPr>
              <a:t>Requirements.</a:t>
            </a:r>
            <a:endParaRPr sz="1400" dirty="0">
              <a:latin typeface="Times New Roman"/>
              <a:cs typeface="Times New Roman"/>
            </a:endParaRPr>
          </a:p>
          <a:p>
            <a:pPr marL="171450" indent="-171450">
              <a:buFont typeface="Arial" pitchFamily="34" charset="0"/>
              <a:buChar char="•"/>
            </a:pPr>
            <a:r>
              <a:rPr lang="en-US" sz="1200" dirty="0" smtClean="0">
                <a:latin typeface="Times New Roman" pitchFamily="18" charset="0"/>
                <a:cs typeface="Times New Roman" pitchFamily="18" charset="0"/>
              </a:rPr>
              <a:t>Operating System: Windows 10 or later / </a:t>
            </a:r>
            <a:r>
              <a:rPr lang="en-US" sz="1200" dirty="0" err="1" smtClean="0">
                <a:latin typeface="Times New Roman" pitchFamily="18" charset="0"/>
                <a:cs typeface="Times New Roman" pitchFamily="18" charset="0"/>
              </a:rPr>
              <a:t>macOS</a:t>
            </a:r>
            <a:r>
              <a:rPr lang="en-US" sz="1200" dirty="0" smtClean="0">
                <a:latin typeface="Times New Roman" pitchFamily="18" charset="0"/>
                <a:cs typeface="Times New Roman" pitchFamily="18" charset="0"/>
              </a:rPr>
              <a:t> 10.12 or later / Linux (Ubuntu 18.04+)</a:t>
            </a:r>
          </a:p>
          <a:p>
            <a:pPr marL="171450" indent="-171450">
              <a:buFont typeface="Arial" pitchFamily="34" charset="0"/>
              <a:buChar char="•"/>
            </a:pPr>
            <a:r>
              <a:rPr lang="en-US" sz="1200" dirty="0" smtClean="0">
                <a:latin typeface="Times New Roman" pitchFamily="18" charset="0"/>
                <a:cs typeface="Times New Roman" pitchFamily="18" charset="0"/>
              </a:rPr>
              <a:t>Web Server: Apache (via XAMPP/WAMP/LAMP stack)</a:t>
            </a:r>
          </a:p>
          <a:p>
            <a:pPr marL="171450" indent="-171450">
              <a:buFont typeface="Arial" pitchFamily="34" charset="0"/>
              <a:buChar char="•"/>
            </a:pPr>
            <a:r>
              <a:rPr lang="en-US" sz="1200" dirty="0" smtClean="0">
                <a:latin typeface="Times New Roman" pitchFamily="18" charset="0"/>
                <a:cs typeface="Times New Roman" pitchFamily="18" charset="0"/>
              </a:rPr>
              <a:t>PHP Version: 7.4 or later</a:t>
            </a:r>
          </a:p>
          <a:p>
            <a:pPr marL="171450" indent="-171450">
              <a:buFont typeface="Arial" pitchFamily="34" charset="0"/>
              <a:buChar char="•"/>
            </a:pPr>
            <a:r>
              <a:rPr lang="en-US" sz="1200" dirty="0" smtClean="0">
                <a:latin typeface="Times New Roman" pitchFamily="18" charset="0"/>
                <a:cs typeface="Times New Roman" pitchFamily="18" charset="0"/>
              </a:rPr>
              <a:t>MySQL Version: 5.7 or later</a:t>
            </a:r>
          </a:p>
          <a:p>
            <a:pPr marL="171450" indent="-171450">
              <a:buFont typeface="Arial" pitchFamily="34" charset="0"/>
              <a:buChar char="•"/>
            </a:pPr>
            <a:r>
              <a:rPr lang="en-US" sz="1200" dirty="0" smtClean="0">
                <a:latin typeface="Times New Roman" pitchFamily="18" charset="0"/>
                <a:cs typeface="Times New Roman" pitchFamily="18" charset="0"/>
              </a:rPr>
              <a:t>Web Browsers: Latest versions of Chrome, Firefox, Edge, Safari</a:t>
            </a:r>
          </a:p>
          <a:p>
            <a:pPr marL="171450" indent="-171450">
              <a:buFont typeface="Arial" pitchFamily="34" charset="0"/>
              <a:buChar char="•"/>
            </a:pPr>
            <a:r>
              <a:rPr lang="en-US" sz="1200" dirty="0" smtClean="0">
                <a:latin typeface="Times New Roman" pitchFamily="18" charset="0"/>
                <a:cs typeface="Times New Roman" pitchFamily="18" charset="0"/>
              </a:rPr>
              <a:t>Code Editor: Visual Studio Code, Sublime Text, or equivalent</a:t>
            </a:r>
          </a:p>
          <a:p>
            <a:pPr marL="469900" marR="5080" indent="-228600">
              <a:lnSpc>
                <a:spcPct val="143300"/>
              </a:lnSpc>
              <a:spcBef>
                <a:spcPts val="125"/>
              </a:spcBef>
            </a:pPr>
            <a:endParaRPr sz="12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19</a:t>
            </a:fld>
            <a:r>
              <a:rPr spc="-20" dirty="0"/>
              <a:t>]</a:t>
            </a:r>
          </a:p>
        </p:txBody>
      </p:sp>
      <p:sp>
        <p:nvSpPr>
          <p:cNvPr id="12" name="object 4"/>
          <p:cNvSpPr/>
          <p:nvPr/>
        </p:nvSpPr>
        <p:spPr>
          <a:xfrm>
            <a:off x="413385" y="7404100"/>
            <a:ext cx="6431280" cy="6350"/>
          </a:xfrm>
          <a:custGeom>
            <a:avLst/>
            <a:gdLst/>
            <a:ahLst/>
            <a:cxnLst/>
            <a:rect l="l" t="t" r="r" b="b"/>
            <a:pathLst>
              <a:path w="6431280" h="6350">
                <a:moveTo>
                  <a:pt x="6431026" y="0"/>
                </a:moveTo>
                <a:lnTo>
                  <a:pt x="0" y="0"/>
                </a:lnTo>
                <a:lnTo>
                  <a:pt x="0" y="6096"/>
                </a:lnTo>
                <a:lnTo>
                  <a:pt x="6431026" y="6096"/>
                </a:lnTo>
                <a:lnTo>
                  <a:pt x="6431026" y="0"/>
                </a:lnTo>
                <a:close/>
              </a:path>
            </a:pathLst>
          </a:custGeom>
          <a:solidFill>
            <a:srgbClr val="000000"/>
          </a:solidFill>
        </p:spPr>
        <p:txBody>
          <a:bodyPr wrap="square" lIns="0" tIns="0" rIns="0" bIns="0" rtlCol="0"/>
          <a:lstStyle/>
          <a:p>
            <a:endParaRPr/>
          </a:p>
        </p:txBody>
      </p:sp>
      <p:sp>
        <p:nvSpPr>
          <p:cNvPr id="13" name="TextBox 12"/>
          <p:cNvSpPr txBox="1"/>
          <p:nvPr/>
        </p:nvSpPr>
        <p:spPr>
          <a:xfrm>
            <a:off x="413384" y="7632700"/>
            <a:ext cx="6299835" cy="646331"/>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NOTE:</a:t>
            </a:r>
            <a:r>
              <a:rPr lang="en-US" sz="1200" dirty="0" smtClean="0">
                <a:latin typeface="Times New Roman" pitchFamily="18" charset="0"/>
                <a:cs typeface="Times New Roman" pitchFamily="18" charset="0"/>
              </a:rPr>
              <a:t> For best results, run this project on a local server environment such as </a:t>
            </a:r>
            <a:r>
              <a:rPr lang="en-US" sz="1200" b="1" dirty="0" smtClean="0">
                <a:latin typeface="Times New Roman" pitchFamily="18" charset="0"/>
                <a:cs typeface="Times New Roman" pitchFamily="18" charset="0"/>
              </a:rPr>
              <a:t>XAMPP</a:t>
            </a:r>
            <a:r>
              <a:rPr lang="en-US" sz="1200" dirty="0" smtClean="0">
                <a:latin typeface="Times New Roman" pitchFamily="18" charset="0"/>
                <a:cs typeface="Times New Roman" pitchFamily="18" charset="0"/>
              </a:rPr>
              <a:t> or </a:t>
            </a:r>
            <a:r>
              <a:rPr lang="en-US" sz="1200" b="1" dirty="0" smtClean="0">
                <a:latin typeface="Times New Roman" pitchFamily="18" charset="0"/>
                <a:cs typeface="Times New Roman" pitchFamily="18" charset="0"/>
              </a:rPr>
              <a:t>WAMP</a:t>
            </a:r>
            <a:r>
              <a:rPr lang="en-US" sz="1200" dirty="0" smtClean="0">
                <a:latin typeface="Times New Roman" pitchFamily="18" charset="0"/>
                <a:cs typeface="Times New Roman" pitchFamily="18" charset="0"/>
              </a:rPr>
              <a:t>.</a:t>
            </a:r>
          </a:p>
          <a:p>
            <a:r>
              <a:rPr lang="en-US" sz="1200" dirty="0" smtClean="0">
                <a:latin typeface="Times New Roman" pitchFamily="18" charset="0"/>
                <a:cs typeface="Times New Roman" pitchFamily="18" charset="0"/>
              </a:rPr>
              <a:t> </a:t>
            </a:r>
            <a:endParaRPr lang="en-US" sz="12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2731" y="2729737"/>
            <a:ext cx="6659880" cy="6350"/>
          </a:xfrm>
          <a:custGeom>
            <a:avLst/>
            <a:gdLst/>
            <a:ahLst/>
            <a:cxnLst/>
            <a:rect l="l" t="t" r="r" b="b"/>
            <a:pathLst>
              <a:path w="6659880" h="6350">
                <a:moveTo>
                  <a:pt x="6659626" y="0"/>
                </a:moveTo>
                <a:lnTo>
                  <a:pt x="0" y="0"/>
                </a:lnTo>
                <a:lnTo>
                  <a:pt x="0" y="6096"/>
                </a:lnTo>
                <a:lnTo>
                  <a:pt x="6659626" y="6096"/>
                </a:lnTo>
                <a:lnTo>
                  <a:pt x="6659626" y="0"/>
                </a:lnTo>
                <a:close/>
              </a:path>
            </a:pathLst>
          </a:custGeom>
          <a:solidFill>
            <a:srgbClr val="000000"/>
          </a:solidFill>
        </p:spPr>
        <p:txBody>
          <a:bodyPr wrap="square" lIns="0" tIns="0" rIns="0" bIns="0" rtlCol="0"/>
          <a:lstStyle/>
          <a:p>
            <a:endParaRPr/>
          </a:p>
        </p:txBody>
      </p:sp>
      <p:sp>
        <p:nvSpPr>
          <p:cNvPr id="5" name="object 5"/>
          <p:cNvSpPr txBox="1"/>
          <p:nvPr/>
        </p:nvSpPr>
        <p:spPr>
          <a:xfrm>
            <a:off x="522731" y="350772"/>
            <a:ext cx="6648450" cy="10289355"/>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4</a:t>
            </a:r>
            <a:endParaRPr sz="1600" dirty="0">
              <a:latin typeface="Times New Roman"/>
              <a:cs typeface="Times New Roman"/>
            </a:endParaRPr>
          </a:p>
          <a:p>
            <a:pPr>
              <a:lnSpc>
                <a:spcPct val="100000"/>
              </a:lnSpc>
              <a:spcBef>
                <a:spcPts val="1780"/>
              </a:spcBef>
            </a:pPr>
            <a:endParaRPr sz="1600" dirty="0">
              <a:latin typeface="Times New Roman"/>
              <a:cs typeface="Times New Roman"/>
            </a:endParaRPr>
          </a:p>
          <a:p>
            <a:pPr marL="280035" lvl="1" indent="-267335" algn="just">
              <a:lnSpc>
                <a:spcPct val="100000"/>
              </a:lnSpc>
              <a:buAutoNum type="arabicPeriod"/>
              <a:tabLst>
                <a:tab pos="280035" algn="l"/>
              </a:tabLst>
            </a:pPr>
            <a:r>
              <a:rPr sz="1400" b="1" dirty="0">
                <a:latin typeface="Times New Roman"/>
                <a:cs typeface="Times New Roman"/>
              </a:rPr>
              <a:t>Literature</a:t>
            </a:r>
            <a:r>
              <a:rPr sz="1400" b="1" spc="-30" dirty="0">
                <a:latin typeface="Times New Roman"/>
                <a:cs typeface="Times New Roman"/>
              </a:rPr>
              <a:t> </a:t>
            </a:r>
            <a:r>
              <a:rPr sz="1400" b="1" dirty="0">
                <a:latin typeface="Times New Roman"/>
                <a:cs typeface="Times New Roman"/>
              </a:rPr>
              <a:t>Review</a:t>
            </a:r>
            <a:r>
              <a:rPr sz="1400" b="1" spc="-35" dirty="0">
                <a:latin typeface="Times New Roman"/>
                <a:cs typeface="Times New Roman"/>
              </a:rPr>
              <a:t> </a:t>
            </a:r>
            <a:r>
              <a:rPr sz="1400" b="1" dirty="0">
                <a:latin typeface="Times New Roman"/>
                <a:cs typeface="Times New Roman"/>
              </a:rPr>
              <a:t>of</a:t>
            </a:r>
            <a:r>
              <a:rPr sz="1400" b="1" spc="-25" dirty="0">
                <a:latin typeface="Times New Roman"/>
                <a:cs typeface="Times New Roman"/>
              </a:rPr>
              <a:t> </a:t>
            </a:r>
            <a:r>
              <a:rPr sz="1400" b="1" dirty="0" smtClean="0">
                <a:latin typeface="Times New Roman"/>
                <a:cs typeface="Times New Roman"/>
              </a:rPr>
              <a:t>the</a:t>
            </a:r>
            <a:r>
              <a:rPr lang="en-US" sz="1400" b="1" dirty="0" smtClean="0">
                <a:latin typeface="Times New Roman"/>
                <a:cs typeface="Times New Roman"/>
              </a:rPr>
              <a:t> Fitness-freak website</a:t>
            </a:r>
            <a:r>
              <a:rPr sz="1400" b="1" spc="-20" dirty="0" smtClean="0">
                <a:latin typeface="Times New Roman"/>
                <a:cs typeface="Times New Roman"/>
              </a:rPr>
              <a:t>.</a:t>
            </a:r>
            <a:endParaRPr lang="en-US" sz="1400" b="1" spc="-20" dirty="0" smtClean="0">
              <a:latin typeface="Times New Roman"/>
              <a:cs typeface="Times New Roman"/>
            </a:endParaRPr>
          </a:p>
          <a:p>
            <a:pPr marL="12700" lvl="1" algn="just">
              <a:lnSpc>
                <a:spcPct val="100000"/>
              </a:lnSpc>
              <a:tabLst>
                <a:tab pos="280035" algn="l"/>
              </a:tabLst>
            </a:pPr>
            <a:endParaRPr sz="1400" dirty="0">
              <a:latin typeface="Times New Roman"/>
              <a:cs typeface="Times New Roman"/>
            </a:endParaRPr>
          </a:p>
          <a:p>
            <a:pPr>
              <a:lnSpc>
                <a:spcPct val="100000"/>
              </a:lnSpc>
            </a:pPr>
            <a:r>
              <a:rPr lang="en-US" sz="1200" dirty="0" smtClean="0">
                <a:latin typeface="Times New Roman" pitchFamily="18" charset="0"/>
                <a:cs typeface="Times New Roman" pitchFamily="18" charset="0"/>
              </a:rPr>
              <a:t>The Fitness Freak Gym Website is a comprehensive web application that provides users with access to workout plans, gym memberships, subscriptions, online store purchases, and personalized services. This literature review explores existing research and applications in the areas of health &amp; fitness applications, subscription management systems, e-commerce integration, user experience design, and API-driven web development, emphasizing the value of integrating these components into a unified platform.</a:t>
            </a:r>
            <a:endParaRPr sz="1200" dirty="0">
              <a:latin typeface="Times New Roman" pitchFamily="18" charset="0"/>
              <a:cs typeface="Times New Roman" pitchFamily="18" charset="0"/>
            </a:endParaRPr>
          </a:p>
          <a:p>
            <a:pPr>
              <a:lnSpc>
                <a:spcPct val="100000"/>
              </a:lnSpc>
              <a:spcBef>
                <a:spcPts val="95"/>
              </a:spcBef>
            </a:pPr>
            <a:endParaRPr sz="1200" dirty="0">
              <a:latin typeface="Times New Roman"/>
              <a:cs typeface="Times New Roman"/>
            </a:endParaRPr>
          </a:p>
          <a:p>
            <a:pPr marL="342900" indent="-342900">
              <a:buAutoNum type="arabicPeriod" startAt="2"/>
            </a:pPr>
            <a:r>
              <a:rPr lang="en-US" sz="1400" b="1" dirty="0" smtClean="0">
                <a:latin typeface="Times New Roman" pitchFamily="18" charset="0"/>
                <a:cs typeface="Times New Roman" pitchFamily="18" charset="0"/>
              </a:rPr>
              <a:t>Health &amp; </a:t>
            </a:r>
            <a:r>
              <a:rPr lang="en-US" sz="1400" b="1" dirty="0" smtClean="0">
                <a:latin typeface="Times New Roman" pitchFamily="18" charset="0"/>
                <a:cs typeface="Times New Roman" pitchFamily="18" charset="0"/>
              </a:rPr>
              <a:t>Fitness </a:t>
            </a:r>
            <a:r>
              <a:rPr lang="en-US" sz="1400" b="1" dirty="0" err="1" smtClean="0">
                <a:latin typeface="Times New Roman" pitchFamily="18" charset="0"/>
                <a:cs typeface="Times New Roman" pitchFamily="18" charset="0"/>
              </a:rPr>
              <a:t>Websitelications</a:t>
            </a:r>
            <a:endParaRPr lang="en-US" sz="1400" b="1" dirty="0" smtClean="0">
              <a:latin typeface="Times New Roman" pitchFamily="18" charset="0"/>
              <a:cs typeface="Times New Roman" pitchFamily="18" charset="0"/>
            </a:endParaRPr>
          </a:p>
          <a:p>
            <a:endParaRPr lang="en-US" sz="1400" b="1"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rise of digital fitness platforms has transformed how users engage with exercise and wellness programs. According to Chen et al. (2017), the integration of technology into fitness has led to higher user motivation, better progress tracking, and more personalized workout experiences. The </a:t>
            </a:r>
            <a:r>
              <a:rPr lang="en-US" sz="1200" b="1" dirty="0" smtClean="0">
                <a:latin typeface="Times New Roman" pitchFamily="18" charset="0"/>
                <a:cs typeface="Times New Roman" pitchFamily="18" charset="0"/>
              </a:rPr>
              <a:t>Fitness Freak Gym Website</a:t>
            </a:r>
            <a:r>
              <a:rPr lang="en-US" sz="1200" dirty="0" smtClean="0">
                <a:latin typeface="Times New Roman" pitchFamily="18" charset="0"/>
                <a:cs typeface="Times New Roman" pitchFamily="18" charset="0"/>
              </a:rPr>
              <a:t> offers structured workout plans and membership options, enabling users to access professional gym services remotely.</a:t>
            </a:r>
          </a:p>
          <a:p>
            <a:r>
              <a:rPr lang="en-US" sz="1200" dirty="0" smtClean="0">
                <a:latin typeface="Times New Roman" pitchFamily="18" charset="0"/>
                <a:cs typeface="Times New Roman" pitchFamily="18" charset="0"/>
              </a:rPr>
              <a:t>Research by Yang et al. (2019) emphasizes the importance of personalized fitness plans that adapt to user goals, experience level, and preferences. Incorporating such features into web platforms enhances user adherence to workout routines and supports long-term fitness success.</a:t>
            </a:r>
          </a:p>
          <a:p>
            <a:endParaRPr lang="en-US" sz="1200" dirty="0" smtClean="0">
              <a:latin typeface="Times New Roman" pitchFamily="18" charset="0"/>
              <a:cs typeface="Times New Roman" pitchFamily="18" charset="0"/>
            </a:endParaRPr>
          </a:p>
          <a:p>
            <a:r>
              <a:rPr lang="en-US" sz="1400" b="1" dirty="0" smtClean="0">
                <a:latin typeface="Times New Roman" pitchFamily="18" charset="0"/>
                <a:cs typeface="Times New Roman" pitchFamily="18" charset="0"/>
              </a:rPr>
              <a:t>3.     Subscription Management Systems</a:t>
            </a:r>
          </a:p>
          <a:p>
            <a:endParaRPr lang="en-US" sz="1200" b="1"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Subscription-based services have become a dominant model in modern digital applications. According to McCarthy et al. (2016), subscription systems allow for recurring revenue streams and improved customer retention. The Fitness Freak Gym Website leverages subscription models for gym memberships and online services, providing users with flexible payment options.</a:t>
            </a:r>
          </a:p>
          <a:p>
            <a:r>
              <a:rPr lang="en-US" sz="1200" dirty="0" smtClean="0">
                <a:latin typeface="Times New Roman" pitchFamily="18" charset="0"/>
                <a:cs typeface="Times New Roman" pitchFamily="18" charset="0"/>
              </a:rPr>
              <a:t>Salas platforms and gym management systems often employ automated billing, membership renewal, and payment reminders to simplify subscription management (Brown &amp; Smith, 2018). Integration with payment gateways further streamlines transactions while ensuring security and compliance.</a:t>
            </a:r>
          </a:p>
          <a:p>
            <a:endParaRPr lang="en-US" sz="1200" dirty="0" smtClean="0">
              <a:latin typeface="Times New Roman" pitchFamily="18" charset="0"/>
              <a:cs typeface="Times New Roman" pitchFamily="18" charset="0"/>
            </a:endParaRPr>
          </a:p>
          <a:p>
            <a:r>
              <a:rPr lang="en-US" sz="1400" b="1" dirty="0" smtClean="0">
                <a:latin typeface="Times New Roman" pitchFamily="18" charset="0"/>
                <a:cs typeface="Times New Roman" pitchFamily="18" charset="0"/>
              </a:rPr>
              <a:t>4.     E-Commerce Integration in Fitness Platforms</a:t>
            </a:r>
          </a:p>
          <a:p>
            <a:endParaRPr lang="en-US" sz="1200" b="1"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integration of e-commerce functionality within fitness platforms allows gyms to diversify revenue streams by selling merchandise, supplements, or fitness gear. Research by Lim et al. (2017) indicates that users prefer integrated platforms where they can manage their workouts, memberships, and product purchases within a single interface.</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Fitness Freak Gym Website incorporates a store module where users can purchase products and manage their cart. E-commerce integration enhances user engagement by providing a convenient one-stop solution for fitness and shopping needs.</a:t>
            </a:r>
          </a:p>
          <a:p>
            <a:endParaRPr lang="en-US" sz="1200" dirty="0" smtClean="0">
              <a:latin typeface="Times New Roman" pitchFamily="18" charset="0"/>
              <a:cs typeface="Times New Roman" pitchFamily="18" charset="0"/>
            </a:endParaRPr>
          </a:p>
          <a:p>
            <a:r>
              <a:rPr lang="en-US" sz="1400" b="1" dirty="0" smtClean="0">
                <a:latin typeface="Times New Roman" pitchFamily="18" charset="0"/>
                <a:cs typeface="Times New Roman" pitchFamily="18" charset="0"/>
              </a:rPr>
              <a:t>5.     User Experience (UX) and Interface Design</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A critical factor influencing the success of fitness web applications is user experience. According to Norman (2013), user-centered design principles ensure that applications are intuitive, accessible, and engaging. The Fitness Freak Gym Website employs responsive design techniques, intuitive navigation, and simple user flows to accommodate users across various devices and technical backgrounds.</a:t>
            </a:r>
          </a:p>
          <a:p>
            <a:r>
              <a:rPr lang="en-US" sz="1200" dirty="0" smtClean="0">
                <a:latin typeface="Times New Roman" pitchFamily="18" charset="0"/>
                <a:cs typeface="Times New Roman" pitchFamily="18" charset="0"/>
              </a:rPr>
              <a:t>Studies by </a:t>
            </a:r>
            <a:r>
              <a:rPr lang="en-US" sz="1200" dirty="0" err="1" smtClean="0">
                <a:latin typeface="Times New Roman" pitchFamily="18" charset="0"/>
                <a:cs typeface="Times New Roman" pitchFamily="18" charset="0"/>
              </a:rPr>
              <a:t>Hassenzahl</a:t>
            </a:r>
            <a:r>
              <a:rPr lang="en-US" sz="1200" dirty="0" smtClean="0">
                <a:latin typeface="Times New Roman" pitchFamily="18" charset="0"/>
                <a:cs typeface="Times New Roman" pitchFamily="18" charset="0"/>
              </a:rPr>
              <a:t> (2010) suggest that positive user experience leads to higher engagement and long-term platform loyalty. Features such as clear subscription options, easy login/signup processes, visually appealing interfaces, and responsive layouts contribute to overall satisfaction.</a:t>
            </a: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20</a:t>
            </a:fld>
            <a:r>
              <a:rPr spc="-2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2731" y="2598673"/>
            <a:ext cx="6659880" cy="6350"/>
          </a:xfrm>
          <a:custGeom>
            <a:avLst/>
            <a:gdLst/>
            <a:ahLst/>
            <a:cxnLst/>
            <a:rect l="l" t="t" r="r" b="b"/>
            <a:pathLst>
              <a:path w="6659880" h="6350">
                <a:moveTo>
                  <a:pt x="6659626" y="0"/>
                </a:moveTo>
                <a:lnTo>
                  <a:pt x="0" y="0"/>
                </a:lnTo>
                <a:lnTo>
                  <a:pt x="0" y="6096"/>
                </a:lnTo>
                <a:lnTo>
                  <a:pt x="6659626" y="6096"/>
                </a:lnTo>
                <a:lnTo>
                  <a:pt x="6659626" y="0"/>
                </a:lnTo>
                <a:close/>
              </a:path>
            </a:pathLst>
          </a:custGeom>
          <a:solidFill>
            <a:srgbClr val="000000"/>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21</a:t>
            </a:fld>
            <a:r>
              <a:rPr spc="-20" dirty="0"/>
              <a:t>]</a:t>
            </a:r>
          </a:p>
        </p:txBody>
      </p:sp>
      <p:sp>
        <p:nvSpPr>
          <p:cNvPr id="7" name="TextBox 6"/>
          <p:cNvSpPr txBox="1"/>
          <p:nvPr/>
        </p:nvSpPr>
        <p:spPr>
          <a:xfrm>
            <a:off x="466342" y="317500"/>
            <a:ext cx="6781800" cy="5078313"/>
          </a:xfrm>
          <a:prstGeom prst="rect">
            <a:avLst/>
          </a:prstGeom>
          <a:noFill/>
        </p:spPr>
        <p:txBody>
          <a:bodyPr wrap="square" rtlCol="0">
            <a:spAutoFit/>
          </a:bodyPr>
          <a:lstStyle/>
          <a:p>
            <a:r>
              <a:rPr lang="en-US" sz="1400" b="1" dirty="0" smtClean="0">
                <a:latin typeface="Times New Roman" pitchFamily="18" charset="0"/>
                <a:cs typeface="Times New Roman" pitchFamily="18" charset="0"/>
              </a:rPr>
              <a:t>API Integration and Third-Party Services</a:t>
            </a:r>
          </a:p>
          <a:p>
            <a:endParaRPr lang="en-US" sz="1400" b="1" dirty="0" smtClean="0"/>
          </a:p>
          <a:p>
            <a:r>
              <a:rPr lang="en-US" sz="1200" dirty="0" smtClean="0">
                <a:latin typeface="Times New Roman" pitchFamily="18" charset="0"/>
                <a:cs typeface="Times New Roman" pitchFamily="18" charset="0"/>
              </a:rPr>
              <a:t>Modern web applications frequently integrate external APIs to enhance functionality and reduce development time. According to Zhang et al. (2018), API integration allows developers to leverage secure payment processing, email services, and notification systems without building these complex systems from scratch.</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Fitness Freak Gym Website integrates:</a:t>
            </a:r>
          </a:p>
          <a:p>
            <a:r>
              <a:rPr lang="en-US" sz="1200" dirty="0" smtClean="0">
                <a:latin typeface="Times New Roman" pitchFamily="18" charset="0"/>
                <a:cs typeface="Times New Roman" pitchFamily="18" charset="0"/>
              </a:rPr>
              <a:t>Payment Gateway APIs (e.g., Razor pay, Stripe, PayPal) for subscription payments and store purchases.</a:t>
            </a:r>
          </a:p>
          <a:p>
            <a:r>
              <a:rPr lang="en-US" sz="1200" dirty="0" smtClean="0">
                <a:latin typeface="Times New Roman" pitchFamily="18" charset="0"/>
                <a:cs typeface="Times New Roman" pitchFamily="18" charset="0"/>
              </a:rPr>
              <a:t>Email APIs / SMTP Services (e.g., Gmail SMTP, Send Grid) for sending order confirmations, account verifications, and notifications.</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SMS Gateway APIs (optional) for delivering real-time alerts and promotional offers to users.</a:t>
            </a:r>
          </a:p>
          <a:p>
            <a:r>
              <a:rPr lang="en-US" sz="1200" dirty="0" smtClean="0">
                <a:latin typeface="Times New Roman" pitchFamily="18" charset="0"/>
                <a:cs typeface="Times New Roman" pitchFamily="18" charset="0"/>
              </a:rPr>
              <a:t>These integrations ensure seamless transactions, enhance security, and provide robust communication channels with users.</a:t>
            </a:r>
          </a:p>
          <a:p>
            <a:endParaRPr lang="en-US" sz="1200" dirty="0" smtClean="0">
              <a:latin typeface="Times New Roman" pitchFamily="18" charset="0"/>
              <a:cs typeface="Times New Roman" pitchFamily="18" charset="0"/>
            </a:endParaRPr>
          </a:p>
          <a:p>
            <a:r>
              <a:rPr lang="en-US" sz="1400" b="1" dirty="0" smtClean="0">
                <a:latin typeface="Times New Roman" pitchFamily="18" charset="0"/>
                <a:cs typeface="Times New Roman" pitchFamily="18" charset="0"/>
              </a:rPr>
              <a:t>Cross-Platform Compatibility</a:t>
            </a:r>
          </a:p>
          <a:p>
            <a:endParaRPr lang="en-US" sz="1200" b="1"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In today’s mobile-centric world, cross-platform accessibility is essential for fitness applications. Benedict et al. (2018) stress that users expect web applications to function across desktops, tablets, and smartphones without sacrificing performance or usability.</a:t>
            </a:r>
          </a:p>
          <a:p>
            <a:r>
              <a:rPr lang="en-US" sz="1200" dirty="0" smtClean="0">
                <a:latin typeface="Times New Roman" pitchFamily="18" charset="0"/>
                <a:cs typeface="Times New Roman" pitchFamily="18" charset="0"/>
              </a:rPr>
              <a:t>The Fitness Freak Gym Website is built using widely supported web technologies (HTML, CSS, JavaScript, PHP, MySQL), making it accessible on multiple platforms and browsers. This flexibility ensures that users can interact with the system from any device, increasing convenience and engagement.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319" y="369823"/>
            <a:ext cx="6646545" cy="1905009"/>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5</a:t>
            </a:r>
            <a:endParaRPr sz="1600" dirty="0">
              <a:latin typeface="Times New Roman"/>
              <a:cs typeface="Times New Roman"/>
            </a:endParaRPr>
          </a:p>
          <a:p>
            <a:pPr>
              <a:lnSpc>
                <a:spcPct val="100000"/>
              </a:lnSpc>
              <a:spcBef>
                <a:spcPts val="1780"/>
              </a:spcBef>
            </a:pPr>
            <a:endParaRPr sz="1600" dirty="0">
              <a:latin typeface="Times New Roman"/>
              <a:cs typeface="Times New Roman"/>
            </a:endParaRPr>
          </a:p>
          <a:p>
            <a:pPr marL="12700" algn="just">
              <a:lnSpc>
                <a:spcPct val="100000"/>
              </a:lnSpc>
            </a:pPr>
            <a:r>
              <a:rPr sz="1400" b="1" dirty="0">
                <a:latin typeface="Times New Roman"/>
                <a:cs typeface="Times New Roman"/>
              </a:rPr>
              <a:t>5.1</a:t>
            </a:r>
            <a:r>
              <a:rPr sz="1400" b="1" spc="-15" dirty="0">
                <a:latin typeface="Times New Roman"/>
                <a:cs typeface="Times New Roman"/>
              </a:rPr>
              <a:t> </a:t>
            </a:r>
            <a:r>
              <a:rPr sz="1400" b="1" dirty="0">
                <a:latin typeface="Times New Roman"/>
                <a:cs typeface="Times New Roman"/>
              </a:rPr>
              <a:t>Methodology</a:t>
            </a:r>
            <a:r>
              <a:rPr sz="1400" b="1" spc="-25" dirty="0">
                <a:latin typeface="Times New Roman"/>
                <a:cs typeface="Times New Roman"/>
              </a:rPr>
              <a:t> </a:t>
            </a:r>
            <a:r>
              <a:rPr sz="1400" b="1" dirty="0">
                <a:latin typeface="Times New Roman"/>
                <a:cs typeface="Times New Roman"/>
              </a:rPr>
              <a:t>for</a:t>
            </a:r>
            <a:r>
              <a:rPr sz="1400" b="1" spc="-30" dirty="0">
                <a:latin typeface="Times New Roman"/>
                <a:cs typeface="Times New Roman"/>
              </a:rPr>
              <a:t> </a:t>
            </a:r>
            <a:r>
              <a:rPr sz="1400" b="1" dirty="0" smtClean="0">
                <a:latin typeface="Times New Roman"/>
                <a:cs typeface="Times New Roman"/>
              </a:rPr>
              <a:t>the</a:t>
            </a:r>
            <a:r>
              <a:rPr sz="1400" b="1" spc="-25" dirty="0" smtClean="0">
                <a:latin typeface="Times New Roman"/>
                <a:cs typeface="Times New Roman"/>
              </a:rPr>
              <a:t> </a:t>
            </a:r>
            <a:r>
              <a:rPr lang="en-US" sz="1400" b="1" spc="-25" dirty="0" smtClean="0">
                <a:latin typeface="Times New Roman"/>
                <a:cs typeface="Times New Roman"/>
              </a:rPr>
              <a:t>Fitness Freak </a:t>
            </a:r>
            <a:r>
              <a:rPr lang="en-US" sz="1400" b="1" spc="-25" dirty="0" smtClean="0">
                <a:latin typeface="Times New Roman"/>
                <a:cs typeface="Times New Roman"/>
              </a:rPr>
              <a:t>Website</a:t>
            </a:r>
            <a:endParaRPr lang="en-US" sz="1400" b="1" spc="-25" dirty="0" smtClean="0">
              <a:latin typeface="Times New Roman"/>
              <a:cs typeface="Times New Roman"/>
            </a:endParaRPr>
          </a:p>
          <a:p>
            <a:pPr marL="12700" algn="just">
              <a:lnSpc>
                <a:spcPct val="100000"/>
              </a:lnSpc>
            </a:pPr>
            <a:endParaRPr lang="en-US" sz="1400" b="1" spc="-25" dirty="0" smtClean="0">
              <a:latin typeface="Times New Roman"/>
              <a:cs typeface="Times New Roman"/>
            </a:endParaRPr>
          </a:p>
          <a:p>
            <a:pPr marL="12700" algn="just">
              <a:lnSpc>
                <a:spcPct val="100000"/>
              </a:lnSpc>
            </a:pPr>
            <a:r>
              <a:rPr lang="en-US" sz="1200" dirty="0" smtClean="0">
                <a:latin typeface="Times New Roman" pitchFamily="18" charset="0"/>
                <a:cs typeface="Times New Roman" pitchFamily="18" charset="0"/>
              </a:rPr>
              <a:t>The </a:t>
            </a:r>
            <a:r>
              <a:rPr lang="en-US" sz="1200" dirty="0" smtClean="0">
                <a:latin typeface="Times New Roman" pitchFamily="18" charset="0"/>
                <a:cs typeface="Times New Roman" pitchFamily="18" charset="0"/>
              </a:rPr>
              <a:t>methodology adopted for the development of the </a:t>
            </a:r>
            <a:r>
              <a:rPr lang="en-US" sz="1200" b="1" dirty="0" smtClean="0">
                <a:latin typeface="Times New Roman" pitchFamily="18" charset="0"/>
                <a:cs typeface="Times New Roman" pitchFamily="18" charset="0"/>
              </a:rPr>
              <a:t>Fitness Freak Gym Website</a:t>
            </a:r>
            <a:r>
              <a:rPr lang="en-US" sz="1200" dirty="0" smtClean="0">
                <a:latin typeface="Times New Roman" pitchFamily="18" charset="0"/>
                <a:cs typeface="Times New Roman" pitchFamily="18" charset="0"/>
              </a:rPr>
              <a:t> follows a systematic process consisting of </a:t>
            </a:r>
            <a:r>
              <a:rPr lang="en-US" sz="1200" b="1" dirty="0" smtClean="0">
                <a:latin typeface="Times New Roman" pitchFamily="18" charset="0"/>
                <a:cs typeface="Times New Roman" pitchFamily="18" charset="0"/>
              </a:rPr>
              <a:t>requirement analysis, system design, development, testing, and evaluation</a:t>
            </a:r>
            <a:r>
              <a:rPr lang="en-US" sz="1200" dirty="0" smtClean="0">
                <a:latin typeface="Times New Roman" pitchFamily="18" charset="0"/>
                <a:cs typeface="Times New Roman" pitchFamily="18" charset="0"/>
              </a:rPr>
              <a:t>. The goal was to create an interactive, user-friendly, and fully functional web-based platform to manage gym memberships, subscriptions, workout plans, store purchases, and user engagement.</a:t>
            </a:r>
            <a:endParaRPr sz="1200" dirty="0">
              <a:latin typeface="Times New Roman" pitchFamily="18" charset="0"/>
              <a:cs typeface="Times New Roman" pitchFamily="18" charset="0"/>
            </a:endParaRPr>
          </a:p>
        </p:txBody>
      </p:sp>
      <p:sp>
        <p:nvSpPr>
          <p:cNvPr id="3" name="object 3"/>
          <p:cNvSpPr/>
          <p:nvPr/>
        </p:nvSpPr>
        <p:spPr>
          <a:xfrm>
            <a:off x="522731" y="2729737"/>
            <a:ext cx="6659880" cy="6350"/>
          </a:xfrm>
          <a:custGeom>
            <a:avLst/>
            <a:gdLst/>
            <a:ahLst/>
            <a:cxnLst/>
            <a:rect l="l" t="t" r="r" b="b"/>
            <a:pathLst>
              <a:path w="6659880" h="6350">
                <a:moveTo>
                  <a:pt x="6659626" y="0"/>
                </a:moveTo>
                <a:lnTo>
                  <a:pt x="0" y="0"/>
                </a:lnTo>
                <a:lnTo>
                  <a:pt x="0" y="6096"/>
                </a:lnTo>
                <a:lnTo>
                  <a:pt x="6659626" y="6096"/>
                </a:lnTo>
                <a:lnTo>
                  <a:pt x="6659626" y="0"/>
                </a:lnTo>
                <a:close/>
              </a:path>
            </a:pathLst>
          </a:custGeom>
          <a:solidFill>
            <a:srgbClr val="000000"/>
          </a:solidFill>
        </p:spPr>
        <p:txBody>
          <a:bodyPr wrap="square" lIns="0" tIns="0" rIns="0" bIns="0" rtlCol="0"/>
          <a:lstStyle/>
          <a:p>
            <a:endParaRPr/>
          </a:p>
        </p:txBody>
      </p:sp>
      <p:sp>
        <p:nvSpPr>
          <p:cNvPr id="4" name="object 4"/>
          <p:cNvSpPr txBox="1"/>
          <p:nvPr/>
        </p:nvSpPr>
        <p:spPr>
          <a:xfrm>
            <a:off x="522731" y="2374900"/>
            <a:ext cx="6646545" cy="4468403"/>
          </a:xfrm>
          <a:prstGeom prst="rect">
            <a:avLst/>
          </a:prstGeom>
        </p:spPr>
        <p:txBody>
          <a:bodyPr vert="horz" wrap="square" lIns="0" tIns="122555" rIns="0" bIns="0" rtlCol="0">
            <a:spAutoFit/>
          </a:bodyPr>
          <a:lstStyle/>
          <a:p>
            <a:pPr marL="12700">
              <a:lnSpc>
                <a:spcPct val="100000"/>
              </a:lnSpc>
              <a:spcBef>
                <a:spcPts val="965"/>
              </a:spcBef>
            </a:pPr>
            <a:r>
              <a:rPr sz="1400" b="1" dirty="0">
                <a:latin typeface="Times New Roman"/>
                <a:cs typeface="Times New Roman"/>
              </a:rPr>
              <a:t>5.2</a:t>
            </a:r>
            <a:r>
              <a:rPr sz="1400" b="1" spc="-30" dirty="0">
                <a:latin typeface="Times New Roman"/>
                <a:cs typeface="Times New Roman"/>
              </a:rPr>
              <a:t> </a:t>
            </a:r>
            <a:r>
              <a:rPr sz="1400" b="1" dirty="0">
                <a:latin typeface="Times New Roman"/>
                <a:cs typeface="Times New Roman"/>
              </a:rPr>
              <a:t>Project</a:t>
            </a:r>
            <a:r>
              <a:rPr sz="1400" b="1" spc="-30" dirty="0">
                <a:latin typeface="Times New Roman"/>
                <a:cs typeface="Times New Roman"/>
              </a:rPr>
              <a:t> </a:t>
            </a:r>
            <a:r>
              <a:rPr sz="1400" b="1" dirty="0">
                <a:latin typeface="Times New Roman"/>
                <a:cs typeface="Times New Roman"/>
              </a:rPr>
              <a:t>Design</a:t>
            </a:r>
            <a:r>
              <a:rPr sz="1400" b="1" spc="-35"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spc="-10" dirty="0" smtClean="0">
                <a:latin typeface="Times New Roman"/>
                <a:cs typeface="Times New Roman"/>
              </a:rPr>
              <a:t>Planning</a:t>
            </a:r>
            <a:endParaRPr lang="en-US" sz="1400" b="1" spc="-10" dirty="0" smtClean="0">
              <a:latin typeface="Times New Roman"/>
              <a:cs typeface="Times New Roman"/>
            </a:endParaRPr>
          </a:p>
          <a:p>
            <a:pPr marL="12700">
              <a:lnSpc>
                <a:spcPct val="100000"/>
              </a:lnSpc>
              <a:spcBef>
                <a:spcPts val="965"/>
              </a:spcBef>
            </a:pPr>
            <a:endParaRPr sz="1400" dirty="0">
              <a:latin typeface="Times New Roman"/>
              <a:cs typeface="Times New Roman"/>
            </a:endParaRPr>
          </a:p>
          <a:p>
            <a:r>
              <a:rPr lang="en-US" sz="1200" b="1" dirty="0" smtClean="0">
                <a:latin typeface="Times New Roman" pitchFamily="18" charset="0"/>
                <a:cs typeface="Times New Roman" pitchFamily="18" charset="0"/>
              </a:rPr>
              <a:t>Objective:</a:t>
            </a:r>
          </a:p>
          <a:p>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To create a web-based platform that offers gym memberships, workout plans, subscription options, and an integrated online store for fitness products.</a:t>
            </a: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Key Components: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User Registration and Authentication</a:t>
            </a:r>
          </a:p>
          <a:p>
            <a:pPr marL="171450" indent="-171450">
              <a:buFont typeface="Arial" pitchFamily="34" charset="0"/>
              <a:buChar char="•"/>
            </a:pPr>
            <a:r>
              <a:rPr lang="en-US" sz="1200" dirty="0" smtClean="0">
                <a:latin typeface="Times New Roman" pitchFamily="18" charset="0"/>
                <a:cs typeface="Times New Roman" pitchFamily="18" charset="0"/>
              </a:rPr>
              <a:t>Subscription and Membership Management</a:t>
            </a:r>
          </a:p>
          <a:p>
            <a:pPr marL="171450" indent="-171450">
              <a:buFont typeface="Arial" pitchFamily="34" charset="0"/>
              <a:buChar char="•"/>
            </a:pPr>
            <a:r>
              <a:rPr lang="en-US" sz="1200" dirty="0" smtClean="0">
                <a:latin typeface="Times New Roman" pitchFamily="18" charset="0"/>
                <a:cs typeface="Times New Roman" pitchFamily="18" charset="0"/>
              </a:rPr>
              <a:t>Workout Plan Module</a:t>
            </a:r>
          </a:p>
          <a:p>
            <a:pPr marL="171450" indent="-171450">
              <a:buFont typeface="Arial" pitchFamily="34" charset="0"/>
              <a:buChar char="•"/>
            </a:pPr>
            <a:r>
              <a:rPr lang="en-US" sz="1200" dirty="0" smtClean="0">
                <a:latin typeface="Times New Roman" pitchFamily="18" charset="0"/>
                <a:cs typeface="Times New Roman" pitchFamily="18" charset="0"/>
              </a:rPr>
              <a:t>Store and Cart Management</a:t>
            </a:r>
          </a:p>
          <a:p>
            <a:pPr marL="171450" indent="-171450">
              <a:buFont typeface="Arial" pitchFamily="34" charset="0"/>
              <a:buChar char="•"/>
            </a:pPr>
            <a:r>
              <a:rPr lang="en-US" sz="1200" dirty="0" smtClean="0">
                <a:latin typeface="Times New Roman" pitchFamily="18" charset="0"/>
                <a:cs typeface="Times New Roman" pitchFamily="18" charset="0"/>
              </a:rPr>
              <a:t>Admin Panel for Backend Management</a:t>
            </a: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Tools and Technologies: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Programming Language:</a:t>
            </a:r>
            <a:r>
              <a:rPr lang="en-US" sz="1200" dirty="0" smtClean="0">
                <a:latin typeface="Times New Roman" pitchFamily="18" charset="0"/>
                <a:cs typeface="Times New Roman" pitchFamily="18" charset="0"/>
              </a:rPr>
              <a:t> PHP, JavaScript</a:t>
            </a:r>
          </a:p>
          <a:p>
            <a:pPr marL="171450" indent="-171450">
              <a:buFont typeface="Arial" pitchFamily="34" charset="0"/>
              <a:buChar char="•"/>
            </a:pPr>
            <a:r>
              <a:rPr lang="en-US" sz="1200" b="1" dirty="0" smtClean="0">
                <a:latin typeface="Times New Roman" pitchFamily="18" charset="0"/>
                <a:cs typeface="Times New Roman" pitchFamily="18" charset="0"/>
              </a:rPr>
              <a:t>Frontend Framework:</a:t>
            </a:r>
            <a:r>
              <a:rPr lang="en-US" sz="1200" dirty="0" smtClean="0">
                <a:latin typeface="Times New Roman" pitchFamily="18" charset="0"/>
                <a:cs typeface="Times New Roman" pitchFamily="18" charset="0"/>
              </a:rPr>
              <a:t> HTML, CSS, Bootstrap</a:t>
            </a:r>
          </a:p>
          <a:p>
            <a:pPr marL="171450" indent="-171450">
              <a:buFont typeface="Arial" pitchFamily="34" charset="0"/>
              <a:buChar char="•"/>
            </a:pPr>
            <a:r>
              <a:rPr lang="en-US" sz="1200" b="1" dirty="0" smtClean="0">
                <a:latin typeface="Times New Roman" pitchFamily="18" charset="0"/>
                <a:cs typeface="Times New Roman" pitchFamily="18" charset="0"/>
              </a:rPr>
              <a:t>APIs:</a:t>
            </a:r>
            <a:r>
              <a:rPr lang="en-US" sz="1200" dirty="0" smtClean="0">
                <a:latin typeface="Times New Roman" pitchFamily="18" charset="0"/>
                <a:cs typeface="Times New Roman" pitchFamily="18" charset="0"/>
              </a:rPr>
              <a:t> Payment Gateway API (e.g., Razor pay), Email API (SMTP), SMS API (optional)</a:t>
            </a:r>
          </a:p>
          <a:p>
            <a:pPr marL="171450" indent="-171450">
              <a:buFont typeface="Arial" pitchFamily="34" charset="0"/>
              <a:buChar char="•"/>
            </a:pPr>
            <a:r>
              <a:rPr lang="en-US" sz="1200" b="1" dirty="0" smtClean="0">
                <a:latin typeface="Times New Roman" pitchFamily="18" charset="0"/>
                <a:cs typeface="Times New Roman" pitchFamily="18" charset="0"/>
              </a:rPr>
              <a:t>Database:</a:t>
            </a:r>
            <a:r>
              <a:rPr lang="en-US" sz="1200" dirty="0" smtClean="0">
                <a:latin typeface="Times New Roman" pitchFamily="18" charset="0"/>
                <a:cs typeface="Times New Roman" pitchFamily="18" charset="0"/>
              </a:rPr>
              <a:t> MySQL (for storing user accounts, orders, subscriptions, and workout data)</a:t>
            </a:r>
          </a:p>
          <a:p>
            <a:pPr marL="18415" marR="5080" indent="-6350">
              <a:lnSpc>
                <a:spcPct val="143300"/>
              </a:lnSpc>
              <a:spcBef>
                <a:spcPts val="120"/>
              </a:spcBef>
            </a:pPr>
            <a:r>
              <a:rPr sz="1200" spc="-10" dirty="0" smtClean="0">
                <a:latin typeface="Times New Roman"/>
                <a:cs typeface="Times New Roman"/>
              </a:rPr>
              <a:t>:</a:t>
            </a:r>
            <a:endParaRPr sz="12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22</a:t>
            </a:fld>
            <a:r>
              <a:rPr spc="-20" dirty="0"/>
              <a:t>]</a:t>
            </a:r>
          </a:p>
        </p:txBody>
      </p:sp>
      <p:graphicFrame>
        <p:nvGraphicFramePr>
          <p:cNvPr id="7" name="object 7"/>
          <p:cNvGraphicFramePr>
            <a:graphicFrameLocks noGrp="1"/>
          </p:cNvGraphicFramePr>
          <p:nvPr>
            <p:extLst>
              <p:ext uri="{D42A27DB-BD31-4B8C-83A1-F6EECF244321}">
                <p14:modId xmlns:p14="http://schemas.microsoft.com/office/powerpoint/2010/main" val="1037122508"/>
              </p:ext>
            </p:extLst>
          </p:nvPr>
        </p:nvGraphicFramePr>
        <p:xfrm>
          <a:off x="541019" y="6724776"/>
          <a:ext cx="6619239" cy="1950085"/>
        </p:xfrm>
        <a:graphic>
          <a:graphicData uri="http://schemas.openxmlformats.org/drawingml/2006/table">
            <a:tbl>
              <a:tblPr firstRow="1" bandRow="1">
                <a:tableStyleId>{2D5ABB26-0587-4C30-8999-92F81FD0307C}</a:tableStyleId>
              </a:tblPr>
              <a:tblGrid>
                <a:gridCol w="1841500"/>
                <a:gridCol w="2868929"/>
                <a:gridCol w="1908810"/>
              </a:tblGrid>
              <a:tr h="336550">
                <a:tc>
                  <a:txBody>
                    <a:bodyPr/>
                    <a:lstStyle/>
                    <a:p>
                      <a:pPr marL="67945">
                        <a:lnSpc>
                          <a:spcPct val="100000"/>
                        </a:lnSpc>
                        <a:spcBef>
                          <a:spcPts val="200"/>
                        </a:spcBef>
                      </a:pPr>
                      <a:r>
                        <a:rPr sz="1200" b="1" spc="-10" dirty="0">
                          <a:latin typeface="Times New Roman"/>
                          <a:cs typeface="Times New Roman"/>
                        </a:rPr>
                        <a:t>Phase</a:t>
                      </a:r>
                      <a:endParaRPr sz="1200" dirty="0">
                        <a:latin typeface="Times New Roman"/>
                        <a:cs typeface="Times New Roman"/>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200"/>
                        </a:spcBef>
                      </a:pPr>
                      <a:r>
                        <a:rPr sz="1200" b="1" spc="-10" dirty="0">
                          <a:latin typeface="Times New Roman"/>
                          <a:cs typeface="Times New Roman"/>
                        </a:rPr>
                        <a:t>Activities</a:t>
                      </a:r>
                      <a:endParaRPr sz="1200">
                        <a:latin typeface="Times New Roman"/>
                        <a:cs typeface="Times New Roman"/>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b="1" spc="-10" dirty="0">
                          <a:latin typeface="Times New Roman"/>
                          <a:cs typeface="Times New Roman"/>
                        </a:rPr>
                        <a:t>Duration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9875">
                <a:tc>
                  <a:txBody>
                    <a:bodyPr/>
                    <a:lstStyle/>
                    <a:p>
                      <a:pPr marL="67945">
                        <a:lnSpc>
                          <a:spcPts val="1385"/>
                        </a:lnSpc>
                      </a:pPr>
                      <a:r>
                        <a:rPr sz="1200" spc="-10" dirty="0">
                          <a:latin typeface="Times New Roman"/>
                          <a:cs typeface="Times New Roman"/>
                        </a:rPr>
                        <a:t>Planning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5"/>
                        </a:lnSpc>
                      </a:pPr>
                      <a:r>
                        <a:rPr sz="1200" dirty="0">
                          <a:latin typeface="Times New Roman"/>
                          <a:cs typeface="Times New Roman"/>
                        </a:rPr>
                        <a:t>Define</a:t>
                      </a:r>
                      <a:r>
                        <a:rPr sz="1200" spc="-55" dirty="0">
                          <a:latin typeface="Times New Roman"/>
                          <a:cs typeface="Times New Roman"/>
                        </a:rPr>
                        <a:t> </a:t>
                      </a:r>
                      <a:r>
                        <a:rPr sz="1200" dirty="0">
                          <a:latin typeface="Times New Roman"/>
                          <a:cs typeface="Times New Roman"/>
                        </a:rPr>
                        <a:t>objectives,</a:t>
                      </a:r>
                      <a:r>
                        <a:rPr sz="1200" spc="-45" dirty="0">
                          <a:latin typeface="Times New Roman"/>
                          <a:cs typeface="Times New Roman"/>
                        </a:rPr>
                        <a:t> </a:t>
                      </a:r>
                      <a:r>
                        <a:rPr sz="1200" dirty="0">
                          <a:latin typeface="Times New Roman"/>
                          <a:cs typeface="Times New Roman"/>
                        </a:rPr>
                        <a:t>gather</a:t>
                      </a:r>
                      <a:r>
                        <a:rPr sz="1200" spc="-45" dirty="0">
                          <a:latin typeface="Times New Roman"/>
                          <a:cs typeface="Times New Roman"/>
                        </a:rPr>
                        <a:t> </a:t>
                      </a:r>
                      <a:r>
                        <a:rPr sz="1200" spc="-10" dirty="0">
                          <a:latin typeface="Times New Roman"/>
                          <a:cs typeface="Times New Roman"/>
                        </a:rPr>
                        <a:t>requirements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5"/>
                        </a:lnSpc>
                      </a:pPr>
                      <a:r>
                        <a:rPr sz="1200" dirty="0">
                          <a:latin typeface="Times New Roman"/>
                          <a:cs typeface="Times New Roman"/>
                        </a:rPr>
                        <a:t>2 </a:t>
                      </a:r>
                      <a:r>
                        <a:rPr sz="1200" spc="-10" dirty="0">
                          <a:latin typeface="Times New Roman"/>
                          <a:cs typeface="Times New Roman"/>
                        </a:rPr>
                        <a:t>weeks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7970">
                <a:tc>
                  <a:txBody>
                    <a:bodyPr/>
                    <a:lstStyle/>
                    <a:p>
                      <a:pPr marL="67945">
                        <a:lnSpc>
                          <a:spcPts val="1380"/>
                        </a:lnSpc>
                      </a:pPr>
                      <a:r>
                        <a:rPr sz="1200" spc="-10" dirty="0">
                          <a:latin typeface="Times New Roman"/>
                          <a:cs typeface="Times New Roman"/>
                        </a:rPr>
                        <a:t>Design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UI/UX</a:t>
                      </a:r>
                      <a:r>
                        <a:rPr sz="1200" spc="-35" dirty="0">
                          <a:latin typeface="Times New Roman"/>
                          <a:cs typeface="Times New Roman"/>
                        </a:rPr>
                        <a:t> </a:t>
                      </a:r>
                      <a:r>
                        <a:rPr sz="1200" dirty="0">
                          <a:latin typeface="Times New Roman"/>
                          <a:cs typeface="Times New Roman"/>
                        </a:rPr>
                        <a:t>design,</a:t>
                      </a:r>
                      <a:r>
                        <a:rPr sz="1200" spc="-35" dirty="0">
                          <a:latin typeface="Times New Roman"/>
                          <a:cs typeface="Times New Roman"/>
                        </a:rPr>
                        <a:t> </a:t>
                      </a:r>
                      <a:r>
                        <a:rPr sz="1200" dirty="0">
                          <a:latin typeface="Times New Roman"/>
                          <a:cs typeface="Times New Roman"/>
                        </a:rPr>
                        <a:t>architecture</a:t>
                      </a:r>
                      <a:r>
                        <a:rPr sz="1200" spc="-45" dirty="0">
                          <a:latin typeface="Times New Roman"/>
                          <a:cs typeface="Times New Roman"/>
                        </a:rPr>
                        <a:t> </a:t>
                      </a:r>
                      <a:r>
                        <a:rPr sz="1200" spc="-10" dirty="0">
                          <a:latin typeface="Times New Roman"/>
                          <a:cs typeface="Times New Roman"/>
                        </a:rPr>
                        <a:t>planning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3 </a:t>
                      </a:r>
                      <a:r>
                        <a:rPr sz="1200" spc="-10" dirty="0">
                          <a:latin typeface="Times New Roman"/>
                          <a:cs typeface="Times New Roman"/>
                        </a:rPr>
                        <a:t>weeks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9240">
                <a:tc>
                  <a:txBody>
                    <a:bodyPr/>
                    <a:lstStyle/>
                    <a:p>
                      <a:pPr marL="67945">
                        <a:lnSpc>
                          <a:spcPts val="1380"/>
                        </a:lnSpc>
                      </a:pPr>
                      <a:r>
                        <a:rPr sz="1200" spc="-10" dirty="0">
                          <a:latin typeface="Times New Roman"/>
                          <a:cs typeface="Times New Roman"/>
                        </a:rPr>
                        <a:t>Development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smtClean="0">
                          <a:latin typeface="Times New Roman"/>
                          <a:cs typeface="Times New Roman"/>
                        </a:rPr>
                        <a:t>Coding,</a:t>
                      </a:r>
                      <a:r>
                        <a:rPr sz="1200" spc="-30" dirty="0" smtClean="0">
                          <a:latin typeface="Times New Roman"/>
                          <a:cs typeface="Times New Roman"/>
                        </a:rPr>
                        <a:t> </a:t>
                      </a:r>
                      <a:r>
                        <a:rPr sz="1200" dirty="0">
                          <a:latin typeface="Times New Roman"/>
                          <a:cs typeface="Times New Roman"/>
                        </a:rPr>
                        <a:t>database</a:t>
                      </a:r>
                      <a:r>
                        <a:rPr sz="1200" spc="-45" dirty="0">
                          <a:latin typeface="Times New Roman"/>
                          <a:cs typeface="Times New Roman"/>
                        </a:rPr>
                        <a:t> </a:t>
                      </a:r>
                      <a:r>
                        <a:rPr sz="1200" spc="-10" dirty="0">
                          <a:latin typeface="Times New Roman"/>
                          <a:cs typeface="Times New Roman"/>
                        </a:rPr>
                        <a:t>setup</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6 </a:t>
                      </a:r>
                      <a:r>
                        <a:rPr sz="1200" spc="-10" dirty="0">
                          <a:latin typeface="Times New Roman"/>
                          <a:cs typeface="Times New Roman"/>
                        </a:rPr>
                        <a:t>weeks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9240">
                <a:tc>
                  <a:txBody>
                    <a:bodyPr/>
                    <a:lstStyle/>
                    <a:p>
                      <a:pPr marL="67945">
                        <a:lnSpc>
                          <a:spcPts val="1380"/>
                        </a:lnSpc>
                      </a:pPr>
                      <a:r>
                        <a:rPr sz="1200" spc="-10"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Unit</a:t>
                      </a:r>
                      <a:r>
                        <a:rPr sz="1200" spc="-25"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bug</a:t>
                      </a:r>
                      <a:r>
                        <a:rPr sz="1200" spc="-20" dirty="0">
                          <a:latin typeface="Times New Roman"/>
                          <a:cs typeface="Times New Roman"/>
                        </a:rPr>
                        <a:t> </a:t>
                      </a:r>
                      <a:r>
                        <a:rPr sz="1200" spc="-10" dirty="0">
                          <a:latin typeface="Times New Roman"/>
                          <a:cs typeface="Times New Roman"/>
                        </a:rPr>
                        <a:t>fixing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3 </a:t>
                      </a:r>
                      <a:r>
                        <a:rPr sz="1200" spc="-10" dirty="0">
                          <a:latin typeface="Times New Roman"/>
                          <a:cs typeface="Times New Roman"/>
                        </a:rPr>
                        <a:t>weeks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7970">
                <a:tc>
                  <a:txBody>
                    <a:bodyPr/>
                    <a:lstStyle/>
                    <a:p>
                      <a:pPr marL="67945">
                        <a:lnSpc>
                          <a:spcPts val="1380"/>
                        </a:lnSpc>
                      </a:pPr>
                      <a:r>
                        <a:rPr sz="1200" spc="-10" dirty="0">
                          <a:latin typeface="Times New Roman"/>
                          <a:cs typeface="Times New Roman"/>
                        </a:rPr>
                        <a:t>Deployment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Final</a:t>
                      </a:r>
                      <a:r>
                        <a:rPr sz="1200" spc="-40" dirty="0">
                          <a:latin typeface="Times New Roman"/>
                          <a:cs typeface="Times New Roman"/>
                        </a:rPr>
                        <a:t> </a:t>
                      </a:r>
                      <a:r>
                        <a:rPr sz="1200" dirty="0">
                          <a:latin typeface="Times New Roman"/>
                          <a:cs typeface="Times New Roman"/>
                        </a:rPr>
                        <a:t>deployment,</a:t>
                      </a:r>
                      <a:r>
                        <a:rPr sz="1200" spc="-3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spc="-10" dirty="0">
                          <a:latin typeface="Times New Roman"/>
                          <a:cs typeface="Times New Roman"/>
                        </a:rPr>
                        <a:t>training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1 </a:t>
                      </a:r>
                      <a:r>
                        <a:rPr sz="1200" spc="-20" dirty="0">
                          <a:latin typeface="Times New Roman"/>
                          <a:cs typeface="Times New Roman"/>
                        </a:rPr>
                        <a:t>week</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9240">
                <a:tc>
                  <a:txBody>
                    <a:bodyPr/>
                    <a:lstStyle/>
                    <a:p>
                      <a:pPr marL="67945">
                        <a:lnSpc>
                          <a:spcPts val="1380"/>
                        </a:lnSpc>
                      </a:pPr>
                      <a:r>
                        <a:rPr sz="1200" spc="-10" dirty="0">
                          <a:latin typeface="Times New Roman"/>
                          <a:cs typeface="Times New Roman"/>
                        </a:rPr>
                        <a:t>Evaluation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Collect</a:t>
                      </a:r>
                      <a:r>
                        <a:rPr sz="1200" spc="-40"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analyze</a:t>
                      </a:r>
                      <a:r>
                        <a:rPr sz="1200" spc="-45" dirty="0">
                          <a:latin typeface="Times New Roman"/>
                          <a:cs typeface="Times New Roman"/>
                        </a:rPr>
                        <a:t> </a:t>
                      </a:r>
                      <a:r>
                        <a:rPr sz="1200" spc="-10" dirty="0">
                          <a:latin typeface="Times New Roman"/>
                          <a:cs typeface="Times New Roman"/>
                        </a:rPr>
                        <a:t>performance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spc="-10" dirty="0">
                          <a:latin typeface="Times New Roman"/>
                          <a:cs typeface="Times New Roman"/>
                        </a:rPr>
                        <a:t>Ongoing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8" name="object 8"/>
          <p:cNvSpPr txBox="1"/>
          <p:nvPr/>
        </p:nvSpPr>
        <p:spPr>
          <a:xfrm>
            <a:off x="528319" y="8660129"/>
            <a:ext cx="1814830" cy="208279"/>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3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5.2.1:</a:t>
            </a:r>
            <a:r>
              <a:rPr sz="1200" u="sng" spc="-3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Project</a:t>
            </a:r>
            <a:r>
              <a:rPr sz="1200" u="sng" spc="-30"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Timeline</a:t>
            </a:r>
            <a:endParaRPr sz="12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23</a:t>
            </a:fld>
            <a:r>
              <a:rPr spc="-20" dirty="0"/>
              <a:t>]</a:t>
            </a:r>
          </a:p>
        </p:txBody>
      </p:sp>
      <p:sp>
        <p:nvSpPr>
          <p:cNvPr id="2" name="object 2"/>
          <p:cNvSpPr txBox="1"/>
          <p:nvPr/>
        </p:nvSpPr>
        <p:spPr>
          <a:xfrm>
            <a:off x="528318" y="165100"/>
            <a:ext cx="6293485" cy="3083536"/>
          </a:xfrm>
          <a:prstGeom prst="rect">
            <a:avLst/>
          </a:prstGeom>
        </p:spPr>
        <p:txBody>
          <a:bodyPr vert="horz" wrap="square" lIns="0" tIns="122555" rIns="0" bIns="0" rtlCol="0">
            <a:spAutoFit/>
          </a:bodyPr>
          <a:lstStyle/>
          <a:p>
            <a:r>
              <a:rPr sz="1400" b="1" dirty="0" smtClean="0">
                <a:latin typeface="Times New Roman"/>
                <a:cs typeface="Times New Roman"/>
              </a:rPr>
              <a:t>5.</a:t>
            </a:r>
            <a:r>
              <a:rPr lang="en-US" sz="1400" b="1" dirty="0" smtClean="0">
                <a:latin typeface="Times New Roman"/>
                <a:cs typeface="Times New Roman"/>
              </a:rPr>
              <a:t>3</a:t>
            </a:r>
            <a:r>
              <a:rPr sz="1400" b="1" spc="-35" dirty="0" smtClean="0">
                <a:latin typeface="Times New Roman"/>
                <a:cs typeface="Times New Roman"/>
              </a:rPr>
              <a:t> </a:t>
            </a:r>
            <a:r>
              <a:rPr sz="1400" b="1" dirty="0" smtClean="0">
                <a:latin typeface="Times New Roman"/>
                <a:cs typeface="Times New Roman"/>
              </a:rPr>
              <a:t>Development</a:t>
            </a:r>
            <a:r>
              <a:rPr sz="1400" b="1" spc="-35" dirty="0" smtClean="0">
                <a:latin typeface="Times New Roman"/>
                <a:cs typeface="Times New Roman"/>
              </a:rPr>
              <a:t> </a:t>
            </a:r>
            <a:r>
              <a:rPr sz="1400" b="1" spc="-10" dirty="0" smtClean="0">
                <a:latin typeface="Times New Roman"/>
                <a:cs typeface="Times New Roman"/>
              </a:rPr>
              <a:t>Process</a:t>
            </a:r>
            <a:endParaRPr lang="en-US" sz="1400" b="1" spc="-10" dirty="0" smtClean="0">
              <a:latin typeface="Times New Roman"/>
              <a:cs typeface="Times New Roman"/>
            </a:endParaRPr>
          </a:p>
          <a:p>
            <a:endParaRPr lang="en-US" sz="1400" b="1" spc="-10" dirty="0" smtClean="0">
              <a:latin typeface="Times New Roman"/>
              <a:cs typeface="Times New Roman"/>
            </a:endParaRPr>
          </a:p>
          <a:p>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To implement the website features.</a:t>
            </a: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Steps:</a:t>
            </a: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Set Up Development Environment:</a:t>
            </a:r>
            <a:r>
              <a:rPr lang="en-US" sz="1200" dirty="0" smtClean="0">
                <a:latin typeface="Times New Roman" pitchFamily="18" charset="0"/>
                <a:cs typeface="Times New Roman" pitchFamily="18" charset="0"/>
              </a:rPr>
              <a:t> Install XAMPP, configure PHP, MySQL, and prepare the project directory structure.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Implement Features:</a:t>
            </a:r>
            <a:endParaRPr lang="en-US" sz="1200" dirty="0" smtClean="0">
              <a:latin typeface="Times New Roman" pitchFamily="18" charset="0"/>
              <a:cs typeface="Times New Roman" pitchFamily="18" charset="0"/>
            </a:endParaRPr>
          </a:p>
          <a:p>
            <a:pPr marL="171450" lvl="1" indent="-171450">
              <a:buFont typeface="Arial" pitchFamily="34" charset="0"/>
              <a:buChar char="•"/>
            </a:pPr>
            <a:r>
              <a:rPr lang="en-US" sz="1200" dirty="0" smtClean="0">
                <a:latin typeface="Times New Roman" pitchFamily="18" charset="0"/>
                <a:cs typeface="Times New Roman" pitchFamily="18" charset="0"/>
              </a:rPr>
              <a:t>Develop user registration, login, and authentication system.</a:t>
            </a:r>
          </a:p>
          <a:p>
            <a:pPr marL="171450" lvl="1" indent="-171450">
              <a:buFont typeface="Arial" pitchFamily="34" charset="0"/>
              <a:buChar char="•"/>
            </a:pPr>
            <a:r>
              <a:rPr lang="en-US" sz="1200" dirty="0" smtClean="0">
                <a:latin typeface="Times New Roman" pitchFamily="18" charset="0"/>
                <a:cs typeface="Times New Roman" pitchFamily="18" charset="0"/>
              </a:rPr>
              <a:t>Build subscription and membership modules with secure payment integration.</a:t>
            </a:r>
          </a:p>
          <a:p>
            <a:pPr marL="171450" lvl="1" indent="-171450">
              <a:buFont typeface="Arial" pitchFamily="34" charset="0"/>
              <a:buChar char="•"/>
            </a:pPr>
            <a:r>
              <a:rPr lang="en-US" sz="1200" dirty="0" smtClean="0">
                <a:latin typeface="Times New Roman" pitchFamily="18" charset="0"/>
                <a:cs typeface="Times New Roman" pitchFamily="18" charset="0"/>
              </a:rPr>
              <a:t>Create workout plan pages with categorized routines.</a:t>
            </a:r>
          </a:p>
          <a:p>
            <a:pPr marL="171450" lvl="1" indent="-171450">
              <a:buFont typeface="Arial" pitchFamily="34" charset="0"/>
              <a:buChar char="•"/>
            </a:pPr>
            <a:r>
              <a:rPr lang="en-US" sz="1200" dirty="0" smtClean="0">
                <a:latin typeface="Times New Roman" pitchFamily="18" charset="0"/>
                <a:cs typeface="Times New Roman" pitchFamily="18" charset="0"/>
              </a:rPr>
              <a:t>Develop online store functionality with cart and checkout features.</a:t>
            </a:r>
          </a:p>
          <a:p>
            <a:pPr marL="12700">
              <a:lnSpc>
                <a:spcPct val="100000"/>
              </a:lnSpc>
              <a:spcBef>
                <a:spcPts val="965"/>
              </a:spcBef>
            </a:pPr>
            <a:endParaRPr sz="1200" dirty="0" smtClean="0">
              <a:latin typeface="Times New Roman" pitchFamily="18" charset="0"/>
              <a:cs typeface="Times New Roman" pitchFamily="18" charset="0"/>
            </a:endParaRPr>
          </a:p>
        </p:txBody>
      </p:sp>
      <p:sp>
        <p:nvSpPr>
          <p:cNvPr id="4" name="object 4"/>
          <p:cNvSpPr txBox="1"/>
          <p:nvPr/>
        </p:nvSpPr>
        <p:spPr>
          <a:xfrm>
            <a:off x="528319" y="5762624"/>
            <a:ext cx="6294120" cy="2326278"/>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1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5.5.1:</a:t>
            </a:r>
            <a:r>
              <a:rPr sz="1200" u="sng" spc="-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Feature</a:t>
            </a:r>
            <a:r>
              <a:rPr sz="1200" u="sng" spc="-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Implementation</a:t>
            </a:r>
            <a:r>
              <a:rPr sz="1200" u="sng" spc="-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Overview</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80"/>
              </a:spcBef>
            </a:pPr>
            <a:endParaRPr sz="1200" dirty="0">
              <a:latin typeface="Times New Roman"/>
              <a:cs typeface="Times New Roman"/>
            </a:endParaRPr>
          </a:p>
          <a:p>
            <a:pPr marL="12700">
              <a:lnSpc>
                <a:spcPct val="100000"/>
              </a:lnSpc>
            </a:pPr>
            <a:r>
              <a:rPr sz="1400" b="1" dirty="0" smtClean="0">
                <a:latin typeface="Times New Roman"/>
                <a:cs typeface="Times New Roman"/>
              </a:rPr>
              <a:t>5.</a:t>
            </a:r>
            <a:r>
              <a:rPr lang="en-US" sz="1400" b="1" dirty="0" smtClean="0">
                <a:latin typeface="Times New Roman"/>
                <a:cs typeface="Times New Roman"/>
              </a:rPr>
              <a:t>4</a:t>
            </a:r>
            <a:r>
              <a:rPr sz="1400" b="1" spc="-15" dirty="0" smtClean="0">
                <a:latin typeface="Times New Roman"/>
                <a:cs typeface="Times New Roman"/>
              </a:rPr>
              <a:t> </a:t>
            </a:r>
            <a:r>
              <a:rPr sz="1400" b="1" dirty="0">
                <a:latin typeface="Times New Roman"/>
                <a:cs typeface="Times New Roman"/>
              </a:rPr>
              <a:t>Testing</a:t>
            </a:r>
            <a:r>
              <a:rPr sz="1400" b="1" spc="-30"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spc="-10" dirty="0">
                <a:latin typeface="Times New Roman"/>
                <a:cs typeface="Times New Roman"/>
              </a:rPr>
              <a:t>Evaluation</a:t>
            </a:r>
            <a:endParaRPr sz="1400" dirty="0">
              <a:latin typeface="Times New Roman"/>
              <a:cs typeface="Times New Roman"/>
            </a:endParaRPr>
          </a:p>
          <a:p>
            <a:pPr marL="12700">
              <a:lnSpc>
                <a:spcPct val="100000"/>
              </a:lnSpc>
              <a:spcBef>
                <a:spcPts val="740"/>
              </a:spcBef>
            </a:pPr>
            <a:r>
              <a:rPr sz="1200" b="1" dirty="0">
                <a:latin typeface="Times New Roman"/>
                <a:cs typeface="Times New Roman"/>
              </a:rPr>
              <a:t>Objective</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ensure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application</a:t>
            </a:r>
            <a:r>
              <a:rPr sz="1200" spc="-30" dirty="0">
                <a:latin typeface="Times New Roman"/>
                <a:cs typeface="Times New Roman"/>
              </a:rPr>
              <a:t> </a:t>
            </a:r>
            <a:r>
              <a:rPr sz="1200" dirty="0">
                <a:latin typeface="Times New Roman"/>
                <a:cs typeface="Times New Roman"/>
              </a:rPr>
              <a:t>functions</a:t>
            </a:r>
            <a:r>
              <a:rPr sz="1200" spc="-30" dirty="0">
                <a:latin typeface="Times New Roman"/>
                <a:cs typeface="Times New Roman"/>
              </a:rPr>
              <a:t> </a:t>
            </a:r>
            <a:r>
              <a:rPr sz="1200" dirty="0">
                <a:latin typeface="Times New Roman"/>
                <a:cs typeface="Times New Roman"/>
              </a:rPr>
              <a:t>correctly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meets</a:t>
            </a:r>
            <a:r>
              <a:rPr sz="1200" spc="-35"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spc="-10" dirty="0">
                <a:latin typeface="Times New Roman"/>
                <a:cs typeface="Times New Roman"/>
              </a:rPr>
              <a:t>needs.</a:t>
            </a:r>
            <a:endParaRPr sz="1200" dirty="0">
              <a:latin typeface="Times New Roman"/>
              <a:cs typeface="Times New Roman"/>
            </a:endParaRPr>
          </a:p>
          <a:p>
            <a:pPr marL="12700">
              <a:lnSpc>
                <a:spcPct val="100000"/>
              </a:lnSpc>
              <a:spcBef>
                <a:spcPts val="635"/>
              </a:spcBef>
            </a:pPr>
            <a:r>
              <a:rPr sz="1200" b="1" spc="-10" dirty="0">
                <a:latin typeface="Times New Roman"/>
                <a:cs typeface="Times New Roman"/>
              </a:rPr>
              <a:t>Steps</a:t>
            </a:r>
            <a:r>
              <a:rPr sz="1200" spc="-10" dirty="0">
                <a:latin typeface="Times New Roman"/>
                <a:cs typeface="Times New Roman"/>
              </a:rPr>
              <a:t>:</a:t>
            </a:r>
            <a:endParaRPr sz="1200" dirty="0">
              <a:latin typeface="Times New Roman"/>
              <a:cs typeface="Times New Roman"/>
            </a:endParaRPr>
          </a:p>
          <a:p>
            <a:pPr marL="469900" indent="-228600">
              <a:lnSpc>
                <a:spcPct val="100000"/>
              </a:lnSpc>
              <a:spcBef>
                <a:spcPts val="625"/>
              </a:spcBef>
              <a:buFont typeface="Times New Roman"/>
              <a:buAutoNum type="arabicPeriod"/>
              <a:tabLst>
                <a:tab pos="469900" algn="l"/>
              </a:tabLst>
            </a:pPr>
            <a:r>
              <a:rPr sz="1200" b="1" dirty="0">
                <a:latin typeface="Times New Roman"/>
                <a:cs typeface="Times New Roman"/>
              </a:rPr>
              <a:t>Unit</a:t>
            </a:r>
            <a:r>
              <a:rPr sz="1200" b="1" spc="-35" dirty="0">
                <a:latin typeface="Times New Roman"/>
                <a:cs typeface="Times New Roman"/>
              </a:rPr>
              <a:t> </a:t>
            </a:r>
            <a:r>
              <a:rPr sz="1200" b="1" dirty="0">
                <a:latin typeface="Times New Roman"/>
                <a:cs typeface="Times New Roman"/>
              </a:rPr>
              <a:t>Testing</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Test</a:t>
            </a:r>
            <a:r>
              <a:rPr sz="1200" spc="-30" dirty="0">
                <a:latin typeface="Times New Roman"/>
                <a:cs typeface="Times New Roman"/>
              </a:rPr>
              <a:t> </a:t>
            </a:r>
            <a:r>
              <a:rPr sz="1200" dirty="0">
                <a:latin typeface="Times New Roman"/>
                <a:cs typeface="Times New Roman"/>
              </a:rPr>
              <a:t>individual</a:t>
            </a:r>
            <a:r>
              <a:rPr sz="1200" spc="-30" dirty="0">
                <a:latin typeface="Times New Roman"/>
                <a:cs typeface="Times New Roman"/>
              </a:rPr>
              <a:t> </a:t>
            </a:r>
            <a:r>
              <a:rPr sz="1200" dirty="0">
                <a:latin typeface="Times New Roman"/>
                <a:cs typeface="Times New Roman"/>
              </a:rPr>
              <a:t>components</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functionality.</a:t>
            </a:r>
            <a:endParaRPr sz="1200" dirty="0">
              <a:latin typeface="Times New Roman"/>
              <a:cs typeface="Times New Roman"/>
            </a:endParaRPr>
          </a:p>
          <a:p>
            <a:pPr marL="469900" indent="-228600">
              <a:lnSpc>
                <a:spcPct val="100000"/>
              </a:lnSpc>
              <a:spcBef>
                <a:spcPts val="640"/>
              </a:spcBef>
              <a:buFont typeface="Times New Roman"/>
              <a:buAutoNum type="arabicPeriod"/>
              <a:tabLst>
                <a:tab pos="469900" algn="l"/>
              </a:tabLst>
            </a:pPr>
            <a:r>
              <a:rPr sz="1200" b="1" dirty="0">
                <a:latin typeface="Times New Roman"/>
                <a:cs typeface="Times New Roman"/>
              </a:rPr>
              <a:t>User</a:t>
            </a:r>
            <a:r>
              <a:rPr sz="1200" b="1" spc="-30" dirty="0">
                <a:latin typeface="Times New Roman"/>
                <a:cs typeface="Times New Roman"/>
              </a:rPr>
              <a:t> </a:t>
            </a:r>
            <a:r>
              <a:rPr sz="1200" b="1" dirty="0">
                <a:latin typeface="Times New Roman"/>
                <a:cs typeface="Times New Roman"/>
              </a:rPr>
              <a:t>Testing</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Conduct</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sessions</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gather</a:t>
            </a:r>
            <a:r>
              <a:rPr sz="1200" spc="-30"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usability</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features.</a:t>
            </a:r>
            <a:endParaRPr sz="1200" dirty="0">
              <a:latin typeface="Times New Roman"/>
              <a:cs typeface="Times New Roman"/>
            </a:endParaRPr>
          </a:p>
          <a:p>
            <a:pPr marL="469900" indent="-228600">
              <a:lnSpc>
                <a:spcPct val="100000"/>
              </a:lnSpc>
              <a:spcBef>
                <a:spcPts val="620"/>
              </a:spcBef>
              <a:buFont typeface="Times New Roman"/>
              <a:buAutoNum type="arabicPeriod"/>
              <a:tabLst>
                <a:tab pos="469900" algn="l"/>
              </a:tabLst>
            </a:pPr>
            <a:r>
              <a:rPr sz="1200" b="1" dirty="0">
                <a:latin typeface="Times New Roman"/>
                <a:cs typeface="Times New Roman"/>
              </a:rPr>
              <a:t>Performance</a:t>
            </a:r>
            <a:r>
              <a:rPr sz="1200" b="1" spc="-35" dirty="0">
                <a:latin typeface="Times New Roman"/>
                <a:cs typeface="Times New Roman"/>
              </a:rPr>
              <a:t> </a:t>
            </a:r>
            <a:r>
              <a:rPr sz="1200" b="1" dirty="0">
                <a:latin typeface="Times New Roman"/>
                <a:cs typeface="Times New Roman"/>
              </a:rPr>
              <a:t>Evaluation</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Measure</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lang="en-US" sz="1200" spc="-30" dirty="0" smtClean="0">
                <a:latin typeface="Times New Roman"/>
                <a:cs typeface="Times New Roman"/>
              </a:rPr>
              <a:t>website’s </a:t>
            </a:r>
            <a:r>
              <a:rPr sz="1200" dirty="0" smtClean="0">
                <a:latin typeface="Times New Roman"/>
                <a:cs typeface="Times New Roman"/>
              </a:rPr>
              <a:t>response</a:t>
            </a:r>
            <a:r>
              <a:rPr sz="1200" spc="-35" dirty="0" smtClean="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accuracy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recommendations.</a:t>
            </a:r>
            <a:endParaRPr sz="120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2883718079"/>
              </p:ext>
            </p:extLst>
          </p:nvPr>
        </p:nvGraphicFramePr>
        <p:xfrm>
          <a:off x="541019" y="8284209"/>
          <a:ext cx="6617969" cy="1863725"/>
        </p:xfrm>
        <a:graphic>
          <a:graphicData uri="http://schemas.openxmlformats.org/drawingml/2006/table">
            <a:tbl>
              <a:tblPr firstRow="1" bandRow="1">
                <a:tableStyleId>{2D5ABB26-0587-4C30-8999-92F81FD0307C}</a:tableStyleId>
              </a:tblPr>
              <a:tblGrid>
                <a:gridCol w="1671955"/>
                <a:gridCol w="2179955"/>
                <a:gridCol w="1466214"/>
                <a:gridCol w="1299845"/>
              </a:tblGrid>
              <a:tr h="269240">
                <a:tc>
                  <a:txBody>
                    <a:bodyPr/>
                    <a:lstStyle/>
                    <a:p>
                      <a:pPr marL="67945">
                        <a:lnSpc>
                          <a:spcPts val="1380"/>
                        </a:lnSpc>
                      </a:pPr>
                      <a:r>
                        <a:rPr sz="1200" b="1" spc="-10" dirty="0">
                          <a:latin typeface="Times New Roman"/>
                          <a:cs typeface="Times New Roman"/>
                        </a:rPr>
                        <a:t>Metric</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b="1" dirty="0">
                          <a:latin typeface="Times New Roman"/>
                          <a:cs typeface="Times New Roman"/>
                        </a:rPr>
                        <a:t>Target</a:t>
                      </a:r>
                      <a:r>
                        <a:rPr sz="1200" b="1" spc="-40" dirty="0">
                          <a:latin typeface="Times New Roman"/>
                          <a:cs typeface="Times New Roman"/>
                        </a:rPr>
                        <a:t> </a:t>
                      </a:r>
                      <a:r>
                        <a:rPr sz="1200" b="1" spc="-10" dirty="0">
                          <a:latin typeface="Times New Roman"/>
                          <a:cs typeface="Times New Roman"/>
                        </a:rPr>
                        <a:t>Value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b="1" dirty="0">
                          <a:latin typeface="Times New Roman"/>
                          <a:cs typeface="Times New Roman"/>
                        </a:rPr>
                        <a:t>Achieved</a:t>
                      </a:r>
                      <a:r>
                        <a:rPr sz="1200" b="1" spc="-55" dirty="0">
                          <a:latin typeface="Times New Roman"/>
                          <a:cs typeface="Times New Roman"/>
                        </a:rPr>
                        <a:t> </a:t>
                      </a:r>
                      <a:r>
                        <a:rPr sz="1200" b="1" spc="-10" dirty="0">
                          <a:latin typeface="Times New Roman"/>
                          <a:cs typeface="Times New Roman"/>
                        </a:rPr>
                        <a:t>Value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ct val="100000"/>
                        </a:lnSpc>
                        <a:spcBef>
                          <a:spcPts val="969"/>
                        </a:spcBef>
                      </a:pPr>
                      <a:r>
                        <a:rPr sz="1200" dirty="0">
                          <a:latin typeface="Times New Roman"/>
                          <a:cs typeface="Times New Roman"/>
                        </a:rPr>
                        <a:t>Response</a:t>
                      </a:r>
                      <a:r>
                        <a:rPr sz="1200" spc="-1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Time</a:t>
                      </a:r>
                      <a:r>
                        <a:rPr sz="1200" spc="150" dirty="0">
                          <a:latin typeface="Times New Roman"/>
                          <a:cs typeface="Times New Roman"/>
                        </a:rPr>
                        <a:t> </a:t>
                      </a:r>
                      <a:r>
                        <a:rPr sz="1200" dirty="0">
                          <a:latin typeface="Times New Roman"/>
                          <a:cs typeface="Times New Roman"/>
                        </a:rPr>
                        <a:t>taken</a:t>
                      </a:r>
                      <a:r>
                        <a:rPr sz="1200" spc="155" dirty="0">
                          <a:latin typeface="Times New Roman"/>
                          <a:cs typeface="Times New Roman"/>
                        </a:rPr>
                        <a:t> </a:t>
                      </a:r>
                      <a:r>
                        <a:rPr sz="1200" dirty="0">
                          <a:latin typeface="Times New Roman"/>
                          <a:cs typeface="Times New Roman"/>
                        </a:rPr>
                        <a:t>to</a:t>
                      </a:r>
                      <a:r>
                        <a:rPr sz="1200" spc="155" dirty="0">
                          <a:latin typeface="Times New Roman"/>
                          <a:cs typeface="Times New Roman"/>
                        </a:rPr>
                        <a:t> </a:t>
                      </a:r>
                      <a:r>
                        <a:rPr sz="1200" dirty="0">
                          <a:latin typeface="Times New Roman"/>
                          <a:cs typeface="Times New Roman"/>
                        </a:rPr>
                        <a:t>fetch</a:t>
                      </a:r>
                      <a:r>
                        <a:rPr sz="1200" spc="165"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spc="-10" dirty="0" smtClean="0">
                          <a:latin typeface="Times New Roman"/>
                          <a:cs typeface="Times New Roman"/>
                        </a:rPr>
                        <a:t>display</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969"/>
                        </a:spcBef>
                      </a:pPr>
                      <a:r>
                        <a:rPr sz="1200" dirty="0">
                          <a:latin typeface="Times New Roman"/>
                          <a:cs typeface="Times New Roman"/>
                        </a:rPr>
                        <a:t>&lt;</a:t>
                      </a:r>
                      <a:r>
                        <a:rPr sz="1200" spc="-5" dirty="0">
                          <a:latin typeface="Times New Roman"/>
                          <a:cs typeface="Times New Roman"/>
                        </a:rPr>
                        <a:t> </a:t>
                      </a:r>
                      <a:r>
                        <a:rPr sz="1200" dirty="0">
                          <a:latin typeface="Times New Roman"/>
                          <a:cs typeface="Times New Roman"/>
                        </a:rPr>
                        <a:t>2 </a:t>
                      </a:r>
                      <a:r>
                        <a:rPr sz="1200" spc="-10" dirty="0">
                          <a:latin typeface="Times New Roman"/>
                          <a:cs typeface="Times New Roman"/>
                        </a:rPr>
                        <a:t>seconds</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69"/>
                        </a:spcBef>
                      </a:pPr>
                      <a:r>
                        <a:rPr sz="1200" dirty="0">
                          <a:latin typeface="Times New Roman"/>
                          <a:cs typeface="Times New Roman"/>
                        </a:rPr>
                        <a:t>1.5</a:t>
                      </a:r>
                      <a:r>
                        <a:rPr sz="1200" spc="-10" dirty="0">
                          <a:latin typeface="Times New Roman"/>
                          <a:cs typeface="Times New Roman"/>
                        </a:rPr>
                        <a:t> seconds</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ts val="1380"/>
                        </a:lnSpc>
                      </a:pPr>
                      <a:r>
                        <a:rPr sz="1200" spc="-10" dirty="0">
                          <a:latin typeface="Times New Roman"/>
                          <a:cs typeface="Times New Roman"/>
                        </a:rPr>
                        <a:t>Recommendation</a:t>
                      </a:r>
                      <a:endParaRPr sz="1200">
                        <a:latin typeface="Times New Roman"/>
                        <a:cs typeface="Times New Roman"/>
                      </a:endParaRPr>
                    </a:p>
                    <a:p>
                      <a:pPr marL="67945">
                        <a:lnSpc>
                          <a:spcPct val="100000"/>
                        </a:lnSpc>
                        <a:spcBef>
                          <a:spcPts val="620"/>
                        </a:spcBef>
                      </a:pPr>
                      <a:r>
                        <a:rPr sz="1200" spc="-10" dirty="0">
                          <a:latin typeface="Times New Roman"/>
                          <a:cs typeface="Times New Roman"/>
                        </a:rPr>
                        <a:t>Accuracy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tabLst>
                          <a:tab pos="1111885" algn="l"/>
                          <a:tab pos="1616075" algn="l"/>
                        </a:tabLst>
                      </a:pPr>
                      <a:r>
                        <a:rPr sz="1200" spc="-10" dirty="0">
                          <a:latin typeface="Times New Roman"/>
                          <a:cs typeface="Times New Roman"/>
                        </a:rPr>
                        <a:t>Percentage</a:t>
                      </a:r>
                      <a:r>
                        <a:rPr sz="1200" dirty="0">
                          <a:latin typeface="Times New Roman"/>
                          <a:cs typeface="Times New Roman"/>
                        </a:rPr>
                        <a:t>	</a:t>
                      </a:r>
                      <a:r>
                        <a:rPr sz="1200" spc="-25" dirty="0">
                          <a:latin typeface="Times New Roman"/>
                          <a:cs typeface="Times New Roman"/>
                        </a:rPr>
                        <a:t>of</a:t>
                      </a:r>
                      <a:r>
                        <a:rPr sz="1200" dirty="0">
                          <a:latin typeface="Times New Roman"/>
                          <a:cs typeface="Times New Roman"/>
                        </a:rPr>
                        <a:t>	</a:t>
                      </a:r>
                      <a:r>
                        <a:rPr sz="1200" spc="-10" dirty="0">
                          <a:latin typeface="Times New Roman"/>
                          <a:cs typeface="Times New Roman"/>
                        </a:rPr>
                        <a:t>relevant</a:t>
                      </a:r>
                      <a:endParaRPr sz="1200">
                        <a:latin typeface="Times New Roman"/>
                        <a:cs typeface="Times New Roman"/>
                      </a:endParaRPr>
                    </a:p>
                    <a:p>
                      <a:pPr marL="68580">
                        <a:lnSpc>
                          <a:spcPct val="100000"/>
                        </a:lnSpc>
                        <a:spcBef>
                          <a:spcPts val="620"/>
                        </a:spcBef>
                      </a:pPr>
                      <a:r>
                        <a:rPr sz="1200" spc="-10" dirty="0">
                          <a:latin typeface="Times New Roman"/>
                          <a:cs typeface="Times New Roman"/>
                        </a:rPr>
                        <a:t>recommendations</a:t>
                      </a:r>
                      <a:r>
                        <a:rPr sz="1200" spc="45" dirty="0">
                          <a:latin typeface="Times New Roman"/>
                          <a:cs typeface="Times New Roman"/>
                        </a:rPr>
                        <a:t> </a:t>
                      </a:r>
                      <a:r>
                        <a:rPr sz="1200" spc="-10" dirty="0">
                          <a:latin typeface="Times New Roman"/>
                          <a:cs typeface="Times New Roman"/>
                        </a:rPr>
                        <a:t>provided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969"/>
                        </a:spcBef>
                      </a:pPr>
                      <a:r>
                        <a:rPr sz="1200" dirty="0">
                          <a:latin typeface="Times New Roman"/>
                          <a:cs typeface="Times New Roman"/>
                        </a:rPr>
                        <a:t>&gt;</a:t>
                      </a:r>
                      <a:r>
                        <a:rPr sz="1200" spc="-5" dirty="0">
                          <a:latin typeface="Times New Roman"/>
                          <a:cs typeface="Times New Roman"/>
                        </a:rPr>
                        <a:t> </a:t>
                      </a:r>
                      <a:r>
                        <a:rPr sz="1200" spc="-25" dirty="0">
                          <a:latin typeface="Times New Roman"/>
                          <a:cs typeface="Times New Roman"/>
                        </a:rPr>
                        <a:t>80%</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69"/>
                        </a:spcBef>
                      </a:pPr>
                      <a:r>
                        <a:rPr sz="1200" spc="-25" dirty="0">
                          <a:latin typeface="Times New Roman"/>
                          <a:cs typeface="Times New Roman"/>
                        </a:rPr>
                        <a:t>85%</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ct val="100000"/>
                        </a:lnSpc>
                        <a:spcBef>
                          <a:spcPts val="969"/>
                        </a:spcBef>
                      </a:pP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Satisfaction</a:t>
                      </a:r>
                      <a:r>
                        <a:rPr sz="1200" spc="-40" dirty="0">
                          <a:latin typeface="Times New Roman"/>
                          <a:cs typeface="Times New Roman"/>
                        </a:rPr>
                        <a:t> </a:t>
                      </a:r>
                      <a:r>
                        <a:rPr sz="1200" spc="-20" dirty="0">
                          <a:latin typeface="Times New Roman"/>
                          <a:cs typeface="Times New Roman"/>
                        </a:rPr>
                        <a:t>Score</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tabLst>
                          <a:tab pos="800735" algn="l"/>
                          <a:tab pos="1339850" algn="l"/>
                          <a:tab pos="1854200" algn="l"/>
                        </a:tabLst>
                      </a:pPr>
                      <a:r>
                        <a:rPr sz="1200" spc="-10" dirty="0">
                          <a:latin typeface="Times New Roman"/>
                          <a:cs typeface="Times New Roman"/>
                        </a:rPr>
                        <a:t>Average</a:t>
                      </a:r>
                      <a:r>
                        <a:rPr sz="1200" dirty="0">
                          <a:latin typeface="Times New Roman"/>
                          <a:cs typeface="Times New Roman"/>
                        </a:rPr>
                        <a:t>	</a:t>
                      </a:r>
                      <a:r>
                        <a:rPr sz="1200" spc="-10" dirty="0">
                          <a:latin typeface="Times New Roman"/>
                          <a:cs typeface="Times New Roman"/>
                        </a:rPr>
                        <a:t>score</a:t>
                      </a:r>
                      <a:r>
                        <a:rPr sz="1200" dirty="0">
                          <a:latin typeface="Times New Roman"/>
                          <a:cs typeface="Times New Roman"/>
                        </a:rPr>
                        <a:t>	</a:t>
                      </a:r>
                      <a:r>
                        <a:rPr sz="1200" spc="-20" dirty="0">
                          <a:latin typeface="Times New Roman"/>
                          <a:cs typeface="Times New Roman"/>
                        </a:rPr>
                        <a:t>from</a:t>
                      </a:r>
                      <a:r>
                        <a:rPr sz="1200" dirty="0">
                          <a:latin typeface="Times New Roman"/>
                          <a:cs typeface="Times New Roman"/>
                        </a:rPr>
                        <a:t>	</a:t>
                      </a:r>
                      <a:r>
                        <a:rPr sz="1200" spc="-20" dirty="0">
                          <a:latin typeface="Times New Roman"/>
                          <a:cs typeface="Times New Roman"/>
                        </a:rPr>
                        <a:t>user</a:t>
                      </a:r>
                      <a:endParaRPr sz="1200">
                        <a:latin typeface="Times New Roman"/>
                        <a:cs typeface="Times New Roman"/>
                      </a:endParaRPr>
                    </a:p>
                    <a:p>
                      <a:pPr marL="68580">
                        <a:lnSpc>
                          <a:spcPct val="100000"/>
                        </a:lnSpc>
                        <a:spcBef>
                          <a:spcPts val="635"/>
                        </a:spcBef>
                      </a:pPr>
                      <a:r>
                        <a:rPr sz="1200" dirty="0">
                          <a:latin typeface="Times New Roman"/>
                          <a:cs typeface="Times New Roman"/>
                        </a:rPr>
                        <a:t>feedback</a:t>
                      </a:r>
                      <a:r>
                        <a:rPr sz="1200" spc="-25" dirty="0">
                          <a:latin typeface="Times New Roman"/>
                          <a:cs typeface="Times New Roman"/>
                        </a:rPr>
                        <a:t> </a:t>
                      </a:r>
                      <a:r>
                        <a:rPr sz="1200" spc="-10" dirty="0">
                          <a:latin typeface="Times New Roman"/>
                          <a:cs typeface="Times New Roman"/>
                        </a:rPr>
                        <a:t>(1-</a:t>
                      </a:r>
                      <a:r>
                        <a:rPr sz="1200" dirty="0">
                          <a:latin typeface="Times New Roman"/>
                          <a:cs typeface="Times New Roman"/>
                        </a:rPr>
                        <a:t>5</a:t>
                      </a:r>
                      <a:r>
                        <a:rPr sz="1200" spc="-20" dirty="0">
                          <a:latin typeface="Times New Roman"/>
                          <a:cs typeface="Times New Roman"/>
                        </a:rPr>
                        <a:t> </a:t>
                      </a:r>
                      <a:r>
                        <a:rPr sz="1200" spc="-10" dirty="0">
                          <a:latin typeface="Times New Roman"/>
                          <a:cs typeface="Times New Roman"/>
                        </a:rPr>
                        <a:t>scale)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969"/>
                        </a:spcBef>
                      </a:pPr>
                      <a:r>
                        <a:rPr sz="1200" dirty="0">
                          <a:latin typeface="Times New Roman"/>
                          <a:cs typeface="Times New Roman"/>
                        </a:rPr>
                        <a:t>&gt;</a:t>
                      </a:r>
                      <a:r>
                        <a:rPr sz="1200" spc="-5" dirty="0">
                          <a:latin typeface="Times New Roman"/>
                          <a:cs typeface="Times New Roman"/>
                        </a:rPr>
                        <a:t> </a:t>
                      </a:r>
                      <a:r>
                        <a:rPr sz="1200" spc="-25" dirty="0">
                          <a:latin typeface="Times New Roman"/>
                          <a:cs typeface="Times New Roman"/>
                        </a:rPr>
                        <a:t>4.0</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69"/>
                        </a:spcBef>
                      </a:pPr>
                      <a:r>
                        <a:rPr sz="1200" spc="-25" dirty="0">
                          <a:latin typeface="Times New Roman"/>
                          <a:cs typeface="Times New Roman"/>
                        </a:rPr>
                        <a:t>4.5</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8319" y="3136899"/>
            <a:ext cx="4697732" cy="259079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24</a:t>
            </a:fld>
            <a:r>
              <a:rPr spc="-20" dirty="0"/>
              <a:t>]</a:t>
            </a:r>
          </a:p>
        </p:txBody>
      </p:sp>
      <p:graphicFrame>
        <p:nvGraphicFramePr>
          <p:cNvPr id="2" name="object 2"/>
          <p:cNvGraphicFramePr>
            <a:graphicFrameLocks noGrp="1"/>
          </p:cNvGraphicFramePr>
          <p:nvPr/>
        </p:nvGraphicFramePr>
        <p:xfrm>
          <a:off x="541019" y="396239"/>
          <a:ext cx="6617969" cy="1332230"/>
        </p:xfrm>
        <a:graphic>
          <a:graphicData uri="http://schemas.openxmlformats.org/drawingml/2006/table">
            <a:tbl>
              <a:tblPr firstRow="1" bandRow="1">
                <a:tableStyleId>{2D5ABB26-0587-4C30-8999-92F81FD0307C}</a:tableStyleId>
              </a:tblPr>
              <a:tblGrid>
                <a:gridCol w="1671955"/>
                <a:gridCol w="2179955"/>
                <a:gridCol w="1466214"/>
                <a:gridCol w="1299845"/>
              </a:tblGrid>
              <a:tr h="531495">
                <a:tc>
                  <a:txBody>
                    <a:bodyPr/>
                    <a:lstStyle/>
                    <a:p>
                      <a:pPr marL="67945">
                        <a:lnSpc>
                          <a:spcPct val="100000"/>
                        </a:lnSpc>
                        <a:spcBef>
                          <a:spcPts val="969"/>
                        </a:spcBef>
                      </a:pPr>
                      <a:r>
                        <a:rPr sz="1200" dirty="0">
                          <a:latin typeface="Times New Roman"/>
                          <a:cs typeface="Times New Roman"/>
                        </a:rPr>
                        <a:t>Error</a:t>
                      </a:r>
                      <a:r>
                        <a:rPr sz="1200" spc="-45" dirty="0">
                          <a:latin typeface="Times New Roman"/>
                          <a:cs typeface="Times New Roman"/>
                        </a:rPr>
                        <a:t> </a:t>
                      </a:r>
                      <a:r>
                        <a:rPr sz="1200" spc="-20" dirty="0">
                          <a:latin typeface="Times New Roman"/>
                          <a:cs typeface="Times New Roman"/>
                        </a:rPr>
                        <a:t>Rate</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Percentage</a:t>
                      </a:r>
                      <a:r>
                        <a:rPr sz="1200" spc="4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errors</a:t>
                      </a:r>
                      <a:r>
                        <a:rPr sz="1200" spc="50" dirty="0">
                          <a:latin typeface="Times New Roman"/>
                          <a:cs typeface="Times New Roman"/>
                        </a:rPr>
                        <a:t> </a:t>
                      </a:r>
                      <a:r>
                        <a:rPr sz="1200" spc="-10" dirty="0">
                          <a:latin typeface="Times New Roman"/>
                          <a:cs typeface="Times New Roman"/>
                        </a:rPr>
                        <a:t>encountered</a:t>
                      </a:r>
                      <a:endParaRPr sz="1200">
                        <a:latin typeface="Times New Roman"/>
                        <a:cs typeface="Times New Roman"/>
                      </a:endParaRPr>
                    </a:p>
                    <a:p>
                      <a:pPr marL="68580">
                        <a:lnSpc>
                          <a:spcPct val="100000"/>
                        </a:lnSpc>
                        <a:spcBef>
                          <a:spcPts val="635"/>
                        </a:spcBef>
                      </a:pPr>
                      <a:r>
                        <a:rPr sz="1200" dirty="0">
                          <a:latin typeface="Times New Roman"/>
                          <a:cs typeface="Times New Roman"/>
                        </a:rPr>
                        <a:t>during</a:t>
                      </a:r>
                      <a:r>
                        <a:rPr sz="1200" spc="-35" dirty="0">
                          <a:latin typeface="Times New Roman"/>
                          <a:cs typeface="Times New Roman"/>
                        </a:rPr>
                        <a:t> </a:t>
                      </a:r>
                      <a:r>
                        <a:rPr sz="1200" spc="-10" dirty="0">
                          <a:latin typeface="Times New Roman"/>
                          <a:cs typeface="Times New Roman"/>
                        </a:rPr>
                        <a:t>usage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969"/>
                        </a:spcBef>
                      </a:pPr>
                      <a:r>
                        <a:rPr sz="1200" dirty="0">
                          <a:latin typeface="Times New Roman"/>
                          <a:cs typeface="Times New Roman"/>
                        </a:rPr>
                        <a:t>&lt;</a:t>
                      </a:r>
                      <a:r>
                        <a:rPr sz="1200" spc="-5" dirty="0">
                          <a:latin typeface="Times New Roman"/>
                          <a:cs typeface="Times New Roman"/>
                        </a:rPr>
                        <a:t> </a:t>
                      </a:r>
                      <a:r>
                        <a:rPr sz="1200" spc="-35" dirty="0">
                          <a:latin typeface="Times New Roman"/>
                          <a:cs typeface="Times New Roman"/>
                        </a:rPr>
                        <a:t>5%</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69"/>
                        </a:spcBef>
                      </a:pPr>
                      <a:r>
                        <a:rPr sz="1200" spc="-25" dirty="0">
                          <a:latin typeface="Times New Roman"/>
                          <a:cs typeface="Times New Roman"/>
                        </a:rPr>
                        <a:t>3%</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ct val="100000"/>
                        </a:lnSpc>
                        <a:spcBef>
                          <a:spcPts val="985"/>
                        </a:spcBef>
                      </a:pPr>
                      <a:r>
                        <a:rPr sz="1200" dirty="0">
                          <a:latin typeface="Times New Roman"/>
                          <a:cs typeface="Times New Roman"/>
                        </a:rPr>
                        <a:t>App</a:t>
                      </a:r>
                      <a:r>
                        <a:rPr sz="1200" spc="-15" dirty="0">
                          <a:latin typeface="Times New Roman"/>
                          <a:cs typeface="Times New Roman"/>
                        </a:rPr>
                        <a:t> </a:t>
                      </a:r>
                      <a:r>
                        <a:rPr sz="1200" dirty="0">
                          <a:latin typeface="Times New Roman"/>
                          <a:cs typeface="Times New Roman"/>
                        </a:rPr>
                        <a:t>Load</a:t>
                      </a:r>
                      <a:r>
                        <a:rPr sz="1200" spc="-1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txBody>
                  <a:tcPr marL="0" marR="0" marT="1250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Time</a:t>
                      </a:r>
                      <a:r>
                        <a:rPr sz="1200" spc="225" dirty="0">
                          <a:latin typeface="Times New Roman"/>
                          <a:cs typeface="Times New Roman"/>
                        </a:rPr>
                        <a:t> </a:t>
                      </a:r>
                      <a:r>
                        <a:rPr sz="1200" dirty="0">
                          <a:latin typeface="Times New Roman"/>
                          <a:cs typeface="Times New Roman"/>
                        </a:rPr>
                        <a:t>taken</a:t>
                      </a:r>
                      <a:r>
                        <a:rPr sz="1200" spc="235" dirty="0">
                          <a:latin typeface="Times New Roman"/>
                          <a:cs typeface="Times New Roman"/>
                        </a:rPr>
                        <a:t> </a:t>
                      </a:r>
                      <a:r>
                        <a:rPr sz="1200" dirty="0">
                          <a:latin typeface="Times New Roman"/>
                          <a:cs typeface="Times New Roman"/>
                        </a:rPr>
                        <a:t>for</a:t>
                      </a:r>
                      <a:r>
                        <a:rPr sz="1200" spc="229"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app</a:t>
                      </a:r>
                      <a:r>
                        <a:rPr sz="1200" spc="245" dirty="0">
                          <a:latin typeface="Times New Roman"/>
                          <a:cs typeface="Times New Roman"/>
                        </a:rPr>
                        <a:t> </a:t>
                      </a:r>
                      <a:r>
                        <a:rPr sz="1200" dirty="0">
                          <a:latin typeface="Times New Roman"/>
                          <a:cs typeface="Times New Roman"/>
                        </a:rPr>
                        <a:t>to</a:t>
                      </a:r>
                      <a:r>
                        <a:rPr sz="1200" spc="235" dirty="0">
                          <a:latin typeface="Times New Roman"/>
                          <a:cs typeface="Times New Roman"/>
                        </a:rPr>
                        <a:t> </a:t>
                      </a:r>
                      <a:r>
                        <a:rPr sz="1200" spc="-20" dirty="0">
                          <a:latin typeface="Times New Roman"/>
                          <a:cs typeface="Times New Roman"/>
                        </a:rPr>
                        <a:t>load</a:t>
                      </a:r>
                      <a:endParaRPr sz="1200">
                        <a:latin typeface="Times New Roman"/>
                        <a:cs typeface="Times New Roman"/>
                      </a:endParaRPr>
                    </a:p>
                    <a:p>
                      <a:pPr marL="68580">
                        <a:lnSpc>
                          <a:spcPct val="100000"/>
                        </a:lnSpc>
                        <a:spcBef>
                          <a:spcPts val="635"/>
                        </a:spcBef>
                      </a:pPr>
                      <a:r>
                        <a:rPr sz="1200" spc="-10" dirty="0">
                          <a:latin typeface="Times New Roman"/>
                          <a:cs typeface="Times New Roman"/>
                        </a:rPr>
                        <a:t>initially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985"/>
                        </a:spcBef>
                      </a:pPr>
                      <a:r>
                        <a:rPr sz="1200" dirty="0">
                          <a:latin typeface="Times New Roman"/>
                          <a:cs typeface="Times New Roman"/>
                        </a:rPr>
                        <a:t>&lt;</a:t>
                      </a:r>
                      <a:r>
                        <a:rPr sz="1200" spc="-5" dirty="0">
                          <a:latin typeface="Times New Roman"/>
                          <a:cs typeface="Times New Roman"/>
                        </a:rPr>
                        <a:t> </a:t>
                      </a:r>
                      <a:r>
                        <a:rPr sz="1200" dirty="0">
                          <a:latin typeface="Times New Roman"/>
                          <a:cs typeface="Times New Roman"/>
                        </a:rPr>
                        <a:t>3 </a:t>
                      </a:r>
                      <a:r>
                        <a:rPr sz="1200" spc="-10" dirty="0">
                          <a:latin typeface="Times New Roman"/>
                          <a:cs typeface="Times New Roman"/>
                        </a:rPr>
                        <a:t>seconds</a:t>
                      </a:r>
                      <a:endParaRPr sz="1200">
                        <a:latin typeface="Times New Roman"/>
                        <a:cs typeface="Times New Roman"/>
                      </a:endParaRPr>
                    </a:p>
                  </a:txBody>
                  <a:tcPr marL="0" marR="0" marT="1250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85"/>
                        </a:spcBef>
                      </a:pPr>
                      <a:r>
                        <a:rPr sz="1200" dirty="0">
                          <a:latin typeface="Times New Roman"/>
                          <a:cs typeface="Times New Roman"/>
                        </a:rPr>
                        <a:t>2.8</a:t>
                      </a:r>
                      <a:r>
                        <a:rPr sz="1200" spc="-10" dirty="0">
                          <a:latin typeface="Times New Roman"/>
                          <a:cs typeface="Times New Roman"/>
                        </a:rPr>
                        <a:t> seconds</a:t>
                      </a:r>
                      <a:endParaRPr sz="1200">
                        <a:latin typeface="Times New Roman"/>
                        <a:cs typeface="Times New Roman"/>
                      </a:endParaRPr>
                    </a:p>
                  </a:txBody>
                  <a:tcPr marL="0" marR="0" marT="1250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69240">
                <a:tc>
                  <a:txBody>
                    <a:bodyPr/>
                    <a:lstStyle/>
                    <a:p>
                      <a:pPr marL="67945">
                        <a:lnSpc>
                          <a:spcPts val="1380"/>
                        </a:lnSpc>
                      </a:pP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Response</a:t>
                      </a:r>
                      <a:r>
                        <a:rPr sz="1200" spc="-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Average</a:t>
                      </a:r>
                      <a:r>
                        <a:rPr sz="1200" spc="-30"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taken</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API</a:t>
                      </a:r>
                      <a:r>
                        <a:rPr sz="1200" spc="-40" dirty="0">
                          <a:latin typeface="Times New Roman"/>
                          <a:cs typeface="Times New Roman"/>
                        </a:rPr>
                        <a:t> </a:t>
                      </a:r>
                      <a:r>
                        <a:rPr sz="1200" spc="-20" dirty="0">
                          <a:latin typeface="Times New Roman"/>
                          <a:cs typeface="Times New Roman"/>
                        </a:rPr>
                        <a:t>calls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&lt;</a:t>
                      </a:r>
                      <a:r>
                        <a:rPr sz="1200" spc="-15" dirty="0">
                          <a:latin typeface="Times New Roman"/>
                          <a:cs typeface="Times New Roman"/>
                        </a:rPr>
                        <a:t> </a:t>
                      </a:r>
                      <a:r>
                        <a:rPr sz="1200" dirty="0">
                          <a:latin typeface="Times New Roman"/>
                          <a:cs typeface="Times New Roman"/>
                        </a:rPr>
                        <a:t>1 </a:t>
                      </a:r>
                      <a:r>
                        <a:rPr sz="1200" spc="-10" dirty="0">
                          <a:latin typeface="Times New Roman"/>
                          <a:cs typeface="Times New Roman"/>
                        </a:rPr>
                        <a:t>second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0.8</a:t>
                      </a:r>
                      <a:r>
                        <a:rPr sz="1200" spc="-10" dirty="0">
                          <a:latin typeface="Times New Roman"/>
                          <a:cs typeface="Times New Roman"/>
                        </a:rPr>
                        <a:t> seconds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3" name="object 3"/>
          <p:cNvSpPr txBox="1"/>
          <p:nvPr/>
        </p:nvSpPr>
        <p:spPr>
          <a:xfrm>
            <a:off x="528319" y="1712721"/>
            <a:ext cx="6648450" cy="2618105"/>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3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5.6.1:</a:t>
            </a:r>
            <a:r>
              <a:rPr sz="1200" u="sng" spc="-2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Testing</a:t>
            </a:r>
            <a:r>
              <a:rPr sz="1200" u="sng" spc="-2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Metrics</a:t>
            </a:r>
            <a:endParaRPr sz="1200" dirty="0">
              <a:latin typeface="Times New Roman"/>
              <a:cs typeface="Times New Roman"/>
            </a:endParaRPr>
          </a:p>
          <a:p>
            <a:pPr>
              <a:lnSpc>
                <a:spcPct val="100000"/>
              </a:lnSpc>
              <a:spcBef>
                <a:spcPts val="1310"/>
              </a:spcBef>
            </a:pPr>
            <a:endParaRPr sz="1200" dirty="0">
              <a:latin typeface="Times New Roman"/>
              <a:cs typeface="Times New Roman"/>
            </a:endParaRPr>
          </a:p>
          <a:p>
            <a:pPr marL="12700">
              <a:lnSpc>
                <a:spcPct val="100000"/>
              </a:lnSpc>
            </a:pPr>
            <a:r>
              <a:rPr sz="1400" b="1" dirty="0" smtClean="0">
                <a:latin typeface="Times New Roman"/>
                <a:cs typeface="Times New Roman"/>
              </a:rPr>
              <a:t>5.</a:t>
            </a:r>
            <a:r>
              <a:rPr lang="en-US" sz="1400" b="1" dirty="0" smtClean="0">
                <a:latin typeface="Times New Roman"/>
                <a:cs typeface="Times New Roman"/>
              </a:rPr>
              <a:t>5</a:t>
            </a:r>
            <a:r>
              <a:rPr sz="1400" b="1" spc="-30" dirty="0" smtClean="0">
                <a:latin typeface="Times New Roman"/>
                <a:cs typeface="Times New Roman"/>
              </a:rPr>
              <a:t> </a:t>
            </a:r>
            <a:r>
              <a:rPr sz="1400" b="1" dirty="0">
                <a:latin typeface="Times New Roman"/>
                <a:cs typeface="Times New Roman"/>
              </a:rPr>
              <a:t>User</a:t>
            </a:r>
            <a:r>
              <a:rPr sz="1400" b="1" spc="-15" dirty="0">
                <a:latin typeface="Times New Roman"/>
                <a:cs typeface="Times New Roman"/>
              </a:rPr>
              <a:t> </a:t>
            </a:r>
            <a:r>
              <a:rPr sz="1400" b="1" dirty="0">
                <a:latin typeface="Times New Roman"/>
                <a:cs typeface="Times New Roman"/>
              </a:rPr>
              <a:t>Feedback</a:t>
            </a:r>
            <a:r>
              <a:rPr sz="1400" b="1" spc="-15"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spc="-10" dirty="0">
                <a:latin typeface="Times New Roman"/>
                <a:cs typeface="Times New Roman"/>
              </a:rPr>
              <a:t>Iteration</a:t>
            </a:r>
            <a:endParaRPr sz="1400" dirty="0">
              <a:latin typeface="Times New Roman"/>
              <a:cs typeface="Times New Roman"/>
            </a:endParaRPr>
          </a:p>
          <a:p>
            <a:pPr marL="12700">
              <a:lnSpc>
                <a:spcPct val="100000"/>
              </a:lnSpc>
              <a:spcBef>
                <a:spcPts val="740"/>
              </a:spcBef>
            </a:pPr>
            <a:r>
              <a:rPr sz="1200" b="1" dirty="0">
                <a:latin typeface="Times New Roman"/>
                <a:cs typeface="Times New Roman"/>
              </a:rPr>
              <a:t>Objective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gather</a:t>
            </a:r>
            <a:r>
              <a:rPr sz="1200" spc="-3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feedback</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continuous</a:t>
            </a:r>
            <a:r>
              <a:rPr sz="1200" spc="-30" dirty="0">
                <a:latin typeface="Times New Roman"/>
                <a:cs typeface="Times New Roman"/>
              </a:rPr>
              <a:t> </a:t>
            </a:r>
            <a:r>
              <a:rPr sz="1200" dirty="0">
                <a:latin typeface="Times New Roman"/>
                <a:cs typeface="Times New Roman"/>
              </a:rPr>
              <a:t>improvement</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lang="en-US" sz="1200" spc="-20" dirty="0" smtClean="0">
                <a:latin typeface="Times New Roman"/>
                <a:cs typeface="Times New Roman"/>
              </a:rPr>
              <a:t>website</a:t>
            </a:r>
            <a:r>
              <a:rPr sz="1200" spc="-20" dirty="0" smtClean="0">
                <a:latin typeface="Times New Roman"/>
                <a:cs typeface="Times New Roman"/>
              </a:rPr>
              <a:t>.</a:t>
            </a:r>
            <a:endParaRPr sz="1200" dirty="0">
              <a:latin typeface="Times New Roman"/>
              <a:cs typeface="Times New Roman"/>
            </a:endParaRPr>
          </a:p>
          <a:p>
            <a:pPr marL="12700">
              <a:lnSpc>
                <a:spcPct val="100000"/>
              </a:lnSpc>
              <a:spcBef>
                <a:spcPts val="635"/>
              </a:spcBef>
            </a:pPr>
            <a:r>
              <a:rPr sz="1200" b="1" spc="-10" dirty="0">
                <a:latin typeface="Times New Roman"/>
                <a:cs typeface="Times New Roman"/>
              </a:rPr>
              <a:t>Steps</a:t>
            </a:r>
            <a:r>
              <a:rPr sz="1200" spc="-10" dirty="0">
                <a:latin typeface="Times New Roman"/>
                <a:cs typeface="Times New Roman"/>
              </a:rPr>
              <a:t>:</a:t>
            </a:r>
            <a:endParaRPr sz="1200" dirty="0">
              <a:latin typeface="Times New Roman"/>
              <a:cs typeface="Times New Roman"/>
            </a:endParaRPr>
          </a:p>
          <a:p>
            <a:pPr marL="469900" marR="5080" indent="-228600">
              <a:lnSpc>
                <a:spcPts val="2080"/>
              </a:lnSpc>
              <a:spcBef>
                <a:spcPts val="165"/>
              </a:spcBef>
              <a:buFont typeface="Times New Roman"/>
              <a:buAutoNum type="arabicPeriod"/>
              <a:tabLst>
                <a:tab pos="469900" algn="l"/>
              </a:tabLst>
            </a:pPr>
            <a:r>
              <a:rPr sz="1200" b="1" dirty="0">
                <a:latin typeface="Times New Roman"/>
                <a:cs typeface="Times New Roman"/>
              </a:rPr>
              <a:t>Feedback</a:t>
            </a:r>
            <a:r>
              <a:rPr sz="1200" b="1" spc="-40" dirty="0">
                <a:latin typeface="Times New Roman"/>
                <a:cs typeface="Times New Roman"/>
              </a:rPr>
              <a:t> </a:t>
            </a:r>
            <a:r>
              <a:rPr sz="1200" b="1" dirty="0">
                <a:latin typeface="Times New Roman"/>
                <a:cs typeface="Times New Roman"/>
              </a:rPr>
              <a:t>Collection</a:t>
            </a:r>
            <a:r>
              <a:rPr sz="1200" dirty="0">
                <a:latin typeface="Times New Roman"/>
                <a:cs typeface="Times New Roman"/>
              </a:rPr>
              <a:t>:</a:t>
            </a:r>
            <a:r>
              <a:rPr sz="1200" spc="-40" dirty="0">
                <a:latin typeface="Times New Roman"/>
                <a:cs typeface="Times New Roman"/>
              </a:rPr>
              <a:t> </a:t>
            </a:r>
            <a:r>
              <a:rPr sz="1200" spc="-10" dirty="0">
                <a:latin typeface="Times New Roman"/>
                <a:cs typeface="Times New Roman"/>
              </a:rPr>
              <a:t>Implement</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feedback</a:t>
            </a:r>
            <a:r>
              <a:rPr sz="1200" spc="-40" dirty="0">
                <a:latin typeface="Times New Roman"/>
                <a:cs typeface="Times New Roman"/>
              </a:rPr>
              <a:t> </a:t>
            </a:r>
            <a:r>
              <a:rPr sz="1200" dirty="0">
                <a:latin typeface="Times New Roman"/>
                <a:cs typeface="Times New Roman"/>
              </a:rPr>
              <a:t>form</a:t>
            </a:r>
            <a:r>
              <a:rPr sz="1200" spc="-40" dirty="0">
                <a:latin typeface="Times New Roman"/>
                <a:cs typeface="Times New Roman"/>
              </a:rPr>
              <a:t> </a:t>
            </a:r>
            <a:r>
              <a:rPr sz="1200" dirty="0">
                <a:latin typeface="Times New Roman"/>
                <a:cs typeface="Times New Roman"/>
              </a:rPr>
              <a:t>within</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app</a:t>
            </a:r>
            <a:r>
              <a:rPr sz="1200" spc="-4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collect</a:t>
            </a:r>
            <a:r>
              <a:rPr sz="1200" spc="-40"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opinions</a:t>
            </a:r>
            <a:r>
              <a:rPr sz="1200" spc="-4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spc="-10" dirty="0">
                <a:latin typeface="Times New Roman"/>
                <a:cs typeface="Times New Roman"/>
              </a:rPr>
              <a:t>features, </a:t>
            </a:r>
            <a:r>
              <a:rPr sz="1200" dirty="0">
                <a:latin typeface="Times New Roman"/>
                <a:cs typeface="Times New Roman"/>
              </a:rPr>
              <a:t>usability,</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overall</a:t>
            </a:r>
            <a:r>
              <a:rPr sz="1200" spc="-35" dirty="0">
                <a:latin typeface="Times New Roman"/>
                <a:cs typeface="Times New Roman"/>
              </a:rPr>
              <a:t> </a:t>
            </a:r>
            <a:r>
              <a:rPr sz="1200" spc="-10" dirty="0">
                <a:latin typeface="Times New Roman"/>
                <a:cs typeface="Times New Roman"/>
              </a:rPr>
              <a:t>satisfaction.</a:t>
            </a:r>
            <a:endParaRPr sz="1200" dirty="0">
              <a:latin typeface="Times New Roman"/>
              <a:cs typeface="Times New Roman"/>
            </a:endParaRPr>
          </a:p>
          <a:p>
            <a:pPr marL="469900" indent="-228600">
              <a:lnSpc>
                <a:spcPct val="100000"/>
              </a:lnSpc>
              <a:spcBef>
                <a:spcPts val="445"/>
              </a:spcBef>
              <a:buFont typeface="Times New Roman"/>
              <a:buAutoNum type="arabicPeriod"/>
              <a:tabLst>
                <a:tab pos="469900" algn="l"/>
              </a:tabLst>
            </a:pPr>
            <a:r>
              <a:rPr sz="1200" b="1" dirty="0">
                <a:latin typeface="Times New Roman"/>
                <a:cs typeface="Times New Roman"/>
              </a:rPr>
              <a:t>Data</a:t>
            </a:r>
            <a:r>
              <a:rPr sz="1200" b="1" spc="-25" dirty="0">
                <a:latin typeface="Times New Roman"/>
                <a:cs typeface="Times New Roman"/>
              </a:rPr>
              <a:t> </a:t>
            </a:r>
            <a:r>
              <a:rPr sz="1200" b="1" dirty="0">
                <a:latin typeface="Times New Roman"/>
                <a:cs typeface="Times New Roman"/>
              </a:rPr>
              <a:t>Analysis</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Analyze</a:t>
            </a:r>
            <a:r>
              <a:rPr sz="1200" spc="-25"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identify</a:t>
            </a:r>
            <a:r>
              <a:rPr sz="1200" spc="-25" dirty="0">
                <a:latin typeface="Times New Roman"/>
                <a:cs typeface="Times New Roman"/>
              </a:rPr>
              <a:t> </a:t>
            </a:r>
            <a:r>
              <a:rPr sz="1200" dirty="0">
                <a:latin typeface="Times New Roman"/>
                <a:cs typeface="Times New Roman"/>
              </a:rPr>
              <a:t>common</a:t>
            </a:r>
            <a:r>
              <a:rPr sz="1200" spc="-25" dirty="0">
                <a:latin typeface="Times New Roman"/>
                <a:cs typeface="Times New Roman"/>
              </a:rPr>
              <a:t> </a:t>
            </a:r>
            <a:r>
              <a:rPr sz="1200" dirty="0">
                <a:latin typeface="Times New Roman"/>
                <a:cs typeface="Times New Roman"/>
              </a:rPr>
              <a:t>issues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areas</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improvement.</a:t>
            </a:r>
            <a:endParaRPr sz="1200" dirty="0">
              <a:latin typeface="Times New Roman"/>
              <a:cs typeface="Times New Roman"/>
            </a:endParaRPr>
          </a:p>
          <a:p>
            <a:pPr marL="469900" marR="8890" indent="-228600">
              <a:lnSpc>
                <a:spcPct val="143300"/>
              </a:lnSpc>
              <a:spcBef>
                <a:spcPts val="10"/>
              </a:spcBef>
              <a:buFont typeface="Times New Roman"/>
              <a:buAutoNum type="arabicPeriod"/>
              <a:tabLst>
                <a:tab pos="469900" algn="l"/>
              </a:tabLst>
            </a:pPr>
            <a:r>
              <a:rPr sz="1200" b="1" dirty="0">
                <a:latin typeface="Times New Roman"/>
                <a:cs typeface="Times New Roman"/>
              </a:rPr>
              <a:t>Iterative</a:t>
            </a:r>
            <a:r>
              <a:rPr sz="1200" b="1" spc="45" dirty="0">
                <a:latin typeface="Times New Roman"/>
                <a:cs typeface="Times New Roman"/>
              </a:rPr>
              <a:t> </a:t>
            </a:r>
            <a:r>
              <a:rPr sz="1200" b="1" dirty="0">
                <a:latin typeface="Times New Roman"/>
                <a:cs typeface="Times New Roman"/>
              </a:rPr>
              <a:t>Development</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feedback</a:t>
            </a:r>
            <a:r>
              <a:rPr sz="1200" spc="4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make</a:t>
            </a:r>
            <a:r>
              <a:rPr sz="1200" spc="30" dirty="0">
                <a:latin typeface="Times New Roman"/>
                <a:cs typeface="Times New Roman"/>
              </a:rPr>
              <a:t> </a:t>
            </a:r>
            <a:r>
              <a:rPr sz="1200" dirty="0">
                <a:latin typeface="Times New Roman"/>
                <a:cs typeface="Times New Roman"/>
              </a:rPr>
              <a:t>iterative</a:t>
            </a:r>
            <a:r>
              <a:rPr sz="1200" spc="4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app,</a:t>
            </a:r>
            <a:r>
              <a:rPr sz="1200" spc="40" dirty="0">
                <a:latin typeface="Times New Roman"/>
                <a:cs typeface="Times New Roman"/>
              </a:rPr>
              <a:t> </a:t>
            </a:r>
            <a:r>
              <a:rPr sz="1200" dirty="0">
                <a:latin typeface="Times New Roman"/>
                <a:cs typeface="Times New Roman"/>
              </a:rPr>
              <a:t>enhancing</a:t>
            </a:r>
            <a:r>
              <a:rPr sz="1200" spc="55" dirty="0">
                <a:latin typeface="Times New Roman"/>
                <a:cs typeface="Times New Roman"/>
              </a:rPr>
              <a:t> </a:t>
            </a:r>
            <a:r>
              <a:rPr sz="1200" dirty="0">
                <a:latin typeface="Times New Roman"/>
                <a:cs typeface="Times New Roman"/>
              </a:rPr>
              <a:t>features</a:t>
            </a:r>
            <a:r>
              <a:rPr sz="1200" spc="40" dirty="0">
                <a:latin typeface="Times New Roman"/>
                <a:cs typeface="Times New Roman"/>
              </a:rPr>
              <a:t> </a:t>
            </a:r>
            <a:r>
              <a:rPr sz="1200" spc="-25" dirty="0">
                <a:latin typeface="Times New Roman"/>
                <a:cs typeface="Times New Roman"/>
              </a:rPr>
              <a:t>and </a:t>
            </a:r>
            <a:r>
              <a:rPr sz="1200" dirty="0">
                <a:latin typeface="Times New Roman"/>
                <a:cs typeface="Times New Roman"/>
              </a:rPr>
              <a:t>fixing</a:t>
            </a:r>
            <a:r>
              <a:rPr sz="1200" spc="-30" dirty="0">
                <a:latin typeface="Times New Roman"/>
                <a:cs typeface="Times New Roman"/>
              </a:rPr>
              <a:t> </a:t>
            </a:r>
            <a:r>
              <a:rPr sz="1200" spc="-10" dirty="0">
                <a:latin typeface="Times New Roman"/>
                <a:cs typeface="Times New Roman"/>
              </a:rPr>
              <a:t>bugs.</a:t>
            </a:r>
            <a:endParaRPr sz="12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1784901543"/>
              </p:ext>
            </p:extLst>
          </p:nvPr>
        </p:nvGraphicFramePr>
        <p:xfrm>
          <a:off x="541336" y="4356352"/>
          <a:ext cx="6618605" cy="2965324"/>
        </p:xfrm>
        <a:graphic>
          <a:graphicData uri="http://schemas.openxmlformats.org/drawingml/2006/table">
            <a:tbl>
              <a:tblPr firstRow="1" bandRow="1">
                <a:tableStyleId>{2D5ABB26-0587-4C30-8999-92F81FD0307C}</a:tableStyleId>
              </a:tblPr>
              <a:tblGrid>
                <a:gridCol w="1579245"/>
                <a:gridCol w="3213100"/>
                <a:gridCol w="1826260"/>
              </a:tblGrid>
              <a:tr h="267970">
                <a:tc>
                  <a:txBody>
                    <a:bodyPr/>
                    <a:lstStyle/>
                    <a:p>
                      <a:pPr marL="67945">
                        <a:lnSpc>
                          <a:spcPts val="1380"/>
                        </a:lnSpc>
                      </a:pPr>
                      <a:r>
                        <a:rPr sz="1200" b="1" dirty="0">
                          <a:latin typeface="Times New Roman"/>
                          <a:cs typeface="Times New Roman"/>
                        </a:rPr>
                        <a:t>Feedback</a:t>
                      </a:r>
                      <a:r>
                        <a:rPr sz="1200" b="1" spc="-50" dirty="0">
                          <a:latin typeface="Times New Roman"/>
                          <a:cs typeface="Times New Roman"/>
                        </a:rPr>
                        <a:t> </a:t>
                      </a:r>
                      <a:r>
                        <a:rPr sz="1200" b="1" spc="-10" dirty="0">
                          <a:latin typeface="Times New Roman"/>
                          <a:cs typeface="Times New Roman"/>
                        </a:rPr>
                        <a:t>Category</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b="1" spc="-10" dirty="0">
                          <a:latin typeface="Times New Roman"/>
                          <a:cs typeface="Times New Roman"/>
                        </a:rPr>
                        <a:t>Comments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b="1" dirty="0">
                          <a:latin typeface="Times New Roman"/>
                          <a:cs typeface="Times New Roman"/>
                        </a:rPr>
                        <a:t>Action</a:t>
                      </a:r>
                      <a:r>
                        <a:rPr sz="1200" b="1" spc="-25" dirty="0">
                          <a:latin typeface="Times New Roman"/>
                          <a:cs typeface="Times New Roman"/>
                        </a:rPr>
                        <a:t> </a:t>
                      </a:r>
                      <a:r>
                        <a:rPr sz="1200" b="1" spc="-10" dirty="0">
                          <a:latin typeface="Times New Roman"/>
                          <a:cs typeface="Times New Roman"/>
                        </a:rPr>
                        <a:t>Taken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2130">
                <a:tc>
                  <a:txBody>
                    <a:bodyPr/>
                    <a:lstStyle/>
                    <a:p>
                      <a:pPr marL="67945">
                        <a:lnSpc>
                          <a:spcPct val="100000"/>
                        </a:lnSpc>
                        <a:spcBef>
                          <a:spcPts val="980"/>
                        </a:spcBef>
                      </a:pPr>
                      <a:r>
                        <a:rPr sz="1200" spc="-10" dirty="0">
                          <a:latin typeface="Times New Roman"/>
                          <a:cs typeface="Times New Roman"/>
                        </a:rPr>
                        <a:t>Usability</a:t>
                      </a:r>
                      <a:endParaRPr sz="1200">
                        <a:latin typeface="Times New Roman"/>
                        <a:cs typeface="Times New Roman"/>
                      </a:endParaRPr>
                    </a:p>
                  </a:txBody>
                  <a:tcPr marL="0" marR="0" marT="1244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90"/>
                        </a:lnSpc>
                      </a:pPr>
                      <a:r>
                        <a:rPr sz="1200" dirty="0">
                          <a:latin typeface="Times New Roman"/>
                          <a:cs typeface="Times New Roman"/>
                        </a:rPr>
                        <a:t>Users</a:t>
                      </a:r>
                      <a:r>
                        <a:rPr sz="1200" spc="270" dirty="0">
                          <a:latin typeface="Times New Roman"/>
                          <a:cs typeface="Times New Roman"/>
                        </a:rPr>
                        <a:t> </a:t>
                      </a:r>
                      <a:r>
                        <a:rPr sz="1200" dirty="0">
                          <a:latin typeface="Times New Roman"/>
                          <a:cs typeface="Times New Roman"/>
                        </a:rPr>
                        <a:t>found</a:t>
                      </a:r>
                      <a:r>
                        <a:rPr sz="1200" spc="270" dirty="0">
                          <a:latin typeface="Times New Roman"/>
                          <a:cs typeface="Times New Roman"/>
                        </a:rPr>
                        <a:t> </a:t>
                      </a:r>
                      <a:r>
                        <a:rPr sz="1200" dirty="0">
                          <a:latin typeface="Times New Roman"/>
                          <a:cs typeface="Times New Roman"/>
                        </a:rPr>
                        <a:t>the</a:t>
                      </a:r>
                      <a:r>
                        <a:rPr sz="1200" spc="270" dirty="0">
                          <a:latin typeface="Times New Roman"/>
                          <a:cs typeface="Times New Roman"/>
                        </a:rPr>
                        <a:t> </a:t>
                      </a:r>
                      <a:r>
                        <a:rPr sz="1200" dirty="0">
                          <a:latin typeface="Times New Roman"/>
                          <a:cs typeface="Times New Roman"/>
                        </a:rPr>
                        <a:t>interface</a:t>
                      </a:r>
                      <a:r>
                        <a:rPr sz="1200" spc="265" dirty="0">
                          <a:latin typeface="Times New Roman"/>
                          <a:cs typeface="Times New Roman"/>
                        </a:rPr>
                        <a:t> </a:t>
                      </a:r>
                      <a:r>
                        <a:rPr sz="1200" dirty="0">
                          <a:latin typeface="Times New Roman"/>
                          <a:cs typeface="Times New Roman"/>
                        </a:rPr>
                        <a:t>intuitive</a:t>
                      </a:r>
                      <a:r>
                        <a:rPr sz="1200" spc="275" dirty="0">
                          <a:latin typeface="Times New Roman"/>
                          <a:cs typeface="Times New Roman"/>
                        </a:rPr>
                        <a:t> </a:t>
                      </a:r>
                      <a:r>
                        <a:rPr sz="1200" dirty="0">
                          <a:latin typeface="Times New Roman"/>
                          <a:cs typeface="Times New Roman"/>
                        </a:rPr>
                        <a:t>and</a:t>
                      </a:r>
                      <a:r>
                        <a:rPr sz="1200" spc="285" dirty="0">
                          <a:latin typeface="Times New Roman"/>
                          <a:cs typeface="Times New Roman"/>
                        </a:rPr>
                        <a:t> </a:t>
                      </a:r>
                      <a:r>
                        <a:rPr sz="1200" dirty="0">
                          <a:latin typeface="Times New Roman"/>
                          <a:cs typeface="Times New Roman"/>
                        </a:rPr>
                        <a:t>easy</a:t>
                      </a:r>
                      <a:r>
                        <a:rPr sz="1200" spc="27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66675">
                        <a:lnSpc>
                          <a:spcPct val="100000"/>
                        </a:lnSpc>
                        <a:spcBef>
                          <a:spcPts val="625"/>
                        </a:spcBef>
                      </a:pPr>
                      <a:r>
                        <a:rPr sz="1200" spc="-10" dirty="0">
                          <a:latin typeface="Times New Roman"/>
                          <a:cs typeface="Times New Roman"/>
                        </a:rPr>
                        <a:t>navigate.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80"/>
                        </a:spcBef>
                      </a:pP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action</a:t>
                      </a:r>
                      <a:r>
                        <a:rPr sz="1200" spc="-20"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a:txBody>
                  <a:tcPr marL="0" marR="0" marT="1244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3400">
                <a:tc>
                  <a:txBody>
                    <a:bodyPr/>
                    <a:lstStyle/>
                    <a:p>
                      <a:pPr marL="67945">
                        <a:lnSpc>
                          <a:spcPct val="100000"/>
                        </a:lnSpc>
                        <a:spcBef>
                          <a:spcPts val="985"/>
                        </a:spcBef>
                      </a:pPr>
                      <a:r>
                        <a:rPr sz="1200" dirty="0">
                          <a:latin typeface="Times New Roman"/>
                          <a:cs typeface="Times New Roman"/>
                        </a:rPr>
                        <a:t>Feature</a:t>
                      </a:r>
                      <a:r>
                        <a:rPr sz="1200" spc="-50"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a:txBody>
                  <a:tcPr marL="0" marR="0" marT="1250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90"/>
                        </a:lnSpc>
                      </a:pPr>
                      <a:r>
                        <a:rPr sz="1200" dirty="0">
                          <a:latin typeface="Times New Roman"/>
                          <a:cs typeface="Times New Roman"/>
                        </a:rPr>
                        <a:t>Users</a:t>
                      </a:r>
                      <a:r>
                        <a:rPr sz="1200" spc="145" dirty="0">
                          <a:latin typeface="Times New Roman"/>
                          <a:cs typeface="Times New Roman"/>
                        </a:rPr>
                        <a:t>  </a:t>
                      </a:r>
                      <a:r>
                        <a:rPr sz="1200" dirty="0">
                          <a:latin typeface="Times New Roman"/>
                          <a:cs typeface="Times New Roman"/>
                        </a:rPr>
                        <a:t>requested</a:t>
                      </a:r>
                      <a:r>
                        <a:rPr sz="1200" spc="150" dirty="0">
                          <a:latin typeface="Times New Roman"/>
                          <a:cs typeface="Times New Roman"/>
                        </a:rPr>
                        <a:t>  </a:t>
                      </a:r>
                      <a:r>
                        <a:rPr sz="1200" dirty="0">
                          <a:latin typeface="Times New Roman"/>
                          <a:cs typeface="Times New Roman"/>
                        </a:rPr>
                        <a:t>additional</a:t>
                      </a:r>
                      <a:r>
                        <a:rPr sz="1200" spc="150" dirty="0">
                          <a:latin typeface="Times New Roman"/>
                          <a:cs typeface="Times New Roman"/>
                        </a:rPr>
                        <a:t>  </a:t>
                      </a:r>
                      <a:r>
                        <a:rPr sz="1200" dirty="0">
                          <a:latin typeface="Times New Roman"/>
                          <a:cs typeface="Times New Roman"/>
                        </a:rPr>
                        <a:t>genres</a:t>
                      </a:r>
                      <a:r>
                        <a:rPr sz="1200" spc="155" dirty="0">
                          <a:latin typeface="Times New Roman"/>
                          <a:cs typeface="Times New Roman"/>
                        </a:rPr>
                        <a:t>  </a:t>
                      </a:r>
                      <a:r>
                        <a:rPr sz="1200" dirty="0" smtClean="0">
                          <a:latin typeface="Times New Roman"/>
                          <a:cs typeface="Times New Roman"/>
                        </a:rPr>
                        <a:t>for</a:t>
                      </a:r>
                      <a:r>
                        <a:rPr lang="en-US" sz="1200" dirty="0" smtClean="0">
                          <a:latin typeface="Times New Roman"/>
                          <a:cs typeface="Times New Roman"/>
                        </a:rPr>
                        <a:t> diet</a:t>
                      </a:r>
                      <a:r>
                        <a:rPr lang="en-US" sz="1200" baseline="0" dirty="0" smtClean="0">
                          <a:latin typeface="Times New Roman"/>
                          <a:cs typeface="Times New Roman"/>
                        </a:rPr>
                        <a:t> plan and workout plan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85"/>
                        </a:spcBef>
                      </a:pPr>
                      <a:r>
                        <a:rPr sz="1200" dirty="0">
                          <a:latin typeface="Times New Roman"/>
                          <a:cs typeface="Times New Roman"/>
                        </a:rPr>
                        <a:t>Planned</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future</a:t>
                      </a:r>
                      <a:r>
                        <a:rPr sz="1200" spc="-30"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txBody>
                  <a:tcPr marL="0" marR="0" marT="1250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ct val="100000"/>
                        </a:lnSpc>
                        <a:spcBef>
                          <a:spcPts val="969"/>
                        </a:spcBef>
                      </a:pPr>
                      <a:r>
                        <a:rPr sz="1200" spc="-10" dirty="0">
                          <a:latin typeface="Times New Roman"/>
                          <a:cs typeface="Times New Roman"/>
                        </a:rPr>
                        <a:t>Performance</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Some</a:t>
                      </a:r>
                      <a:r>
                        <a:rPr sz="1200" spc="-4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spc="-10" dirty="0">
                          <a:latin typeface="Times New Roman"/>
                          <a:cs typeface="Times New Roman"/>
                        </a:rPr>
                        <a:t>experienced</a:t>
                      </a:r>
                      <a:r>
                        <a:rPr sz="1200" spc="-25" dirty="0">
                          <a:latin typeface="Times New Roman"/>
                          <a:cs typeface="Times New Roman"/>
                        </a:rPr>
                        <a:t> </a:t>
                      </a:r>
                      <a:r>
                        <a:rPr sz="1200" dirty="0">
                          <a:latin typeface="Times New Roman"/>
                          <a:cs typeface="Times New Roman"/>
                        </a:rPr>
                        <a:t>slow</a:t>
                      </a:r>
                      <a:r>
                        <a:rPr sz="1200" spc="-40" dirty="0">
                          <a:latin typeface="Times New Roman"/>
                          <a:cs typeface="Times New Roman"/>
                        </a:rPr>
                        <a:t> </a:t>
                      </a:r>
                      <a:r>
                        <a:rPr sz="1200" spc="-10" dirty="0">
                          <a:latin typeface="Times New Roman"/>
                          <a:cs typeface="Times New Roman"/>
                        </a:rPr>
                        <a:t>loading</a:t>
                      </a:r>
                      <a:r>
                        <a:rPr sz="1200" spc="-35" dirty="0">
                          <a:latin typeface="Times New Roman"/>
                          <a:cs typeface="Times New Roman"/>
                        </a:rPr>
                        <a:t> </a:t>
                      </a:r>
                      <a:r>
                        <a:rPr sz="1200" dirty="0">
                          <a:latin typeface="Times New Roman"/>
                          <a:cs typeface="Times New Roman"/>
                        </a:rPr>
                        <a:t>times</a:t>
                      </a:r>
                      <a:r>
                        <a:rPr sz="1200" spc="-40" dirty="0">
                          <a:latin typeface="Times New Roman"/>
                          <a:cs typeface="Times New Roman"/>
                        </a:rPr>
                        <a:t> </a:t>
                      </a:r>
                      <a:r>
                        <a:rPr sz="1200" spc="-10" dirty="0">
                          <a:latin typeface="Times New Roman"/>
                          <a:cs typeface="Times New Roman"/>
                        </a:rPr>
                        <a:t>during</a:t>
                      </a:r>
                      <a:endParaRPr sz="1200">
                        <a:latin typeface="Times New Roman"/>
                        <a:cs typeface="Times New Roman"/>
                      </a:endParaRPr>
                    </a:p>
                    <a:p>
                      <a:pPr marL="66675">
                        <a:lnSpc>
                          <a:spcPct val="100000"/>
                        </a:lnSpc>
                        <a:spcBef>
                          <a:spcPts val="620"/>
                        </a:spcBef>
                      </a:pPr>
                      <a:r>
                        <a:rPr sz="1200" dirty="0">
                          <a:latin typeface="Times New Roman"/>
                          <a:cs typeface="Times New Roman"/>
                        </a:rPr>
                        <a:t>peak</a:t>
                      </a:r>
                      <a:r>
                        <a:rPr sz="1200" spc="-30" dirty="0">
                          <a:latin typeface="Times New Roman"/>
                          <a:cs typeface="Times New Roman"/>
                        </a:rPr>
                        <a:t> </a:t>
                      </a:r>
                      <a:r>
                        <a:rPr sz="1200" spc="-10" dirty="0">
                          <a:latin typeface="Times New Roman"/>
                          <a:cs typeface="Times New Roman"/>
                        </a:rPr>
                        <a:t>usage.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Optimized</a:t>
                      </a:r>
                      <a:r>
                        <a:rPr sz="1200" spc="450" dirty="0">
                          <a:latin typeface="Times New Roman"/>
                          <a:cs typeface="Times New Roman"/>
                        </a:rPr>
                        <a:t> </a:t>
                      </a:r>
                      <a:r>
                        <a:rPr sz="1200" dirty="0">
                          <a:latin typeface="Times New Roman"/>
                          <a:cs typeface="Times New Roman"/>
                        </a:rPr>
                        <a:t>API</a:t>
                      </a:r>
                      <a:r>
                        <a:rPr sz="1200" spc="434" dirty="0">
                          <a:latin typeface="Times New Roman"/>
                          <a:cs typeface="Times New Roman"/>
                        </a:rPr>
                        <a:t> </a:t>
                      </a:r>
                      <a:r>
                        <a:rPr sz="1200" dirty="0">
                          <a:latin typeface="Times New Roman"/>
                          <a:cs typeface="Times New Roman"/>
                        </a:rPr>
                        <a:t>calls</a:t>
                      </a:r>
                      <a:r>
                        <a:rPr sz="1200" spc="455"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67945">
                        <a:lnSpc>
                          <a:spcPct val="100000"/>
                        </a:lnSpc>
                        <a:spcBef>
                          <a:spcPts val="620"/>
                        </a:spcBef>
                      </a:pPr>
                      <a:r>
                        <a:rPr sz="1200" spc="-10" dirty="0">
                          <a:latin typeface="Times New Roman"/>
                          <a:cs typeface="Times New Roman"/>
                        </a:rPr>
                        <a:t>caching.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ct val="100000"/>
                        </a:lnSpc>
                        <a:spcBef>
                          <a:spcPts val="969"/>
                        </a:spcBef>
                      </a:pPr>
                      <a:r>
                        <a:rPr sz="1200" dirty="0">
                          <a:latin typeface="Times New Roman"/>
                          <a:cs typeface="Times New Roman"/>
                        </a:rPr>
                        <a:t>Error</a:t>
                      </a:r>
                      <a:r>
                        <a:rPr sz="1200" spc="-45" dirty="0">
                          <a:latin typeface="Times New Roman"/>
                          <a:cs typeface="Times New Roman"/>
                        </a:rPr>
                        <a:t> </a:t>
                      </a:r>
                      <a:r>
                        <a:rPr sz="1200" spc="-10" dirty="0">
                          <a:latin typeface="Times New Roman"/>
                          <a:cs typeface="Times New Roman"/>
                        </a:rPr>
                        <a:t>Reporting</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A few</a:t>
                      </a:r>
                      <a:r>
                        <a:rPr sz="1200" spc="5" dirty="0">
                          <a:latin typeface="Times New Roman"/>
                          <a:cs typeface="Times New Roman"/>
                        </a:rPr>
                        <a:t> </a:t>
                      </a:r>
                      <a:r>
                        <a:rPr sz="1200" dirty="0">
                          <a:latin typeface="Times New Roman"/>
                          <a:cs typeface="Times New Roman"/>
                        </a:rPr>
                        <a:t>users</a:t>
                      </a:r>
                      <a:r>
                        <a:rPr sz="1200" spc="5" dirty="0">
                          <a:latin typeface="Times New Roman"/>
                          <a:cs typeface="Times New Roman"/>
                        </a:rPr>
                        <a:t> </a:t>
                      </a:r>
                      <a:r>
                        <a:rPr sz="1200" dirty="0">
                          <a:latin typeface="Times New Roman"/>
                          <a:cs typeface="Times New Roman"/>
                        </a:rPr>
                        <a:t>reported</a:t>
                      </a:r>
                      <a:r>
                        <a:rPr sz="1200" spc="5" dirty="0">
                          <a:latin typeface="Times New Roman"/>
                          <a:cs typeface="Times New Roman"/>
                        </a:rPr>
                        <a:t> </a:t>
                      </a:r>
                      <a:r>
                        <a:rPr sz="1200" dirty="0">
                          <a:latin typeface="Times New Roman"/>
                          <a:cs typeface="Times New Roman"/>
                        </a:rPr>
                        <a:t>errors when</a:t>
                      </a:r>
                      <a:r>
                        <a:rPr sz="1200" spc="5" dirty="0">
                          <a:latin typeface="Times New Roman"/>
                          <a:cs typeface="Times New Roman"/>
                        </a:rPr>
                        <a:t> </a:t>
                      </a:r>
                      <a:r>
                        <a:rPr sz="1200" dirty="0">
                          <a:latin typeface="Times New Roman"/>
                          <a:cs typeface="Times New Roman"/>
                        </a:rPr>
                        <a:t>fetching</a:t>
                      </a:r>
                      <a:r>
                        <a:rPr sz="1200" spc="5" dirty="0">
                          <a:latin typeface="Times New Roman"/>
                          <a:cs typeface="Times New Roman"/>
                        </a:rPr>
                        <a:t> </a:t>
                      </a:r>
                      <a:r>
                        <a:rPr sz="1200" spc="-10" dirty="0">
                          <a:latin typeface="Times New Roman"/>
                          <a:cs typeface="Times New Roman"/>
                        </a:rPr>
                        <a:t>quotes.</a:t>
                      </a:r>
                      <a:endParaRPr sz="1200">
                        <a:latin typeface="Times New Roman"/>
                        <a:cs typeface="Times New Roman"/>
                      </a:endParaRPr>
                    </a:p>
                    <a:p>
                      <a:pPr marL="66675">
                        <a:lnSpc>
                          <a:spcPct val="100000"/>
                        </a:lnSpc>
                        <a:spcBef>
                          <a:spcPts val="625"/>
                        </a:spcBef>
                      </a:pP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Investigated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fixed</a:t>
                      </a:r>
                      <a:r>
                        <a:rPr sz="1200" spc="-25" dirty="0">
                          <a:latin typeface="Times New Roman"/>
                          <a:cs typeface="Times New Roman"/>
                        </a:rPr>
                        <a:t> </a:t>
                      </a:r>
                      <a:r>
                        <a:rPr sz="1200" spc="-10" dirty="0">
                          <a:latin typeface="Times New Roman"/>
                          <a:cs typeface="Times New Roman"/>
                        </a:rPr>
                        <a:t>bugs.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tabLst>
                          <a:tab pos="1015365" algn="l"/>
                          <a:tab pos="1440815" algn="l"/>
                        </a:tabLst>
                      </a:pPr>
                      <a:r>
                        <a:rPr sz="1200" spc="-10" dirty="0">
                          <a:latin typeface="Times New Roman"/>
                          <a:cs typeface="Times New Roman"/>
                        </a:rPr>
                        <a:t>Investigated</a:t>
                      </a:r>
                      <a:r>
                        <a:rPr sz="1200" dirty="0">
                          <a:latin typeface="Times New Roman"/>
                          <a:cs typeface="Times New Roman"/>
                        </a:rPr>
                        <a:t>	</a:t>
                      </a:r>
                      <a:r>
                        <a:rPr sz="1200" spc="-25" dirty="0">
                          <a:latin typeface="Times New Roman"/>
                          <a:cs typeface="Times New Roman"/>
                        </a:rPr>
                        <a:t>and</a:t>
                      </a:r>
                      <a:r>
                        <a:rPr sz="1200" dirty="0">
                          <a:latin typeface="Times New Roman"/>
                          <a:cs typeface="Times New Roman"/>
                        </a:rPr>
                        <a:t>	</a:t>
                      </a:r>
                      <a:r>
                        <a:rPr sz="1200" spc="-10" dirty="0">
                          <a:latin typeface="Times New Roman"/>
                          <a:cs typeface="Times New Roman"/>
                        </a:rPr>
                        <a:t>fixed</a:t>
                      </a:r>
                      <a:endParaRPr sz="1200">
                        <a:latin typeface="Times New Roman"/>
                        <a:cs typeface="Times New Roman"/>
                      </a:endParaRPr>
                    </a:p>
                    <a:p>
                      <a:pPr marL="67945">
                        <a:lnSpc>
                          <a:spcPct val="100000"/>
                        </a:lnSpc>
                        <a:spcBef>
                          <a:spcPts val="625"/>
                        </a:spcBef>
                      </a:pPr>
                      <a:r>
                        <a:rPr sz="1200" spc="-10" dirty="0">
                          <a:latin typeface="Times New Roman"/>
                          <a:cs typeface="Times New Roman"/>
                        </a:rPr>
                        <a:t>bugs.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8834">
                <a:tc>
                  <a:txBody>
                    <a:bodyPr/>
                    <a:lstStyle/>
                    <a:p>
                      <a:pPr marL="67945">
                        <a:lnSpc>
                          <a:spcPct val="100000"/>
                        </a:lnSpc>
                        <a:spcBef>
                          <a:spcPts val="969"/>
                        </a:spcBef>
                      </a:pPr>
                      <a:r>
                        <a:rPr sz="1200" dirty="0">
                          <a:latin typeface="Times New Roman"/>
                          <a:cs typeface="Times New Roman"/>
                        </a:rPr>
                        <a:t>Overall</a:t>
                      </a:r>
                      <a:r>
                        <a:rPr sz="1200" spc="-65" dirty="0">
                          <a:latin typeface="Times New Roman"/>
                          <a:cs typeface="Times New Roman"/>
                        </a:rPr>
                        <a:t> </a:t>
                      </a:r>
                      <a:r>
                        <a:rPr sz="1200" spc="-10" dirty="0">
                          <a:latin typeface="Times New Roman"/>
                          <a:cs typeface="Times New Roman"/>
                        </a:rPr>
                        <a:t>Satisfaction</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dirty="0">
                          <a:latin typeface="Times New Roman"/>
                          <a:cs typeface="Times New Roman"/>
                        </a:rPr>
                        <a:t>Majority</a:t>
                      </a:r>
                      <a:r>
                        <a:rPr sz="1200" spc="10" dirty="0">
                          <a:latin typeface="Times New Roman"/>
                          <a:cs typeface="Times New Roman"/>
                        </a:rPr>
                        <a:t> </a:t>
                      </a:r>
                      <a:r>
                        <a:rPr sz="1200" dirty="0">
                          <a:latin typeface="Times New Roman"/>
                          <a:cs typeface="Times New Roman"/>
                        </a:rPr>
                        <a:t>rated</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app</a:t>
                      </a:r>
                      <a:r>
                        <a:rPr sz="1200" spc="10" dirty="0">
                          <a:latin typeface="Times New Roman"/>
                          <a:cs typeface="Times New Roman"/>
                        </a:rPr>
                        <a:t> </a:t>
                      </a:r>
                      <a:r>
                        <a:rPr sz="1200" dirty="0">
                          <a:latin typeface="Times New Roman"/>
                          <a:cs typeface="Times New Roman"/>
                        </a:rPr>
                        <a:t>positively,</a:t>
                      </a:r>
                      <a:r>
                        <a:rPr sz="1200" spc="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an</a:t>
                      </a:r>
                      <a:r>
                        <a:rPr sz="1200" spc="5" dirty="0">
                          <a:latin typeface="Times New Roman"/>
                          <a:cs typeface="Times New Roman"/>
                        </a:rPr>
                        <a:t> </a:t>
                      </a:r>
                      <a:r>
                        <a:rPr sz="1200" spc="-10" dirty="0">
                          <a:latin typeface="Times New Roman"/>
                          <a:cs typeface="Times New Roman"/>
                        </a:rPr>
                        <a:t>average</a:t>
                      </a:r>
                      <a:endParaRPr sz="1200">
                        <a:latin typeface="Times New Roman"/>
                        <a:cs typeface="Times New Roman"/>
                      </a:endParaRPr>
                    </a:p>
                    <a:p>
                      <a:pPr marL="66675">
                        <a:lnSpc>
                          <a:spcPct val="100000"/>
                        </a:lnSpc>
                        <a:spcBef>
                          <a:spcPts val="640"/>
                        </a:spcBef>
                      </a:pPr>
                      <a:r>
                        <a:rPr sz="1200" dirty="0">
                          <a:latin typeface="Times New Roman"/>
                          <a:cs typeface="Times New Roman"/>
                        </a:rPr>
                        <a:t>score</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20" dirty="0">
                          <a:latin typeface="Times New Roman"/>
                          <a:cs typeface="Times New Roman"/>
                        </a:rPr>
                        <a:t>4.5.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Continue</a:t>
                      </a:r>
                      <a:r>
                        <a:rPr sz="1200" spc="465" dirty="0">
                          <a:latin typeface="Times New Roman"/>
                          <a:cs typeface="Times New Roman"/>
                        </a:rPr>
                        <a:t> </a:t>
                      </a:r>
                      <a:r>
                        <a:rPr sz="1200" dirty="0">
                          <a:latin typeface="Times New Roman"/>
                          <a:cs typeface="Times New Roman"/>
                        </a:rPr>
                        <a:t>to</a:t>
                      </a:r>
                      <a:r>
                        <a:rPr sz="1200" spc="475" dirty="0">
                          <a:latin typeface="Times New Roman"/>
                          <a:cs typeface="Times New Roman"/>
                        </a:rPr>
                        <a:t> </a:t>
                      </a:r>
                      <a:r>
                        <a:rPr sz="1200" dirty="0">
                          <a:latin typeface="Times New Roman"/>
                          <a:cs typeface="Times New Roman"/>
                        </a:rPr>
                        <a:t>monitor</a:t>
                      </a:r>
                      <a:r>
                        <a:rPr sz="1200" spc="475" dirty="0">
                          <a:latin typeface="Times New Roman"/>
                          <a:cs typeface="Times New Roman"/>
                        </a:rPr>
                        <a:t> </a:t>
                      </a:r>
                      <a:r>
                        <a:rPr sz="1200" spc="-25" dirty="0">
                          <a:latin typeface="Times New Roman"/>
                          <a:cs typeface="Times New Roman"/>
                        </a:rPr>
                        <a:t>and</a:t>
                      </a:r>
                      <a:endParaRPr sz="1200" dirty="0">
                        <a:latin typeface="Times New Roman"/>
                        <a:cs typeface="Times New Roman"/>
                      </a:endParaRPr>
                    </a:p>
                    <a:p>
                      <a:pPr marL="67945">
                        <a:lnSpc>
                          <a:spcPct val="100000"/>
                        </a:lnSpc>
                        <a:spcBef>
                          <a:spcPts val="640"/>
                        </a:spcBef>
                      </a:pPr>
                      <a:r>
                        <a:rPr sz="1200" spc="-10" dirty="0">
                          <a:latin typeface="Times New Roman"/>
                          <a:cs typeface="Times New Roman"/>
                        </a:rPr>
                        <a:t>improve.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5" name="object 5"/>
          <p:cNvSpPr txBox="1"/>
          <p:nvPr/>
        </p:nvSpPr>
        <p:spPr>
          <a:xfrm>
            <a:off x="2671191" y="7461628"/>
            <a:ext cx="2335530" cy="208279"/>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3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5.7.1:</a:t>
            </a:r>
            <a:r>
              <a:rPr sz="1200" u="sng" spc="-2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User</a:t>
            </a:r>
            <a:r>
              <a:rPr sz="1200" u="sng" spc="-2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Feedback</a:t>
            </a:r>
            <a:r>
              <a:rPr sz="1200" u="sng" spc="-2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Summary</a:t>
            </a:r>
            <a:endParaRPr sz="1200" dirty="0">
              <a:latin typeface="Times New Roman"/>
              <a:cs typeface="Times New Roman"/>
            </a:endParaRPr>
          </a:p>
        </p:txBody>
      </p:sp>
      <p:sp>
        <p:nvSpPr>
          <p:cNvPr id="6" name="object 6"/>
          <p:cNvSpPr txBox="1"/>
          <p:nvPr/>
        </p:nvSpPr>
        <p:spPr>
          <a:xfrm>
            <a:off x="528319" y="8041016"/>
            <a:ext cx="6644640" cy="2207260"/>
          </a:xfrm>
          <a:prstGeom prst="rect">
            <a:avLst/>
          </a:prstGeom>
        </p:spPr>
        <p:txBody>
          <a:bodyPr vert="horz" wrap="square" lIns="0" tIns="124460" rIns="0" bIns="0" rtlCol="0">
            <a:spAutoFit/>
          </a:bodyPr>
          <a:lstStyle/>
          <a:p>
            <a:pPr marL="12700">
              <a:lnSpc>
                <a:spcPct val="100000"/>
              </a:lnSpc>
              <a:spcBef>
                <a:spcPts val="980"/>
              </a:spcBef>
            </a:pPr>
            <a:r>
              <a:rPr sz="1400" b="1" dirty="0" smtClean="0">
                <a:latin typeface="Times New Roman"/>
                <a:cs typeface="Times New Roman"/>
              </a:rPr>
              <a:t>5.</a:t>
            </a:r>
            <a:r>
              <a:rPr lang="en-US" sz="1400" b="1" dirty="0" smtClean="0">
                <a:latin typeface="Times New Roman"/>
                <a:cs typeface="Times New Roman"/>
              </a:rPr>
              <a:t>6</a:t>
            </a:r>
            <a:r>
              <a:rPr sz="1400" b="1" spc="-25" dirty="0" smtClean="0">
                <a:latin typeface="Times New Roman"/>
                <a:cs typeface="Times New Roman"/>
              </a:rPr>
              <a:t> </a:t>
            </a:r>
            <a:r>
              <a:rPr sz="1400" b="1" dirty="0">
                <a:latin typeface="Times New Roman"/>
                <a:cs typeface="Times New Roman"/>
              </a:rPr>
              <a:t>Deployment</a:t>
            </a:r>
            <a:r>
              <a:rPr sz="1400" b="1" spc="-25" dirty="0">
                <a:latin typeface="Times New Roman"/>
                <a:cs typeface="Times New Roman"/>
              </a:rPr>
              <a:t> </a:t>
            </a:r>
            <a:r>
              <a:rPr sz="1400" b="1" dirty="0">
                <a:latin typeface="Times New Roman"/>
                <a:cs typeface="Times New Roman"/>
              </a:rPr>
              <a:t>and</a:t>
            </a:r>
            <a:r>
              <a:rPr sz="1400" b="1" spc="-25" dirty="0">
                <a:latin typeface="Times New Roman"/>
                <a:cs typeface="Times New Roman"/>
              </a:rPr>
              <a:t> </a:t>
            </a:r>
            <a:r>
              <a:rPr sz="1400" b="1" spc="-10" dirty="0">
                <a:latin typeface="Times New Roman"/>
                <a:cs typeface="Times New Roman"/>
              </a:rPr>
              <a:t>Maintenance</a:t>
            </a:r>
            <a:endParaRPr sz="1400" dirty="0">
              <a:latin typeface="Times New Roman"/>
              <a:cs typeface="Times New Roman"/>
            </a:endParaRPr>
          </a:p>
          <a:p>
            <a:pPr marL="12700">
              <a:lnSpc>
                <a:spcPct val="100000"/>
              </a:lnSpc>
              <a:spcBef>
                <a:spcPts val="755"/>
              </a:spcBef>
            </a:pPr>
            <a:r>
              <a:rPr sz="1200" b="1" dirty="0">
                <a:latin typeface="Times New Roman"/>
                <a:cs typeface="Times New Roman"/>
              </a:rPr>
              <a:t>Objective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deploy</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application</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ensure</a:t>
            </a:r>
            <a:r>
              <a:rPr sz="1200" spc="-30" dirty="0">
                <a:latin typeface="Times New Roman"/>
                <a:cs typeface="Times New Roman"/>
              </a:rPr>
              <a:t> </a:t>
            </a:r>
            <a:r>
              <a:rPr sz="1200" dirty="0">
                <a:latin typeface="Times New Roman"/>
                <a:cs typeface="Times New Roman"/>
              </a:rPr>
              <a:t>its</a:t>
            </a:r>
            <a:r>
              <a:rPr sz="1200" spc="-30" dirty="0">
                <a:latin typeface="Times New Roman"/>
                <a:cs typeface="Times New Roman"/>
              </a:rPr>
              <a:t> </a:t>
            </a:r>
            <a:r>
              <a:rPr sz="1200" dirty="0">
                <a:latin typeface="Times New Roman"/>
                <a:cs typeface="Times New Roman"/>
              </a:rPr>
              <a:t>ongoing</a:t>
            </a:r>
            <a:r>
              <a:rPr sz="1200" spc="-25" dirty="0">
                <a:latin typeface="Times New Roman"/>
                <a:cs typeface="Times New Roman"/>
              </a:rPr>
              <a:t> </a:t>
            </a:r>
            <a:r>
              <a:rPr sz="1200" spc="-10" dirty="0">
                <a:latin typeface="Times New Roman"/>
                <a:cs typeface="Times New Roman"/>
              </a:rPr>
              <a:t>functionality.</a:t>
            </a:r>
            <a:endParaRPr sz="1200" dirty="0">
              <a:latin typeface="Times New Roman"/>
              <a:cs typeface="Times New Roman"/>
            </a:endParaRPr>
          </a:p>
          <a:p>
            <a:pPr marL="12700">
              <a:lnSpc>
                <a:spcPct val="100000"/>
              </a:lnSpc>
              <a:spcBef>
                <a:spcPts val="620"/>
              </a:spcBef>
            </a:pPr>
            <a:r>
              <a:rPr sz="1200" b="1" spc="-10" dirty="0">
                <a:latin typeface="Times New Roman"/>
                <a:cs typeface="Times New Roman"/>
              </a:rPr>
              <a:t>Steps</a:t>
            </a:r>
            <a:r>
              <a:rPr sz="1200" spc="-10" dirty="0">
                <a:latin typeface="Times New Roman"/>
                <a:cs typeface="Times New Roman"/>
              </a:rPr>
              <a:t>:</a:t>
            </a:r>
            <a:endParaRPr sz="1200" dirty="0">
              <a:latin typeface="Times New Roman"/>
              <a:cs typeface="Times New Roman"/>
            </a:endParaRPr>
          </a:p>
          <a:p>
            <a:pPr marL="469900" indent="-228600">
              <a:lnSpc>
                <a:spcPct val="100000"/>
              </a:lnSpc>
              <a:spcBef>
                <a:spcPts val="640"/>
              </a:spcBef>
              <a:buFont typeface="Times New Roman"/>
              <a:buAutoNum type="arabicPeriod"/>
              <a:tabLst>
                <a:tab pos="469900" algn="l"/>
              </a:tabLst>
            </a:pPr>
            <a:r>
              <a:rPr sz="1200" b="1" dirty="0">
                <a:latin typeface="Times New Roman"/>
                <a:cs typeface="Times New Roman"/>
              </a:rPr>
              <a:t>Deployment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Launch</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app</a:t>
            </a:r>
            <a:r>
              <a:rPr sz="1200" spc="-2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relevant</a:t>
            </a:r>
            <a:r>
              <a:rPr sz="1200" spc="-25" dirty="0">
                <a:latin typeface="Times New Roman"/>
                <a:cs typeface="Times New Roman"/>
              </a:rPr>
              <a:t> </a:t>
            </a:r>
            <a:r>
              <a:rPr sz="1200" dirty="0">
                <a:latin typeface="Times New Roman"/>
                <a:cs typeface="Times New Roman"/>
              </a:rPr>
              <a:t>platforms</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dirty="0">
                <a:latin typeface="Times New Roman"/>
                <a:cs typeface="Times New Roman"/>
              </a:rPr>
              <a:t>GitHub,</a:t>
            </a:r>
            <a:r>
              <a:rPr sz="1200" spc="-30" dirty="0">
                <a:latin typeface="Times New Roman"/>
                <a:cs typeface="Times New Roman"/>
              </a:rPr>
              <a:t> </a:t>
            </a:r>
            <a:r>
              <a:rPr sz="1200" dirty="0">
                <a:latin typeface="Times New Roman"/>
                <a:cs typeface="Times New Roman"/>
              </a:rPr>
              <a:t>personal</a:t>
            </a:r>
            <a:r>
              <a:rPr sz="1200" spc="-25" dirty="0">
                <a:latin typeface="Times New Roman"/>
                <a:cs typeface="Times New Roman"/>
              </a:rPr>
              <a:t> </a:t>
            </a:r>
            <a:r>
              <a:rPr sz="1200" spc="-10" dirty="0">
                <a:latin typeface="Times New Roman"/>
                <a:cs typeface="Times New Roman"/>
              </a:rPr>
              <a:t>website).</a:t>
            </a:r>
            <a:endParaRPr sz="1200" dirty="0">
              <a:latin typeface="Times New Roman"/>
              <a:cs typeface="Times New Roman"/>
            </a:endParaRPr>
          </a:p>
          <a:p>
            <a:pPr marL="469900" marR="5080" indent="-228600">
              <a:lnSpc>
                <a:spcPts val="2080"/>
              </a:lnSpc>
              <a:spcBef>
                <a:spcPts val="160"/>
              </a:spcBef>
              <a:buFont typeface="Times New Roman"/>
              <a:buAutoNum type="arabicPeriod"/>
              <a:tabLst>
                <a:tab pos="469900" algn="l"/>
              </a:tabLst>
            </a:pPr>
            <a:r>
              <a:rPr sz="1200" b="1" dirty="0">
                <a:latin typeface="Times New Roman"/>
                <a:cs typeface="Times New Roman"/>
              </a:rPr>
              <a:t>User</a:t>
            </a:r>
            <a:r>
              <a:rPr sz="1200" b="1" spc="110" dirty="0">
                <a:latin typeface="Times New Roman"/>
                <a:cs typeface="Times New Roman"/>
              </a:rPr>
              <a:t> </a:t>
            </a:r>
            <a:r>
              <a:rPr sz="1200" b="1" dirty="0">
                <a:latin typeface="Times New Roman"/>
                <a:cs typeface="Times New Roman"/>
              </a:rPr>
              <a:t>Training</a:t>
            </a:r>
            <a:r>
              <a:rPr sz="1200" dirty="0">
                <a:latin typeface="Times New Roman"/>
                <a:cs typeface="Times New Roman"/>
              </a:rPr>
              <a:t>:</a:t>
            </a:r>
            <a:r>
              <a:rPr sz="1200" spc="120" dirty="0">
                <a:latin typeface="Times New Roman"/>
                <a:cs typeface="Times New Roman"/>
              </a:rPr>
              <a:t> </a:t>
            </a:r>
            <a:r>
              <a:rPr sz="1200" dirty="0">
                <a:latin typeface="Times New Roman"/>
                <a:cs typeface="Times New Roman"/>
              </a:rPr>
              <a:t>Provide</a:t>
            </a:r>
            <a:r>
              <a:rPr sz="1200" spc="110" dirty="0">
                <a:latin typeface="Times New Roman"/>
                <a:cs typeface="Times New Roman"/>
              </a:rPr>
              <a:t> </a:t>
            </a:r>
            <a:r>
              <a:rPr sz="1200" dirty="0">
                <a:latin typeface="Times New Roman"/>
                <a:cs typeface="Times New Roman"/>
              </a:rPr>
              <a:t>documentation</a:t>
            </a:r>
            <a:r>
              <a:rPr sz="1200" spc="120"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dirty="0">
                <a:latin typeface="Times New Roman"/>
                <a:cs typeface="Times New Roman"/>
              </a:rPr>
              <a:t>tutorials</a:t>
            </a:r>
            <a:r>
              <a:rPr sz="1200" spc="120" dirty="0">
                <a:latin typeface="Times New Roman"/>
                <a:cs typeface="Times New Roman"/>
              </a:rPr>
              <a:t> </a:t>
            </a:r>
            <a:r>
              <a:rPr sz="1200" dirty="0">
                <a:latin typeface="Times New Roman"/>
                <a:cs typeface="Times New Roman"/>
              </a:rPr>
              <a:t>to</a:t>
            </a:r>
            <a:r>
              <a:rPr sz="1200" spc="120" dirty="0">
                <a:latin typeface="Times New Roman"/>
                <a:cs typeface="Times New Roman"/>
              </a:rPr>
              <a:t> </a:t>
            </a:r>
            <a:r>
              <a:rPr sz="1200" dirty="0">
                <a:latin typeface="Times New Roman"/>
                <a:cs typeface="Times New Roman"/>
              </a:rPr>
              <a:t>help</a:t>
            </a:r>
            <a:r>
              <a:rPr sz="1200" spc="125" dirty="0">
                <a:latin typeface="Times New Roman"/>
                <a:cs typeface="Times New Roman"/>
              </a:rPr>
              <a:t> </a:t>
            </a:r>
            <a:r>
              <a:rPr sz="1200" dirty="0">
                <a:latin typeface="Times New Roman"/>
                <a:cs typeface="Times New Roman"/>
              </a:rPr>
              <a:t>users</a:t>
            </a:r>
            <a:r>
              <a:rPr sz="1200" spc="114" dirty="0">
                <a:latin typeface="Times New Roman"/>
                <a:cs typeface="Times New Roman"/>
              </a:rPr>
              <a:t> </a:t>
            </a:r>
            <a:r>
              <a:rPr sz="1200" dirty="0">
                <a:latin typeface="Times New Roman"/>
                <a:cs typeface="Times New Roman"/>
              </a:rPr>
              <a:t>understand</a:t>
            </a:r>
            <a:r>
              <a:rPr sz="1200" spc="114" dirty="0">
                <a:latin typeface="Times New Roman"/>
                <a:cs typeface="Times New Roman"/>
              </a:rPr>
              <a:t> </a:t>
            </a:r>
            <a:r>
              <a:rPr sz="1200" dirty="0">
                <a:latin typeface="Times New Roman"/>
                <a:cs typeface="Times New Roman"/>
              </a:rPr>
              <a:t>how</a:t>
            </a:r>
            <a:r>
              <a:rPr sz="1200" spc="120" dirty="0">
                <a:latin typeface="Times New Roman"/>
                <a:cs typeface="Times New Roman"/>
              </a:rPr>
              <a:t> </a:t>
            </a:r>
            <a:r>
              <a:rPr sz="1200" dirty="0">
                <a:latin typeface="Times New Roman"/>
                <a:cs typeface="Times New Roman"/>
              </a:rPr>
              <a:t>to</a:t>
            </a:r>
            <a:r>
              <a:rPr sz="1200" spc="120" dirty="0">
                <a:latin typeface="Times New Roman"/>
                <a:cs typeface="Times New Roman"/>
              </a:rPr>
              <a:t> </a:t>
            </a:r>
            <a:r>
              <a:rPr sz="1200" dirty="0">
                <a:latin typeface="Times New Roman"/>
                <a:cs typeface="Times New Roman"/>
              </a:rPr>
              <a:t>use</a:t>
            </a:r>
            <a:r>
              <a:rPr sz="1200" spc="110"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spc="-25" dirty="0">
                <a:latin typeface="Times New Roman"/>
                <a:cs typeface="Times New Roman"/>
              </a:rPr>
              <a:t>app </a:t>
            </a:r>
            <a:r>
              <a:rPr sz="1200" spc="-10" dirty="0">
                <a:latin typeface="Times New Roman"/>
                <a:cs typeface="Times New Roman"/>
              </a:rPr>
              <a:t>effectively.</a:t>
            </a:r>
            <a:endParaRPr sz="1200" dirty="0">
              <a:latin typeface="Times New Roman"/>
              <a:cs typeface="Times New Roman"/>
            </a:endParaRPr>
          </a:p>
          <a:p>
            <a:pPr marL="469900" indent="-228600">
              <a:lnSpc>
                <a:spcPct val="100000"/>
              </a:lnSpc>
              <a:spcBef>
                <a:spcPts val="445"/>
              </a:spcBef>
              <a:buFont typeface="Times New Roman"/>
              <a:buAutoNum type="arabicPeriod"/>
              <a:tabLst>
                <a:tab pos="469900" algn="l"/>
              </a:tabLst>
            </a:pPr>
            <a:r>
              <a:rPr sz="1200" b="1" dirty="0">
                <a:latin typeface="Times New Roman"/>
                <a:cs typeface="Times New Roman"/>
              </a:rPr>
              <a:t>Ongoing</a:t>
            </a:r>
            <a:r>
              <a:rPr sz="1200" b="1" spc="80" dirty="0">
                <a:latin typeface="Times New Roman"/>
                <a:cs typeface="Times New Roman"/>
              </a:rPr>
              <a:t> </a:t>
            </a:r>
            <a:r>
              <a:rPr sz="1200" b="1" dirty="0">
                <a:latin typeface="Times New Roman"/>
                <a:cs typeface="Times New Roman"/>
              </a:rPr>
              <a:t>Maintenance</a:t>
            </a:r>
            <a:r>
              <a:rPr sz="1200" dirty="0">
                <a:latin typeface="Times New Roman"/>
                <a:cs typeface="Times New Roman"/>
              </a:rPr>
              <a:t>:</a:t>
            </a:r>
            <a:r>
              <a:rPr sz="1200" spc="80" dirty="0">
                <a:latin typeface="Times New Roman"/>
                <a:cs typeface="Times New Roman"/>
              </a:rPr>
              <a:t> </a:t>
            </a:r>
            <a:r>
              <a:rPr sz="1200" dirty="0">
                <a:latin typeface="Times New Roman"/>
                <a:cs typeface="Times New Roman"/>
              </a:rPr>
              <a:t>Regularly</a:t>
            </a:r>
            <a:r>
              <a:rPr sz="1200" spc="85" dirty="0">
                <a:latin typeface="Times New Roman"/>
                <a:cs typeface="Times New Roman"/>
              </a:rPr>
              <a:t> </a:t>
            </a:r>
            <a:r>
              <a:rPr sz="1200" dirty="0">
                <a:latin typeface="Times New Roman"/>
                <a:cs typeface="Times New Roman"/>
              </a:rPr>
              <a:t>update</a:t>
            </a:r>
            <a:r>
              <a:rPr sz="1200" spc="90"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app</a:t>
            </a:r>
            <a:r>
              <a:rPr sz="1200" spc="85" dirty="0">
                <a:latin typeface="Times New Roman"/>
                <a:cs typeface="Times New Roman"/>
              </a:rPr>
              <a:t> </a:t>
            </a:r>
            <a:r>
              <a:rPr sz="1200" dirty="0">
                <a:latin typeface="Times New Roman"/>
                <a:cs typeface="Times New Roman"/>
              </a:rPr>
              <a:t>to</a:t>
            </a:r>
            <a:r>
              <a:rPr sz="1200" spc="80" dirty="0">
                <a:latin typeface="Times New Roman"/>
                <a:cs typeface="Times New Roman"/>
              </a:rPr>
              <a:t> </a:t>
            </a:r>
            <a:r>
              <a:rPr sz="1200" dirty="0">
                <a:latin typeface="Times New Roman"/>
                <a:cs typeface="Times New Roman"/>
              </a:rPr>
              <a:t>fix</a:t>
            </a:r>
            <a:r>
              <a:rPr sz="1200" spc="85" dirty="0">
                <a:latin typeface="Times New Roman"/>
                <a:cs typeface="Times New Roman"/>
              </a:rPr>
              <a:t> </a:t>
            </a:r>
            <a:r>
              <a:rPr sz="1200" dirty="0">
                <a:latin typeface="Times New Roman"/>
                <a:cs typeface="Times New Roman"/>
              </a:rPr>
              <a:t>bugs,</a:t>
            </a:r>
            <a:r>
              <a:rPr sz="1200" spc="80" dirty="0">
                <a:latin typeface="Times New Roman"/>
                <a:cs typeface="Times New Roman"/>
              </a:rPr>
              <a:t> </a:t>
            </a:r>
            <a:r>
              <a:rPr sz="1200" dirty="0">
                <a:latin typeface="Times New Roman"/>
                <a:cs typeface="Times New Roman"/>
              </a:rPr>
              <a:t>improve</a:t>
            </a:r>
            <a:r>
              <a:rPr sz="1200" spc="80" dirty="0">
                <a:latin typeface="Times New Roman"/>
                <a:cs typeface="Times New Roman"/>
              </a:rPr>
              <a:t> </a:t>
            </a:r>
            <a:r>
              <a:rPr sz="1200" dirty="0">
                <a:latin typeface="Times New Roman"/>
                <a:cs typeface="Times New Roman"/>
              </a:rPr>
              <a:t>performance,</a:t>
            </a:r>
            <a:r>
              <a:rPr sz="1200" spc="95"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add</a:t>
            </a:r>
            <a:r>
              <a:rPr sz="1200" spc="80" dirty="0">
                <a:latin typeface="Times New Roman"/>
                <a:cs typeface="Times New Roman"/>
              </a:rPr>
              <a:t> </a:t>
            </a:r>
            <a:r>
              <a:rPr sz="1200" spc="-25" dirty="0">
                <a:latin typeface="Times New Roman"/>
                <a:cs typeface="Times New Roman"/>
              </a:rPr>
              <a:t>new</a:t>
            </a:r>
            <a:endParaRPr sz="1200" dirty="0">
              <a:latin typeface="Times New Roman"/>
              <a:cs typeface="Times New Roman"/>
            </a:endParaRPr>
          </a:p>
          <a:p>
            <a:pPr marL="469900">
              <a:lnSpc>
                <a:spcPct val="100000"/>
              </a:lnSpc>
              <a:spcBef>
                <a:spcPts val="635"/>
              </a:spcBef>
            </a:pPr>
            <a:r>
              <a:rPr sz="1200" dirty="0">
                <a:latin typeface="Times New Roman"/>
                <a:cs typeface="Times New Roman"/>
              </a:rPr>
              <a:t>features</a:t>
            </a:r>
            <a:r>
              <a:rPr sz="1200" spc="-2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feedback.</a:t>
            </a:r>
            <a:endParaRPr sz="12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25</a:t>
            </a:fld>
            <a:r>
              <a:rPr spc="-20" dirty="0"/>
              <a:t>]</a:t>
            </a:r>
          </a:p>
        </p:txBody>
      </p:sp>
      <p:graphicFrame>
        <p:nvGraphicFramePr>
          <p:cNvPr id="2" name="object 2"/>
          <p:cNvGraphicFramePr>
            <a:graphicFrameLocks noGrp="1"/>
          </p:cNvGraphicFramePr>
          <p:nvPr/>
        </p:nvGraphicFramePr>
        <p:xfrm>
          <a:off x="541019" y="396239"/>
          <a:ext cx="6618604" cy="2395220"/>
        </p:xfrm>
        <a:graphic>
          <a:graphicData uri="http://schemas.openxmlformats.org/drawingml/2006/table">
            <a:tbl>
              <a:tblPr firstRow="1" bandRow="1">
                <a:tableStyleId>{2D5ABB26-0587-4C30-8999-92F81FD0307C}</a:tableStyleId>
              </a:tblPr>
              <a:tblGrid>
                <a:gridCol w="1525905"/>
                <a:gridCol w="2210435"/>
                <a:gridCol w="1513839"/>
                <a:gridCol w="1368425"/>
              </a:tblGrid>
              <a:tr h="269240">
                <a:tc>
                  <a:txBody>
                    <a:bodyPr/>
                    <a:lstStyle/>
                    <a:p>
                      <a:pPr marL="67945">
                        <a:lnSpc>
                          <a:spcPts val="1380"/>
                        </a:lnSpc>
                      </a:pPr>
                      <a:r>
                        <a:rPr sz="1200" b="1" spc="-20" dirty="0">
                          <a:latin typeface="Times New Roman"/>
                          <a:cs typeface="Times New Roman"/>
                        </a:rPr>
                        <a:t>Task</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b="1" spc="-10" dirty="0">
                          <a:latin typeface="Times New Roman"/>
                          <a:cs typeface="Times New Roman"/>
                        </a:rPr>
                        <a:t>Responsible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b="1" spc="-10" dirty="0">
                          <a:latin typeface="Times New Roman"/>
                          <a:cs typeface="Times New Roman"/>
                        </a:rPr>
                        <a:t>Deadline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ts val="1380"/>
                        </a:lnSpc>
                      </a:pPr>
                      <a:r>
                        <a:rPr sz="1200" dirty="0">
                          <a:latin typeface="Times New Roman"/>
                          <a:cs typeface="Times New Roman"/>
                        </a:rPr>
                        <a:t>Final</a:t>
                      </a:r>
                      <a:r>
                        <a:rPr sz="1200" spc="-30"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tabLst>
                          <a:tab pos="788670" algn="l"/>
                          <a:tab pos="1273175" algn="l"/>
                          <a:tab pos="1750060" algn="l"/>
                        </a:tabLst>
                      </a:pPr>
                      <a:r>
                        <a:rPr sz="1200" spc="-10" dirty="0">
                          <a:latin typeface="Times New Roman"/>
                          <a:cs typeface="Times New Roman"/>
                        </a:rPr>
                        <a:t>Conduct</a:t>
                      </a:r>
                      <a:r>
                        <a:rPr sz="1200" dirty="0">
                          <a:latin typeface="Times New Roman"/>
                          <a:cs typeface="Times New Roman"/>
                        </a:rPr>
                        <a:t>	</a:t>
                      </a:r>
                      <a:r>
                        <a:rPr sz="1200" spc="-20" dirty="0">
                          <a:latin typeface="Times New Roman"/>
                          <a:cs typeface="Times New Roman"/>
                        </a:rPr>
                        <a:t>final</a:t>
                      </a:r>
                      <a:r>
                        <a:rPr sz="1200" dirty="0">
                          <a:latin typeface="Times New Roman"/>
                          <a:cs typeface="Times New Roman"/>
                        </a:rPr>
                        <a:t>	</a:t>
                      </a:r>
                      <a:r>
                        <a:rPr sz="1200" spc="-10" dirty="0">
                          <a:latin typeface="Times New Roman"/>
                          <a:cs typeface="Times New Roman"/>
                        </a:rPr>
                        <a:t>tests</a:t>
                      </a:r>
                      <a:r>
                        <a:rPr sz="1200" dirty="0">
                          <a:latin typeface="Times New Roman"/>
                          <a:cs typeface="Times New Roman"/>
                        </a:rPr>
                        <a:t>	</a:t>
                      </a:r>
                      <a:r>
                        <a:rPr sz="1200" spc="-10" dirty="0">
                          <a:latin typeface="Times New Roman"/>
                          <a:cs typeface="Times New Roman"/>
                        </a:rPr>
                        <a:t>before</a:t>
                      </a:r>
                      <a:endParaRPr sz="1200">
                        <a:latin typeface="Times New Roman"/>
                        <a:cs typeface="Times New Roman"/>
                      </a:endParaRPr>
                    </a:p>
                    <a:p>
                      <a:pPr marL="67945">
                        <a:lnSpc>
                          <a:spcPct val="100000"/>
                        </a:lnSpc>
                        <a:spcBef>
                          <a:spcPts val="625"/>
                        </a:spcBef>
                      </a:pPr>
                      <a:r>
                        <a:rPr sz="1200" spc="-10" dirty="0">
                          <a:latin typeface="Times New Roman"/>
                          <a:cs typeface="Times New Roman"/>
                        </a:rPr>
                        <a:t>deployment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spc="-10" dirty="0">
                          <a:latin typeface="Times New Roman"/>
                          <a:cs typeface="Times New Roman"/>
                        </a:rPr>
                        <a:t>Development</a:t>
                      </a:r>
                      <a:r>
                        <a:rPr sz="1200" spc="25" dirty="0">
                          <a:latin typeface="Times New Roman"/>
                          <a:cs typeface="Times New Roman"/>
                        </a:rPr>
                        <a:t> </a:t>
                      </a:r>
                      <a:r>
                        <a:rPr sz="1200" spc="-20" dirty="0">
                          <a:latin typeface="Times New Roman"/>
                          <a:cs typeface="Times New Roman"/>
                        </a:rPr>
                        <a:t>Team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tabLst>
                          <a:tab pos="365125" algn="l"/>
                          <a:tab pos="906144" algn="l"/>
                        </a:tabLst>
                      </a:pPr>
                      <a:r>
                        <a:rPr sz="1200" spc="-50" dirty="0">
                          <a:latin typeface="Times New Roman"/>
                          <a:cs typeface="Times New Roman"/>
                        </a:rPr>
                        <a:t>1</a:t>
                      </a:r>
                      <a:r>
                        <a:rPr sz="1200" dirty="0">
                          <a:latin typeface="Times New Roman"/>
                          <a:cs typeface="Times New Roman"/>
                        </a:rPr>
                        <a:t>	</a:t>
                      </a:r>
                      <a:r>
                        <a:rPr sz="1200" spc="-20" dirty="0">
                          <a:latin typeface="Times New Roman"/>
                          <a:cs typeface="Times New Roman"/>
                        </a:rPr>
                        <a:t>week</a:t>
                      </a:r>
                      <a:r>
                        <a:rPr sz="1200" dirty="0">
                          <a:latin typeface="Times New Roman"/>
                          <a:cs typeface="Times New Roman"/>
                        </a:rPr>
                        <a:t>	</a:t>
                      </a:r>
                      <a:r>
                        <a:rPr sz="1200" spc="-10" dirty="0">
                          <a:latin typeface="Times New Roman"/>
                          <a:cs typeface="Times New Roman"/>
                        </a:rPr>
                        <a:t>before</a:t>
                      </a:r>
                      <a:endParaRPr sz="1200">
                        <a:latin typeface="Times New Roman"/>
                        <a:cs typeface="Times New Roman"/>
                      </a:endParaRPr>
                    </a:p>
                    <a:p>
                      <a:pPr marL="68580">
                        <a:lnSpc>
                          <a:spcPct val="100000"/>
                        </a:lnSpc>
                        <a:spcBef>
                          <a:spcPts val="625"/>
                        </a:spcBef>
                      </a:pPr>
                      <a:r>
                        <a:rPr sz="1200" spc="-10" dirty="0">
                          <a:latin typeface="Times New Roman"/>
                          <a:cs typeface="Times New Roman"/>
                        </a:rPr>
                        <a:t>launch</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ts val="1380"/>
                        </a:lnSpc>
                      </a:pPr>
                      <a:r>
                        <a:rPr sz="1200" spc="-10" dirty="0">
                          <a:latin typeface="Times New Roman"/>
                          <a:cs typeface="Times New Roman"/>
                        </a:rPr>
                        <a:t>Documentation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Create</a:t>
                      </a:r>
                      <a:r>
                        <a:rPr sz="1200" spc="-3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manuals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20" dirty="0">
                          <a:latin typeface="Times New Roman"/>
                          <a:cs typeface="Times New Roman"/>
                        </a:rPr>
                        <a:t>FAQs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spc="-10" dirty="0">
                          <a:latin typeface="Times New Roman"/>
                          <a:cs typeface="Times New Roman"/>
                        </a:rPr>
                        <a:t>Documentation</a:t>
                      </a:r>
                      <a:r>
                        <a:rPr sz="1200" spc="45" dirty="0">
                          <a:latin typeface="Times New Roman"/>
                          <a:cs typeface="Times New Roman"/>
                        </a:rPr>
                        <a:t> </a:t>
                      </a:r>
                      <a:r>
                        <a:rPr sz="1200" spc="-20" dirty="0">
                          <a:latin typeface="Times New Roman"/>
                          <a:cs typeface="Times New Roman"/>
                        </a:rPr>
                        <a:t>Team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tabLst>
                          <a:tab pos="365125" algn="l"/>
                          <a:tab pos="906144" algn="l"/>
                        </a:tabLst>
                      </a:pPr>
                      <a:r>
                        <a:rPr sz="1200" spc="-50" dirty="0">
                          <a:latin typeface="Times New Roman"/>
                          <a:cs typeface="Times New Roman"/>
                        </a:rPr>
                        <a:t>1</a:t>
                      </a:r>
                      <a:r>
                        <a:rPr sz="1200" dirty="0">
                          <a:latin typeface="Times New Roman"/>
                          <a:cs typeface="Times New Roman"/>
                        </a:rPr>
                        <a:t>	</a:t>
                      </a:r>
                      <a:r>
                        <a:rPr sz="1200" spc="-20" dirty="0">
                          <a:latin typeface="Times New Roman"/>
                          <a:cs typeface="Times New Roman"/>
                        </a:rPr>
                        <a:t>week</a:t>
                      </a:r>
                      <a:r>
                        <a:rPr sz="1200" dirty="0">
                          <a:latin typeface="Times New Roman"/>
                          <a:cs typeface="Times New Roman"/>
                        </a:rPr>
                        <a:t>	</a:t>
                      </a:r>
                      <a:r>
                        <a:rPr sz="1200" spc="-10" dirty="0">
                          <a:latin typeface="Times New Roman"/>
                          <a:cs typeface="Times New Roman"/>
                        </a:rPr>
                        <a:t>before</a:t>
                      </a:r>
                      <a:endParaRPr sz="1200">
                        <a:latin typeface="Times New Roman"/>
                        <a:cs typeface="Times New Roman"/>
                      </a:endParaRPr>
                    </a:p>
                    <a:p>
                      <a:pPr marL="68580">
                        <a:lnSpc>
                          <a:spcPct val="100000"/>
                        </a:lnSpc>
                        <a:spcBef>
                          <a:spcPts val="625"/>
                        </a:spcBef>
                      </a:pPr>
                      <a:r>
                        <a:rPr sz="1200" spc="-10" dirty="0">
                          <a:latin typeface="Times New Roman"/>
                          <a:cs typeface="Times New Roman"/>
                        </a:rPr>
                        <a:t>launch</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ts val="1380"/>
                        </a:lnSpc>
                      </a:pPr>
                      <a:r>
                        <a:rPr sz="1200" spc="-10" dirty="0">
                          <a:latin typeface="Times New Roman"/>
                          <a:cs typeface="Times New Roman"/>
                        </a:rPr>
                        <a:t>Launch</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tabLst>
                          <a:tab pos="659130" algn="l"/>
                          <a:tab pos="988060" algn="l"/>
                          <a:tab pos="1350645" algn="l"/>
                          <a:tab pos="1647825" algn="l"/>
                        </a:tabLst>
                      </a:pPr>
                      <a:r>
                        <a:rPr sz="1200" spc="-10" dirty="0">
                          <a:latin typeface="Times New Roman"/>
                          <a:cs typeface="Times New Roman"/>
                        </a:rPr>
                        <a:t>Deploy</a:t>
                      </a:r>
                      <a:r>
                        <a:rPr sz="1200" dirty="0">
                          <a:latin typeface="Times New Roman"/>
                          <a:cs typeface="Times New Roman"/>
                        </a:rPr>
                        <a:t>	</a:t>
                      </a:r>
                      <a:r>
                        <a:rPr sz="1200" spc="-25" dirty="0">
                          <a:latin typeface="Times New Roman"/>
                          <a:cs typeface="Times New Roman"/>
                        </a:rPr>
                        <a:t>the</a:t>
                      </a:r>
                      <a:r>
                        <a:rPr sz="1200" dirty="0">
                          <a:latin typeface="Times New Roman"/>
                          <a:cs typeface="Times New Roman"/>
                        </a:rPr>
                        <a:t>	</a:t>
                      </a:r>
                      <a:r>
                        <a:rPr sz="1200" spc="-25" dirty="0">
                          <a:latin typeface="Times New Roman"/>
                          <a:cs typeface="Times New Roman"/>
                        </a:rPr>
                        <a:t>app</a:t>
                      </a:r>
                      <a:r>
                        <a:rPr sz="1200" dirty="0">
                          <a:latin typeface="Times New Roman"/>
                          <a:cs typeface="Times New Roman"/>
                        </a:rPr>
                        <a:t>	</a:t>
                      </a:r>
                      <a:r>
                        <a:rPr sz="1200" spc="-25" dirty="0">
                          <a:latin typeface="Times New Roman"/>
                          <a:cs typeface="Times New Roman"/>
                        </a:rPr>
                        <a:t>on</a:t>
                      </a:r>
                      <a:r>
                        <a:rPr sz="1200" dirty="0">
                          <a:latin typeface="Times New Roman"/>
                          <a:cs typeface="Times New Roman"/>
                        </a:rPr>
                        <a:t>	</a:t>
                      </a:r>
                      <a:r>
                        <a:rPr sz="1200" spc="-10" dirty="0">
                          <a:latin typeface="Times New Roman"/>
                          <a:cs typeface="Times New Roman"/>
                        </a:rPr>
                        <a:t>selected</a:t>
                      </a:r>
                      <a:endParaRPr sz="1200">
                        <a:latin typeface="Times New Roman"/>
                        <a:cs typeface="Times New Roman"/>
                      </a:endParaRPr>
                    </a:p>
                    <a:p>
                      <a:pPr marL="67945">
                        <a:lnSpc>
                          <a:spcPct val="100000"/>
                        </a:lnSpc>
                        <a:spcBef>
                          <a:spcPts val="635"/>
                        </a:spcBef>
                      </a:pPr>
                      <a:r>
                        <a:rPr sz="1200" spc="-10" dirty="0">
                          <a:latin typeface="Times New Roman"/>
                          <a:cs typeface="Times New Roman"/>
                        </a:rPr>
                        <a:t>platforms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Project</a:t>
                      </a:r>
                      <a:r>
                        <a:rPr sz="1200" spc="-50" dirty="0">
                          <a:latin typeface="Times New Roman"/>
                          <a:cs typeface="Times New Roman"/>
                        </a:rPr>
                        <a:t> </a:t>
                      </a:r>
                      <a:r>
                        <a:rPr sz="1200" spc="-10" dirty="0">
                          <a:latin typeface="Times New Roman"/>
                          <a:cs typeface="Times New Roman"/>
                        </a:rPr>
                        <a:t>Manager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Launch</a:t>
                      </a:r>
                      <a:r>
                        <a:rPr sz="1200" spc="-50" dirty="0">
                          <a:latin typeface="Times New Roman"/>
                          <a:cs typeface="Times New Roman"/>
                        </a:rPr>
                        <a:t> </a:t>
                      </a:r>
                      <a:r>
                        <a:rPr sz="1200" spc="-25" dirty="0">
                          <a:latin typeface="Times New Roman"/>
                          <a:cs typeface="Times New Roman"/>
                        </a:rPr>
                        <a:t>Day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1495">
                <a:tc>
                  <a:txBody>
                    <a:bodyPr/>
                    <a:lstStyle/>
                    <a:p>
                      <a:pPr marL="67945">
                        <a:lnSpc>
                          <a:spcPts val="1380"/>
                        </a:lnSpc>
                      </a:pPr>
                      <a:r>
                        <a:rPr sz="1200" spc="-10" dirty="0">
                          <a:latin typeface="Times New Roman"/>
                          <a:cs typeface="Times New Roman"/>
                        </a:rPr>
                        <a:t>Post-</a:t>
                      </a:r>
                      <a:r>
                        <a:rPr sz="1200" dirty="0">
                          <a:latin typeface="Times New Roman"/>
                          <a:cs typeface="Times New Roman"/>
                        </a:rPr>
                        <a:t>Launch </a:t>
                      </a:r>
                      <a:r>
                        <a:rPr sz="1200" spc="-10" dirty="0">
                          <a:latin typeface="Times New Roman"/>
                          <a:cs typeface="Times New Roman"/>
                        </a:rPr>
                        <a:t>Support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Monitor</a:t>
                      </a:r>
                      <a:r>
                        <a:rPr sz="1200" spc="155" dirty="0">
                          <a:latin typeface="Times New Roman"/>
                          <a:cs typeface="Times New Roman"/>
                        </a:rPr>
                        <a:t>  </a:t>
                      </a:r>
                      <a:r>
                        <a:rPr sz="1200" dirty="0">
                          <a:latin typeface="Times New Roman"/>
                          <a:cs typeface="Times New Roman"/>
                        </a:rPr>
                        <a:t>app</a:t>
                      </a:r>
                      <a:r>
                        <a:rPr sz="1200" spc="160" dirty="0">
                          <a:latin typeface="Times New Roman"/>
                          <a:cs typeface="Times New Roman"/>
                        </a:rPr>
                        <a:t>  </a:t>
                      </a:r>
                      <a:r>
                        <a:rPr sz="1200" dirty="0">
                          <a:latin typeface="Times New Roman"/>
                          <a:cs typeface="Times New Roman"/>
                        </a:rPr>
                        <a:t>performance</a:t>
                      </a:r>
                      <a:r>
                        <a:rPr sz="1200" spc="155"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67945">
                        <a:lnSpc>
                          <a:spcPct val="100000"/>
                        </a:lnSpc>
                        <a:spcBef>
                          <a:spcPts val="635"/>
                        </a:spcBef>
                      </a:pP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feedback</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Support</a:t>
                      </a:r>
                      <a:r>
                        <a:rPr sz="1200" spc="-40" dirty="0">
                          <a:latin typeface="Times New Roman"/>
                          <a:cs typeface="Times New Roman"/>
                        </a:rPr>
                        <a:t> </a:t>
                      </a:r>
                      <a:r>
                        <a:rPr sz="1200" spc="-20" dirty="0">
                          <a:latin typeface="Times New Roman"/>
                          <a:cs typeface="Times New Roman"/>
                        </a:rPr>
                        <a:t>Team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spc="-10" dirty="0">
                          <a:latin typeface="Times New Roman"/>
                          <a:cs typeface="Times New Roman"/>
                        </a:rPr>
                        <a:t>Ongoing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3" name="object 3"/>
          <p:cNvSpPr txBox="1"/>
          <p:nvPr/>
        </p:nvSpPr>
        <p:spPr>
          <a:xfrm>
            <a:off x="544193" y="2832100"/>
            <a:ext cx="6647815" cy="3483005"/>
          </a:xfrm>
          <a:prstGeom prst="rect">
            <a:avLst/>
          </a:prstGeom>
        </p:spPr>
        <p:txBody>
          <a:bodyPr vert="horz" wrap="square" lIns="0" tIns="12700" rIns="0" bIns="0" rtlCol="0">
            <a:spAutoFit/>
          </a:bodyPr>
          <a:lstStyle/>
          <a:p>
            <a:pPr marL="12700">
              <a:lnSpc>
                <a:spcPct val="100000"/>
              </a:lnSpc>
              <a:spcBef>
                <a:spcPts val="100"/>
              </a:spcBef>
            </a:pPr>
            <a:r>
              <a:rPr sz="1200" u="sng" dirty="0">
                <a:uFill>
                  <a:solidFill>
                    <a:srgbClr val="000000"/>
                  </a:solidFill>
                </a:uFill>
                <a:latin typeface="Times New Roman"/>
                <a:cs typeface="Times New Roman"/>
              </a:rPr>
              <a:t>Table</a:t>
            </a:r>
            <a:r>
              <a:rPr sz="1200" u="sng" spc="-40"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5.8.1:</a:t>
            </a:r>
            <a:r>
              <a:rPr sz="1200" u="sng" spc="-3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Deployment</a:t>
            </a:r>
            <a:r>
              <a:rPr sz="1200" u="sng" spc="-30" dirty="0">
                <a:uFill>
                  <a:solidFill>
                    <a:srgbClr val="000000"/>
                  </a:solidFill>
                </a:uFill>
                <a:latin typeface="Times New Roman"/>
                <a:cs typeface="Times New Roman"/>
              </a:rPr>
              <a:t> </a:t>
            </a:r>
            <a:r>
              <a:rPr sz="1200" u="sng" spc="-20" dirty="0" smtClean="0">
                <a:uFill>
                  <a:solidFill>
                    <a:srgbClr val="000000"/>
                  </a:solidFill>
                </a:uFill>
                <a:latin typeface="Times New Roman"/>
                <a:cs typeface="Times New Roman"/>
              </a:rPr>
              <a:t>Plan</a:t>
            </a:r>
            <a:endParaRPr sz="1200" dirty="0">
              <a:latin typeface="Times New Roman"/>
              <a:cs typeface="Times New Roman"/>
            </a:endParaRPr>
          </a:p>
          <a:p>
            <a:pPr>
              <a:lnSpc>
                <a:spcPct val="100000"/>
              </a:lnSpc>
              <a:spcBef>
                <a:spcPts val="1315"/>
              </a:spcBef>
            </a:pPr>
            <a:endParaRPr sz="1200" dirty="0">
              <a:latin typeface="Times New Roman"/>
              <a:cs typeface="Times New Roman"/>
            </a:endParaRPr>
          </a:p>
          <a:p>
            <a:pPr marL="12700">
              <a:lnSpc>
                <a:spcPct val="100000"/>
              </a:lnSpc>
            </a:pPr>
            <a:r>
              <a:rPr sz="1400" b="1" dirty="0" smtClean="0">
                <a:latin typeface="Times New Roman"/>
                <a:cs typeface="Times New Roman"/>
              </a:rPr>
              <a:t>5.</a:t>
            </a:r>
            <a:r>
              <a:rPr lang="en-US" sz="1400" b="1" dirty="0" smtClean="0">
                <a:latin typeface="Times New Roman"/>
                <a:cs typeface="Times New Roman"/>
              </a:rPr>
              <a:t>7</a:t>
            </a:r>
            <a:r>
              <a:rPr sz="1400" b="1" spc="-15" dirty="0" smtClean="0">
                <a:latin typeface="Times New Roman"/>
                <a:cs typeface="Times New Roman"/>
              </a:rPr>
              <a:t> </a:t>
            </a:r>
            <a:r>
              <a:rPr sz="1400" b="1" dirty="0" smtClean="0">
                <a:latin typeface="Times New Roman"/>
                <a:cs typeface="Times New Roman"/>
              </a:rPr>
              <a:t>Evaluation</a:t>
            </a:r>
            <a:r>
              <a:rPr sz="1400" b="1" spc="-35" dirty="0" smtClean="0">
                <a:latin typeface="Times New Roman"/>
                <a:cs typeface="Times New Roman"/>
              </a:rPr>
              <a:t> </a:t>
            </a:r>
            <a:r>
              <a:rPr sz="1400" b="1" dirty="0" smtClean="0">
                <a:latin typeface="Times New Roman"/>
                <a:cs typeface="Times New Roman"/>
              </a:rPr>
              <a:t>of</a:t>
            </a:r>
            <a:r>
              <a:rPr sz="1400" b="1" spc="-20" dirty="0" smtClean="0">
                <a:latin typeface="Times New Roman"/>
                <a:cs typeface="Times New Roman"/>
              </a:rPr>
              <a:t> </a:t>
            </a:r>
            <a:r>
              <a:rPr sz="1400" b="1" spc="-10" dirty="0" smtClean="0">
                <a:latin typeface="Times New Roman"/>
                <a:cs typeface="Times New Roman"/>
              </a:rPr>
              <a:t>Effectiveness</a:t>
            </a:r>
            <a:endParaRPr lang="en-US" sz="1400" b="1" spc="-10" dirty="0" smtClean="0">
              <a:latin typeface="Times New Roman"/>
              <a:cs typeface="Times New Roman"/>
            </a:endParaRPr>
          </a:p>
          <a:p>
            <a:pPr marL="12700">
              <a:lnSpc>
                <a:spcPct val="100000"/>
              </a:lnSpc>
            </a:pPr>
            <a:endParaRPr sz="1400" dirty="0" smtClean="0">
              <a:latin typeface="Times New Roman"/>
              <a:cs typeface="Times New Roman"/>
            </a:endParaRPr>
          </a:p>
          <a:p>
            <a:r>
              <a:rPr lang="en-US" sz="1200" b="1" dirty="0" smtClean="0">
                <a:latin typeface="Times New Roman" pitchFamily="18" charset="0"/>
                <a:cs typeface="Times New Roman" pitchFamily="18" charset="0"/>
              </a:rPr>
              <a:t>Objective:</a:t>
            </a:r>
          </a:p>
          <a:p>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To assess the overall effectiveness of the website in meeting its intended goals.</a:t>
            </a: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Steps: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User Surveys:</a:t>
            </a:r>
            <a:r>
              <a:rPr lang="en-US" sz="1200" dirty="0" smtClean="0">
                <a:latin typeface="Times New Roman" pitchFamily="18" charset="0"/>
                <a:cs typeface="Times New Roman" pitchFamily="18" charset="0"/>
              </a:rPr>
              <a:t> Conduct surveys among registered members to collect quantitative and qualitative feedback on user satisfaction, usability, and feature usefulness.</a:t>
            </a:r>
          </a:p>
          <a:p>
            <a:pPr marL="171450" indent="-171450">
              <a:buFont typeface="Arial" pitchFamily="34" charset="0"/>
              <a:buChar char="•"/>
            </a:pPr>
            <a:r>
              <a:rPr lang="en-US" sz="1200" b="1" dirty="0" smtClean="0">
                <a:latin typeface="Times New Roman" pitchFamily="18" charset="0"/>
                <a:cs typeface="Times New Roman" pitchFamily="18" charset="0"/>
              </a:rPr>
              <a:t>Usage Analytics:</a:t>
            </a:r>
            <a:r>
              <a:rPr lang="en-US" sz="1200" dirty="0" smtClean="0">
                <a:latin typeface="Times New Roman" pitchFamily="18" charset="0"/>
                <a:cs typeface="Times New Roman" pitchFamily="18" charset="0"/>
              </a:rPr>
              <a:t> Implement analytics tools to monitor user behavior, including page visits, membership sign-ups, product purchases, and time spent on workout plan sections.</a:t>
            </a:r>
          </a:p>
          <a:p>
            <a:pPr marL="171450" indent="-171450">
              <a:buFont typeface="Arial" pitchFamily="34" charset="0"/>
              <a:buChar char="•"/>
            </a:pPr>
            <a:r>
              <a:rPr lang="en-US" sz="1200" b="1" dirty="0" smtClean="0">
                <a:latin typeface="Times New Roman" pitchFamily="18" charset="0"/>
                <a:cs typeface="Times New Roman" pitchFamily="18" charset="0"/>
              </a:rPr>
              <a:t>Performance Metrics:</a:t>
            </a:r>
            <a:r>
              <a:rPr lang="en-US" sz="1200" dirty="0" smtClean="0">
                <a:latin typeface="Times New Roman" pitchFamily="18" charset="0"/>
                <a:cs typeface="Times New Roman" pitchFamily="18" charset="0"/>
              </a:rPr>
              <a:t> Continuously monitor system performance, focusing on website speed, transaction success rates, and server uptime to ensure reliability and responsiveness.</a:t>
            </a:r>
          </a:p>
          <a:p>
            <a:pPr marL="184150" indent="-171450">
              <a:lnSpc>
                <a:spcPct val="100000"/>
              </a:lnSpc>
              <a:spcBef>
                <a:spcPts val="750"/>
              </a:spcBef>
              <a:buFont typeface="Arial" pitchFamily="34" charset="0"/>
              <a:buChar char="•"/>
            </a:pPr>
            <a:endParaRPr sz="1200" dirty="0" smtClean="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319" y="369823"/>
            <a:ext cx="6649084" cy="5593198"/>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6</a:t>
            </a:r>
            <a:endParaRPr sz="1600" dirty="0">
              <a:latin typeface="Times New Roman"/>
              <a:cs typeface="Times New Roman"/>
            </a:endParaRPr>
          </a:p>
          <a:p>
            <a:pPr>
              <a:lnSpc>
                <a:spcPct val="100000"/>
              </a:lnSpc>
              <a:spcBef>
                <a:spcPts val="1780"/>
              </a:spcBef>
            </a:pPr>
            <a:endParaRPr sz="1600" dirty="0">
              <a:latin typeface="Times New Roman"/>
              <a:cs typeface="Times New Roman"/>
            </a:endParaRPr>
          </a:p>
          <a:p>
            <a:pPr marL="278130" lvl="1" indent="-265430" algn="just">
              <a:lnSpc>
                <a:spcPct val="100000"/>
              </a:lnSpc>
              <a:buAutoNum type="arabicPeriod"/>
              <a:tabLst>
                <a:tab pos="278130" algn="l"/>
              </a:tabLst>
            </a:pPr>
            <a:r>
              <a:rPr sz="1400" b="1" spc="-10" dirty="0">
                <a:latin typeface="Times New Roman"/>
                <a:cs typeface="Times New Roman"/>
              </a:rPr>
              <a:t>Implementation.</a:t>
            </a:r>
            <a:endParaRPr sz="1400" dirty="0">
              <a:latin typeface="Times New Roman"/>
              <a:cs typeface="Times New Roman"/>
            </a:endParaRPr>
          </a:p>
          <a:p>
            <a:pPr>
              <a:lnSpc>
                <a:spcPct val="100000"/>
              </a:lnSpc>
              <a:spcBef>
                <a:spcPts val="1310"/>
              </a:spcBef>
            </a:pPr>
            <a:r>
              <a:rPr lang="en-US" sz="1200" dirty="0" smtClean="0">
                <a:latin typeface="Times New Roman" pitchFamily="18" charset="0"/>
                <a:cs typeface="Times New Roman" pitchFamily="18" charset="0"/>
              </a:rPr>
              <a:t>The implementation process of the Fitness Freak Gym Website involves several key steps to ensure a functional and user-friendly platform. Initially, the project setup includes installing XAMPP for server management and using PHP with MySQL for backend development. All data such as workout plans, nutrition guides, membership packages, products, and user information are manually collected and stored in the local database without relying on external API services. The user interface is designed using HTML, CSS, and JavaScript with a responsive layout that enhances user experience. Core features are developed, including user registration, subscription management, workout plan access, product store with cart functionality, and secure login authentication. Rigorous testing and debugging are conducted to ensure full functionality, followed by the implementation of a simple feedback mechanism to collect user suggestions. Finally, the website is deployed on a live server with ongoing maintenance planned to update content, manage subscriptions, and ensure security, keeping the platform engaging and reliable for users.</a:t>
            </a:r>
          </a:p>
          <a:p>
            <a:pPr>
              <a:lnSpc>
                <a:spcPct val="100000"/>
              </a:lnSpc>
              <a:spcBef>
                <a:spcPts val="1310"/>
              </a:spcBef>
            </a:pPr>
            <a:endParaRPr sz="1200" dirty="0">
              <a:latin typeface="Times New Roman" pitchFamily="18" charset="0"/>
              <a:cs typeface="Times New Roman" pitchFamily="18" charset="0"/>
            </a:endParaRPr>
          </a:p>
          <a:p>
            <a:pPr marL="278765" lvl="1" indent="-266065">
              <a:lnSpc>
                <a:spcPct val="100000"/>
              </a:lnSpc>
              <a:spcBef>
                <a:spcPts val="5"/>
              </a:spcBef>
              <a:buAutoNum type="arabicPeriod" startAt="2"/>
              <a:tabLst>
                <a:tab pos="278765" algn="l"/>
              </a:tabLst>
            </a:pPr>
            <a:r>
              <a:rPr sz="1400" b="1" dirty="0">
                <a:latin typeface="Times New Roman"/>
                <a:cs typeface="Times New Roman"/>
              </a:rPr>
              <a:t>Project</a:t>
            </a:r>
            <a:r>
              <a:rPr sz="1400" b="1" spc="-25" dirty="0">
                <a:latin typeface="Times New Roman"/>
                <a:cs typeface="Times New Roman"/>
              </a:rPr>
              <a:t> </a:t>
            </a:r>
            <a:r>
              <a:rPr sz="1400" b="1" spc="-10" dirty="0" smtClean="0">
                <a:latin typeface="Times New Roman"/>
                <a:cs typeface="Times New Roman"/>
              </a:rPr>
              <a:t>Setup</a:t>
            </a:r>
            <a:endParaRPr lang="en-US" sz="1400" b="1" spc="-10" dirty="0" smtClean="0">
              <a:latin typeface="Times New Roman"/>
              <a:cs typeface="Times New Roman"/>
            </a:endParaRPr>
          </a:p>
          <a:p>
            <a:pPr marL="278765" lvl="1" indent="-266065">
              <a:lnSpc>
                <a:spcPct val="100000"/>
              </a:lnSpc>
              <a:spcBef>
                <a:spcPts val="5"/>
              </a:spcBef>
              <a:buAutoNum type="arabicPeriod" startAt="2"/>
              <a:tabLst>
                <a:tab pos="278765" algn="l"/>
              </a:tabLst>
            </a:pPr>
            <a:endParaRPr lang="en-US" sz="1400" b="1" spc="-10" dirty="0">
              <a:latin typeface="Times New Roman"/>
              <a:cs typeface="Times New Roman"/>
            </a:endParaRPr>
          </a:p>
          <a:p>
            <a:pPr marL="12700" lvl="1">
              <a:lnSpc>
                <a:spcPct val="100000"/>
              </a:lnSpc>
              <a:spcBef>
                <a:spcPts val="5"/>
              </a:spcBef>
              <a:tabLst>
                <a:tab pos="278765" algn="l"/>
              </a:tabLst>
            </a:pPr>
            <a:r>
              <a:rPr lang="en-US" sz="1200" dirty="0" smtClean="0">
                <a:latin typeface="Times New Roman" pitchFamily="18" charset="0"/>
                <a:cs typeface="Times New Roman" pitchFamily="18" charset="0"/>
              </a:rPr>
              <a:t>The project setup for the Fitness Freak Gym Website begins by establishing a stable development environment and organized project structure. The development machine is configured with XAMPP, which includes Apache server, PHP, and MySQL, enabling smooth execution of server-side scripts and database management. PHP serves as the primary backend language, while MySQL is used for data storage and retrieval. A dedicated project folder is created inside the </a:t>
            </a:r>
            <a:r>
              <a:rPr lang="en-US" sz="1200" dirty="0" err="1" smtClean="0">
                <a:latin typeface="Times New Roman" pitchFamily="18" charset="0"/>
                <a:cs typeface="Times New Roman" pitchFamily="18" charset="0"/>
              </a:rPr>
              <a:t>htdocs</a:t>
            </a:r>
            <a:r>
              <a:rPr lang="en-US" sz="1200" dirty="0" smtClean="0">
                <a:latin typeface="Times New Roman" pitchFamily="18" charset="0"/>
                <a:cs typeface="Times New Roman" pitchFamily="18" charset="0"/>
              </a:rPr>
              <a:t> directory of XAMPP to host the website files. Development is carried out using a code editor such as Visual Studio Code or </a:t>
            </a:r>
            <a:r>
              <a:rPr lang="en-US" sz="1200" dirty="0" err="1" smtClean="0">
                <a:latin typeface="Times New Roman" pitchFamily="18" charset="0"/>
                <a:cs typeface="Times New Roman" pitchFamily="18" charset="0"/>
              </a:rPr>
              <a:t>PyCharm</a:t>
            </a:r>
            <a:r>
              <a:rPr lang="en-US" sz="1200" dirty="0" smtClean="0">
                <a:latin typeface="Times New Roman" pitchFamily="18" charset="0"/>
                <a:cs typeface="Times New Roman" pitchFamily="18" charset="0"/>
              </a:rPr>
              <a:t> Professional, which provide efficient code management, debugging, and version control features. Directory structures are organized to separate HTML templates, CSS </a:t>
            </a:r>
            <a:r>
              <a:rPr lang="en-US" sz="1200" dirty="0" err="1" smtClean="0">
                <a:latin typeface="Times New Roman" pitchFamily="18" charset="0"/>
                <a:cs typeface="Times New Roman" pitchFamily="18" charset="0"/>
              </a:rPr>
              <a:t>stylesheets</a:t>
            </a:r>
            <a:r>
              <a:rPr lang="en-US" sz="1200" dirty="0" smtClean="0">
                <a:latin typeface="Times New Roman" pitchFamily="18" charset="0"/>
                <a:cs typeface="Times New Roman" pitchFamily="18" charset="0"/>
              </a:rPr>
              <a:t>, JavaScript files, PHP scripts, and database configuration files, ensuring maintainability and scalability as the project evolves.</a:t>
            </a:r>
            <a:endParaRPr sz="1200" dirty="0">
              <a:latin typeface="Times New Roman" pitchFamily="18" charset="0"/>
              <a:cs typeface="Times New Roman" pitchFamily="18" charset="0"/>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26</a:t>
            </a:fld>
            <a:r>
              <a:rPr spc="-20" dirty="0"/>
              <a:t>]</a:t>
            </a:r>
          </a:p>
        </p:txBody>
      </p:sp>
      <p:sp>
        <p:nvSpPr>
          <p:cNvPr id="8" name="object 3"/>
          <p:cNvSpPr txBox="1"/>
          <p:nvPr/>
        </p:nvSpPr>
        <p:spPr>
          <a:xfrm>
            <a:off x="349250" y="6184900"/>
            <a:ext cx="6645275" cy="2500685"/>
          </a:xfrm>
          <a:prstGeom prst="rect">
            <a:avLst/>
          </a:prstGeom>
        </p:spPr>
        <p:txBody>
          <a:bodyPr vert="horz" wrap="square" lIns="0" tIns="12700" rIns="0" bIns="0" rtlCol="0">
            <a:spAutoFit/>
          </a:bodyPr>
          <a:lstStyle/>
          <a:p>
            <a:pPr marL="12700">
              <a:lnSpc>
                <a:spcPct val="100000"/>
              </a:lnSpc>
              <a:spcBef>
                <a:spcPts val="100"/>
              </a:spcBef>
            </a:pPr>
            <a:r>
              <a:rPr sz="1400" b="1" dirty="0" smtClean="0">
                <a:latin typeface="Times New Roman"/>
                <a:cs typeface="Times New Roman"/>
              </a:rPr>
              <a:t>6.</a:t>
            </a:r>
            <a:r>
              <a:rPr lang="en-US" sz="1400" b="1" dirty="0" smtClean="0">
                <a:latin typeface="Times New Roman"/>
                <a:cs typeface="Times New Roman"/>
              </a:rPr>
              <a:t>3 </a:t>
            </a:r>
            <a:r>
              <a:rPr sz="1400" b="1" dirty="0" smtClean="0">
                <a:latin typeface="Times New Roman"/>
                <a:cs typeface="Times New Roman"/>
              </a:rPr>
              <a:t>User</a:t>
            </a:r>
            <a:r>
              <a:rPr sz="1400" b="1" spc="-20" dirty="0" smtClean="0">
                <a:latin typeface="Times New Roman"/>
                <a:cs typeface="Times New Roman"/>
              </a:rPr>
              <a:t> </a:t>
            </a:r>
            <a:r>
              <a:rPr sz="1400" b="1" dirty="0" smtClean="0">
                <a:latin typeface="Times New Roman"/>
                <a:cs typeface="Times New Roman"/>
              </a:rPr>
              <a:t>Interface</a:t>
            </a:r>
            <a:r>
              <a:rPr sz="1400" b="1" spc="-35" dirty="0" smtClean="0">
                <a:latin typeface="Times New Roman"/>
                <a:cs typeface="Times New Roman"/>
              </a:rPr>
              <a:t> </a:t>
            </a:r>
            <a:r>
              <a:rPr sz="1400" b="1" spc="-10" dirty="0" smtClean="0">
                <a:latin typeface="Times New Roman"/>
                <a:cs typeface="Times New Roman"/>
              </a:rPr>
              <a:t>Design</a:t>
            </a:r>
            <a:endParaRPr lang="en-US" sz="1400" b="1" spc="-10" dirty="0" smtClean="0">
              <a:latin typeface="Times New Roman"/>
              <a:cs typeface="Times New Roman"/>
            </a:endParaRPr>
          </a:p>
          <a:p>
            <a:pPr marL="12700">
              <a:lnSpc>
                <a:spcPct val="100000"/>
              </a:lnSpc>
              <a:spcBef>
                <a:spcPts val="100"/>
              </a:spcBef>
            </a:pPr>
            <a:endParaRPr lang="en-US" sz="1400" b="1" spc="-10" dirty="0">
              <a:latin typeface="Times New Roman"/>
              <a:cs typeface="Times New Roman"/>
            </a:endParaRPr>
          </a:p>
          <a:p>
            <a:pPr marL="12700">
              <a:lnSpc>
                <a:spcPct val="100000"/>
              </a:lnSpc>
              <a:spcBef>
                <a:spcPts val="100"/>
              </a:spcBef>
            </a:pPr>
            <a:r>
              <a:rPr lang="en-US" sz="1200" dirty="0" smtClean="0">
                <a:latin typeface="Times New Roman" pitchFamily="18" charset="0"/>
                <a:cs typeface="Times New Roman" pitchFamily="18" charset="0"/>
              </a:rPr>
              <a:t>The user interface design of the Fitness Freak Gym Website focuses on creating an intuitive, visually appealing, and user-friendly experience that encourages user engagement. Initially, wireframes are designed to plan the layout, navigation flow, and organization of content across various sections such as home, membership plans, workout routines, product store, user login, and subscription management. Once the wireframes are finalized, frontend development begins using standard web technologies including HTML, CSS, and JavaScript. The design incorporates responsive techniques to ensure compatibility across different devices and screen sizes, offering a seamless experience on both desktops and mobile devices. Bootstrap or custom CSS frameworks are utilized to streamline styling, while JavaScript enhances interactivity for forms, navigation, and dynamic content updates. The overall design emphasizes simplicity, clarity, and ease of navigation, enabling users to quickly access workout plans, purchase products, manage subscriptions, and interact with the website’s features effortlessly.</a:t>
            </a:r>
            <a:endParaRPr sz="1200" dirty="0" smtClean="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25450" y="393700"/>
            <a:ext cx="6642100" cy="4026743"/>
          </a:xfrm>
          <a:prstGeom prst="rect">
            <a:avLst/>
          </a:prstGeom>
        </p:spPr>
        <p:txBody>
          <a:bodyPr vert="horz" wrap="square" lIns="0" tIns="12700" rIns="0" bIns="0" rtlCol="0">
            <a:spAutoFit/>
          </a:bodyPr>
          <a:lstStyle/>
          <a:p>
            <a:r>
              <a:rPr sz="1400" b="1" dirty="0" smtClean="0">
                <a:latin typeface="Times New Roman"/>
                <a:cs typeface="Times New Roman"/>
              </a:rPr>
              <a:t>6.</a:t>
            </a:r>
            <a:r>
              <a:rPr lang="en-US" sz="1400" b="1" dirty="0" smtClean="0">
                <a:latin typeface="Times New Roman"/>
                <a:cs typeface="Times New Roman"/>
              </a:rPr>
              <a:t>4</a:t>
            </a:r>
            <a:r>
              <a:rPr sz="1400" b="1" spc="-25" dirty="0" smtClean="0">
                <a:latin typeface="Times New Roman"/>
                <a:cs typeface="Times New Roman"/>
              </a:rPr>
              <a:t> </a:t>
            </a:r>
            <a:r>
              <a:rPr sz="1400" b="1" dirty="0">
                <a:latin typeface="Times New Roman"/>
                <a:cs typeface="Times New Roman"/>
              </a:rPr>
              <a:t>Feature</a:t>
            </a:r>
            <a:r>
              <a:rPr sz="1400" b="1" spc="-25" dirty="0">
                <a:latin typeface="Times New Roman"/>
                <a:cs typeface="Times New Roman"/>
              </a:rPr>
              <a:t> </a:t>
            </a:r>
            <a:r>
              <a:rPr sz="1400" b="1" spc="-10" dirty="0" smtClean="0">
                <a:latin typeface="Times New Roman"/>
                <a:cs typeface="Times New Roman"/>
              </a:rPr>
              <a:t>Implementation</a:t>
            </a:r>
            <a:r>
              <a:rPr lang="en-US" sz="1400" b="1" spc="-10" dirty="0" smtClean="0">
                <a:latin typeface="Times New Roman"/>
                <a:cs typeface="Times New Roman"/>
              </a:rPr>
              <a:t> </a:t>
            </a:r>
          </a:p>
          <a:p>
            <a:endParaRPr lang="en-US" sz="1400" b="1" spc="-10" dirty="0" smtClean="0">
              <a:latin typeface="Times New Roman"/>
              <a:cs typeface="Times New Roman"/>
            </a:endParaRPr>
          </a:p>
          <a:p>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a:t>
            </a:r>
          </a:p>
          <a:p>
            <a:endParaRPr lang="en-US" sz="1400" dirty="0" smtClean="0"/>
          </a:p>
          <a:p>
            <a:r>
              <a:rPr lang="en-US" sz="1200" dirty="0" smtClean="0">
                <a:latin typeface="Times New Roman" pitchFamily="18" charset="0"/>
                <a:cs typeface="Times New Roman" pitchFamily="18" charset="0"/>
              </a:rPr>
              <a:t>Develop core features of the Fitness Freak Gym Website.</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Nutrition Guides:</a:t>
            </a:r>
            <a:r>
              <a:rPr lang="en-US" sz="1200" dirty="0" smtClean="0">
                <a:latin typeface="Times New Roman" pitchFamily="18" charset="0"/>
                <a:cs typeface="Times New Roman" pitchFamily="18" charset="0"/>
              </a:rPr>
              <a:t> Offer detailed nutrition and diet plans to complement workout routines, supporting users’ overall fitness and health goals.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Membership Subscriptions:</a:t>
            </a:r>
            <a:r>
              <a:rPr lang="en-US" sz="1200" dirty="0" smtClean="0">
                <a:latin typeface="Times New Roman" pitchFamily="18" charset="0"/>
                <a:cs typeface="Times New Roman" pitchFamily="18" charset="0"/>
              </a:rPr>
              <a:t> Implement a subscription system where users can view and purchase different membership plans with varying benefits, durations, and prices.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Product Store:</a:t>
            </a:r>
            <a:r>
              <a:rPr lang="en-US" sz="1200" dirty="0" smtClean="0">
                <a:latin typeface="Times New Roman" pitchFamily="18" charset="0"/>
                <a:cs typeface="Times New Roman" pitchFamily="18" charset="0"/>
              </a:rPr>
              <a:t> Include a fully functional online store where users can browse gym merchandise, supplements, and equipment, add items to a shopping cart, and proceed with simulated purchases.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Feedback Mechanism:</a:t>
            </a:r>
            <a:r>
              <a:rPr lang="en-US" sz="1200" dirty="0" smtClean="0">
                <a:latin typeface="Times New Roman" pitchFamily="18" charset="0"/>
                <a:cs typeface="Times New Roman" pitchFamily="18" charset="0"/>
              </a:rPr>
              <a:t> Enable users to submit feedback, suggestions, or report issues through a contact or feedback form, helping to continuously improve the website.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Responsive Design:</a:t>
            </a:r>
            <a:r>
              <a:rPr lang="en-US" sz="1200" dirty="0" smtClean="0">
                <a:latin typeface="Times New Roman" pitchFamily="18" charset="0"/>
                <a:cs typeface="Times New Roman" pitchFamily="18" charset="0"/>
              </a:rPr>
              <a:t> Ensure the entire website is fully responsive, providing a seamless user experience across different devices and screen sizes using HTML, CSS, JavaScript, and Bootstrap.</a:t>
            </a:r>
          </a:p>
          <a:p>
            <a:pPr marL="12700">
              <a:lnSpc>
                <a:spcPct val="100000"/>
              </a:lnSpc>
              <a:spcBef>
                <a:spcPts val="100"/>
              </a:spcBef>
            </a:pPr>
            <a:endParaRPr sz="14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27</a:t>
            </a:fld>
            <a:r>
              <a:rPr spc="-20" dirty="0"/>
              <a:t>]</a:t>
            </a:r>
          </a:p>
        </p:txBody>
      </p:sp>
      <p:sp>
        <p:nvSpPr>
          <p:cNvPr id="8" name="object 3"/>
          <p:cNvSpPr txBox="1"/>
          <p:nvPr/>
        </p:nvSpPr>
        <p:spPr>
          <a:xfrm>
            <a:off x="425450" y="4584700"/>
            <a:ext cx="6371590" cy="4334520"/>
          </a:xfrm>
          <a:prstGeom prst="rect">
            <a:avLst/>
          </a:prstGeom>
        </p:spPr>
        <p:txBody>
          <a:bodyPr vert="horz" wrap="square" lIns="0" tIns="12700" rIns="0" bIns="0" rtlCol="0">
            <a:spAutoFit/>
          </a:bodyPr>
          <a:lstStyle/>
          <a:p>
            <a:r>
              <a:rPr sz="1400" b="1" dirty="0" smtClean="0">
                <a:latin typeface="Times New Roman"/>
                <a:cs typeface="Times New Roman"/>
              </a:rPr>
              <a:t>6.</a:t>
            </a:r>
            <a:r>
              <a:rPr lang="en-US" sz="1400" b="1" dirty="0" smtClean="0">
                <a:latin typeface="Times New Roman"/>
                <a:cs typeface="Times New Roman"/>
              </a:rPr>
              <a:t>5</a:t>
            </a:r>
            <a:r>
              <a:rPr sz="1400" b="1" spc="-15" dirty="0" smtClean="0">
                <a:latin typeface="Times New Roman"/>
                <a:cs typeface="Times New Roman"/>
              </a:rPr>
              <a:t> </a:t>
            </a:r>
            <a:r>
              <a:rPr sz="1400" b="1" dirty="0">
                <a:latin typeface="Times New Roman"/>
                <a:cs typeface="Times New Roman"/>
              </a:rPr>
              <a:t>Testing</a:t>
            </a:r>
            <a:r>
              <a:rPr sz="1400" b="1" spc="-30" dirty="0">
                <a:latin typeface="Times New Roman"/>
                <a:cs typeface="Times New Roman"/>
              </a:rPr>
              <a:t> </a:t>
            </a:r>
            <a:r>
              <a:rPr sz="1400" b="1" dirty="0">
                <a:latin typeface="Times New Roman"/>
                <a:cs typeface="Times New Roman"/>
              </a:rPr>
              <a:t>and</a:t>
            </a:r>
            <a:r>
              <a:rPr sz="1400" b="1" spc="-35" dirty="0">
                <a:latin typeface="Times New Roman"/>
                <a:cs typeface="Times New Roman"/>
              </a:rPr>
              <a:t> </a:t>
            </a:r>
            <a:r>
              <a:rPr sz="1400" b="1" spc="-10" dirty="0" smtClean="0">
                <a:latin typeface="Times New Roman"/>
                <a:cs typeface="Times New Roman"/>
              </a:rPr>
              <a:t>Debugging</a:t>
            </a:r>
            <a:endParaRPr lang="en-US" sz="1400" b="1" spc="-10" dirty="0" smtClean="0">
              <a:latin typeface="Times New Roman"/>
              <a:cs typeface="Times New Roman"/>
            </a:endParaRPr>
          </a:p>
          <a:p>
            <a:endParaRPr lang="en-US" sz="1400" b="1" spc="-10" dirty="0">
              <a:latin typeface="Times New Roman"/>
              <a:cs typeface="Times New Roman"/>
            </a:endParaRPr>
          </a:p>
          <a:p>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Ensure the Fitness Freak Gym Website functions correctly and is free of bugs</a:t>
            </a:r>
          </a:p>
          <a:p>
            <a:r>
              <a:rPr lang="en-US" sz="1200" dirty="0" smtClean="0">
                <a:latin typeface="Times New Roman" pitchFamily="18" charset="0"/>
                <a:cs typeface="Times New Roman" pitchFamily="18" charset="0"/>
              </a:rPr>
              <a:t>.</a:t>
            </a:r>
          </a:p>
          <a:p>
            <a:pPr marL="171450" indent="-171450">
              <a:buFont typeface="Arial" pitchFamily="34" charset="0"/>
              <a:buChar char="•"/>
            </a:pPr>
            <a:r>
              <a:rPr lang="en-US" sz="1200" b="1" dirty="0" smtClean="0">
                <a:latin typeface="Times New Roman" pitchFamily="18" charset="0"/>
                <a:cs typeface="Times New Roman" pitchFamily="18" charset="0"/>
              </a:rPr>
              <a:t>Unit Testing:</a:t>
            </a:r>
            <a:r>
              <a:rPr lang="en-US" sz="1200" dirty="0" smtClean="0">
                <a:latin typeface="Times New Roman" pitchFamily="18" charset="0"/>
                <a:cs typeface="Times New Roman" pitchFamily="18" charset="0"/>
              </a:rPr>
              <a:t> Test individual PHP functions such as user registration, login authentication, subscription processing, and cart management to verify that each component works correctly on its own.</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Integration Testing:</a:t>
            </a:r>
            <a:r>
              <a:rPr lang="en-US" sz="1200" dirty="0" smtClean="0">
                <a:latin typeface="Times New Roman" pitchFamily="18" charset="0"/>
                <a:cs typeface="Times New Roman" pitchFamily="18" charset="0"/>
              </a:rPr>
              <a:t> Test how different modules interact, such as user authentication combined with subscription access, or store purchases linked to user accounts, ensuring seamless end-to-end functionality.</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User Interface Testing:</a:t>
            </a:r>
            <a:r>
              <a:rPr lang="en-US" sz="1200" dirty="0" smtClean="0">
                <a:latin typeface="Times New Roman" pitchFamily="18" charset="0"/>
                <a:cs typeface="Times New Roman" pitchFamily="18" charset="0"/>
              </a:rPr>
              <a:t> Check the responsiveness and design of the frontend across multiple devices and browsers to ensure a consistent and user-friendly experience.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Database Testing:</a:t>
            </a:r>
            <a:r>
              <a:rPr lang="en-US" sz="1200" dirty="0" smtClean="0">
                <a:latin typeface="Times New Roman" pitchFamily="18" charset="0"/>
                <a:cs typeface="Times New Roman" pitchFamily="18" charset="0"/>
              </a:rPr>
              <a:t> Verify that data is correctly stored, retrieved, and updated in MySQL tables, ensuring data integrity for user profiles, workout plans, store inventory, and subscriptions.</a:t>
            </a:r>
          </a:p>
          <a:p>
            <a:pPr marL="171450" indent="-171450">
              <a:buFont typeface="Arial" pitchFamily="34" charset="0"/>
              <a:buChar char="•"/>
            </a:pPr>
            <a:r>
              <a:rPr lang="en-US" sz="1200" b="1" dirty="0" smtClean="0">
                <a:latin typeface="Times New Roman" pitchFamily="18" charset="0"/>
                <a:cs typeface="Times New Roman" pitchFamily="18" charset="0"/>
              </a:rPr>
              <a:t>Security Testing:</a:t>
            </a:r>
            <a:r>
              <a:rPr lang="en-US" sz="1200" dirty="0" smtClean="0">
                <a:latin typeface="Times New Roman" pitchFamily="18" charset="0"/>
                <a:cs typeface="Times New Roman" pitchFamily="18" charset="0"/>
              </a:rPr>
              <a:t> Test for vulnerabilities such as SQL injection, weak password storage, and improper form validation to ensure the application is secure.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User Testing:</a:t>
            </a:r>
            <a:r>
              <a:rPr lang="en-US" sz="1200" dirty="0" smtClean="0">
                <a:latin typeface="Times New Roman" pitchFamily="18" charset="0"/>
                <a:cs typeface="Times New Roman" pitchFamily="18" charset="0"/>
              </a:rPr>
              <a:t> Conduct testing sessions with actual users to gather feedback on the usability, navigation, and functionality of the website, making adjustments based on their experiences.</a:t>
            </a:r>
          </a:p>
          <a:p>
            <a:pPr marL="184150" indent="-171450">
              <a:lnSpc>
                <a:spcPct val="100000"/>
              </a:lnSpc>
              <a:spcBef>
                <a:spcPts val="100"/>
              </a:spcBef>
              <a:buFont typeface="Arial" pitchFamily="34" charset="0"/>
              <a:buChar char="•"/>
            </a:pPr>
            <a:endParaRPr sz="12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250824" y="393700"/>
            <a:ext cx="6167755" cy="5103961"/>
          </a:xfrm>
          <a:prstGeom prst="rect">
            <a:avLst/>
          </a:prstGeom>
        </p:spPr>
        <p:txBody>
          <a:bodyPr vert="horz" wrap="square" lIns="0" tIns="12700" rIns="0" bIns="0" rtlCol="0">
            <a:spAutoFit/>
          </a:bodyPr>
          <a:lstStyle/>
          <a:p>
            <a:r>
              <a:rPr sz="1400" b="1" dirty="0" smtClean="0">
                <a:latin typeface="Times New Roman"/>
                <a:cs typeface="Times New Roman"/>
              </a:rPr>
              <a:t>6.</a:t>
            </a:r>
            <a:r>
              <a:rPr lang="en-US" sz="1400" b="1" dirty="0" smtClean="0">
                <a:latin typeface="Times New Roman"/>
                <a:cs typeface="Times New Roman"/>
              </a:rPr>
              <a:t>6</a:t>
            </a:r>
            <a:r>
              <a:rPr sz="1400" b="1" spc="-10" dirty="0" smtClean="0">
                <a:latin typeface="Times New Roman"/>
                <a:cs typeface="Times New Roman"/>
              </a:rPr>
              <a:t> Deployment</a:t>
            </a:r>
            <a:endParaRPr lang="en-US" sz="1400" b="1" spc="-10" dirty="0" smtClean="0">
              <a:latin typeface="Times New Roman"/>
              <a:cs typeface="Times New Roman"/>
            </a:endParaRPr>
          </a:p>
          <a:p>
            <a:endParaRPr lang="en-US" sz="1400" b="1" spc="-10" dirty="0" smtClean="0">
              <a:latin typeface="Times New Roman"/>
              <a:cs typeface="Times New Roman"/>
            </a:endParaRPr>
          </a:p>
          <a:p>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Launch the Fitness Freak Gym Website for users.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Prepare for Deployment:</a:t>
            </a:r>
            <a:r>
              <a:rPr lang="en-US" sz="1200" dirty="0" smtClean="0">
                <a:latin typeface="Times New Roman" pitchFamily="18" charset="0"/>
                <a:cs typeface="Times New Roman" pitchFamily="18" charset="0"/>
              </a:rPr>
              <a:t> Ensure all website features — user authentication, subscription system, workout plans, nutrition guides, store functionality, and feedback system — are fully functional and thoroughly tested.</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Code Cleanup:</a:t>
            </a:r>
            <a:r>
              <a:rPr lang="en-US" sz="1200" dirty="0" smtClean="0">
                <a:latin typeface="Times New Roman" pitchFamily="18" charset="0"/>
                <a:cs typeface="Times New Roman" pitchFamily="18" charset="0"/>
              </a:rPr>
              <a:t> Review and clean the code to remove unused files, unnecessary comments, and ensure consistent formatting for maintainability.</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Server Configuration:</a:t>
            </a:r>
            <a:r>
              <a:rPr lang="en-US" sz="1200" dirty="0" smtClean="0">
                <a:latin typeface="Times New Roman" pitchFamily="18" charset="0"/>
                <a:cs typeface="Times New Roman" pitchFamily="18" charset="0"/>
              </a:rPr>
              <a:t> Deploy the website on a live web hosting server that supports PHP and MySQL, ensuring correct server settings for database connectivity, file permissions, and PHP version compatibility.</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Database Setup:</a:t>
            </a:r>
            <a:r>
              <a:rPr lang="en-US" sz="1200" dirty="0" smtClean="0">
                <a:latin typeface="Times New Roman" pitchFamily="18" charset="0"/>
                <a:cs typeface="Times New Roman" pitchFamily="18" charset="0"/>
              </a:rPr>
              <a:t> Export the local MySQL database and import it into the live server's database system, ensuring all tables, data, and relations are preserved.</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Security Setup:</a:t>
            </a:r>
            <a:r>
              <a:rPr lang="en-US" sz="1200" dirty="0" smtClean="0">
                <a:latin typeface="Times New Roman" pitchFamily="18" charset="0"/>
                <a:cs typeface="Times New Roman" pitchFamily="18" charset="0"/>
              </a:rPr>
              <a:t> Implement SSL certificates for secure HTTPS connections, configure firewall settings, and verify that user data is protected during transmission and storage.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Backup &amp; Recovery Plan:</a:t>
            </a:r>
            <a:r>
              <a:rPr lang="en-US" sz="1200" dirty="0" smtClean="0">
                <a:latin typeface="Times New Roman" pitchFamily="18" charset="0"/>
                <a:cs typeface="Times New Roman" pitchFamily="18" charset="0"/>
              </a:rPr>
              <a:t> Establish regular backup schedules to protect user data and ensure quick recovery in case of server failure or data loss.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Monitoring:</a:t>
            </a:r>
            <a:r>
              <a:rPr lang="en-US" sz="1200" dirty="0" smtClean="0">
                <a:latin typeface="Times New Roman" pitchFamily="18" charset="0"/>
                <a:cs typeface="Times New Roman" pitchFamily="18" charset="0"/>
              </a:rPr>
              <a:t> Set up monitoring tools to track server uptime, website performance, and user activity to ensure continuous availability and identify potential issues early.</a:t>
            </a:r>
          </a:p>
          <a:p>
            <a:pPr marL="12700">
              <a:lnSpc>
                <a:spcPct val="100000"/>
              </a:lnSpc>
              <a:spcBef>
                <a:spcPts val="100"/>
              </a:spcBef>
            </a:pPr>
            <a:endParaRPr sz="14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28</a:t>
            </a:fld>
            <a:r>
              <a:rPr spc="-20" dirty="0"/>
              <a:t>]</a:t>
            </a:r>
          </a:p>
        </p:txBody>
      </p:sp>
      <p:sp>
        <p:nvSpPr>
          <p:cNvPr id="11" name="object 4"/>
          <p:cNvSpPr txBox="1"/>
          <p:nvPr/>
        </p:nvSpPr>
        <p:spPr>
          <a:xfrm>
            <a:off x="425449" y="5499100"/>
            <a:ext cx="6647815" cy="4549964"/>
          </a:xfrm>
          <a:prstGeom prst="rect">
            <a:avLst/>
          </a:prstGeom>
        </p:spPr>
        <p:txBody>
          <a:bodyPr vert="horz" wrap="square" lIns="0" tIns="12700" rIns="0" bIns="0" rtlCol="0">
            <a:spAutoFit/>
          </a:bodyPr>
          <a:lstStyle/>
          <a:p>
            <a:r>
              <a:rPr sz="1400" b="1" dirty="0" smtClean="0">
                <a:latin typeface="Times New Roman"/>
                <a:cs typeface="Times New Roman"/>
              </a:rPr>
              <a:t>6.</a:t>
            </a:r>
            <a:r>
              <a:rPr lang="en-US" sz="1400" b="1" dirty="0" smtClean="0">
                <a:latin typeface="Times New Roman"/>
                <a:cs typeface="Times New Roman"/>
              </a:rPr>
              <a:t>7</a:t>
            </a:r>
            <a:r>
              <a:rPr sz="1400" b="1" spc="-25" dirty="0" smtClean="0">
                <a:latin typeface="Times New Roman"/>
                <a:cs typeface="Times New Roman"/>
              </a:rPr>
              <a:t> </a:t>
            </a:r>
            <a:r>
              <a:rPr sz="1400" b="1" dirty="0">
                <a:latin typeface="Times New Roman"/>
                <a:cs typeface="Times New Roman"/>
              </a:rPr>
              <a:t>Maintenance</a:t>
            </a:r>
            <a:r>
              <a:rPr sz="1400" b="1" spc="-25" dirty="0">
                <a:latin typeface="Times New Roman"/>
                <a:cs typeface="Times New Roman"/>
              </a:rPr>
              <a:t> </a:t>
            </a:r>
            <a:r>
              <a:rPr sz="1400" b="1" dirty="0">
                <a:latin typeface="Times New Roman"/>
                <a:cs typeface="Times New Roman"/>
              </a:rPr>
              <a:t>and</a:t>
            </a:r>
            <a:r>
              <a:rPr sz="1400" b="1" spc="-25" dirty="0">
                <a:latin typeface="Times New Roman"/>
                <a:cs typeface="Times New Roman"/>
              </a:rPr>
              <a:t> </a:t>
            </a:r>
            <a:r>
              <a:rPr sz="1400" b="1" spc="-10" dirty="0" smtClean="0">
                <a:latin typeface="Times New Roman"/>
                <a:cs typeface="Times New Roman"/>
              </a:rPr>
              <a:t>Updates</a:t>
            </a:r>
            <a:endParaRPr lang="en-US" sz="1400" b="1" spc="-10" dirty="0" smtClean="0">
              <a:latin typeface="Times New Roman"/>
              <a:cs typeface="Times New Roman"/>
            </a:endParaRPr>
          </a:p>
          <a:p>
            <a:endParaRPr lang="en-US" sz="1400" b="1" spc="-10" dirty="0">
              <a:latin typeface="Times New Roman"/>
              <a:cs typeface="Times New Roman"/>
            </a:endParaRPr>
          </a:p>
          <a:p>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Ensure the Fitness Freak Gym Website remains functional, secure, and relevant to user needs.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Performance Monitoring:</a:t>
            </a:r>
            <a:r>
              <a:rPr lang="en-US" sz="1200" dirty="0" smtClean="0">
                <a:latin typeface="Times New Roman" pitchFamily="18" charset="0"/>
                <a:cs typeface="Times New Roman" pitchFamily="18" charset="0"/>
              </a:rPr>
              <a:t> Regularly track website performance metrics such as page load times, server response times, database query speeds, and error rates. Use server logs and basic monitoring tools to detect any performance bottlenecks or technical issues.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User Feedback Analysis:</a:t>
            </a:r>
            <a:r>
              <a:rPr lang="en-US" sz="1200" dirty="0" smtClean="0">
                <a:latin typeface="Times New Roman" pitchFamily="18" charset="0"/>
                <a:cs typeface="Times New Roman" pitchFamily="18" charset="0"/>
              </a:rPr>
              <a:t> Continuously collect feedback from users via the built-in feedback form. Analyze this feedback to identify usability issues, new feature requests, or any areas of dissatisfaction that require attention.</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Bug Fixes:</a:t>
            </a:r>
            <a:r>
              <a:rPr lang="en-US" sz="1200" dirty="0" smtClean="0">
                <a:latin typeface="Times New Roman" pitchFamily="18" charset="0"/>
                <a:cs typeface="Times New Roman" pitchFamily="18" charset="0"/>
              </a:rPr>
              <a:t> Promptly address any bugs or glitches reported by users or detected during regular testing, ensuring minimal disruption to user experience.</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Content Updates:</a:t>
            </a:r>
            <a:r>
              <a:rPr lang="en-US" sz="1200" dirty="0" smtClean="0">
                <a:latin typeface="Times New Roman" pitchFamily="18" charset="0"/>
                <a:cs typeface="Times New Roman" pitchFamily="18" charset="0"/>
              </a:rPr>
              <a:t> Regularly update workout plans, nutrition guides, and product listings to keep the content fresh, engaging, and up-to-date with current fitness trends and user demands.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Security Updates:</a:t>
            </a:r>
            <a:r>
              <a:rPr lang="en-US" sz="1200" dirty="0" smtClean="0">
                <a:latin typeface="Times New Roman" pitchFamily="18" charset="0"/>
                <a:cs typeface="Times New Roman" pitchFamily="18" charset="0"/>
              </a:rPr>
              <a:t> Perform routine security checks, update PHP versions, and apply patches to any vulnerabilities in the system. Ensure that user data remains protected from emerging security threats.</a:t>
            </a:r>
          </a:p>
          <a:p>
            <a:pPr marL="171450" indent="-171450">
              <a:buFont typeface="Arial" pitchFamily="34" charset="0"/>
              <a:buChar char="•"/>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b="1" dirty="0" smtClean="0">
                <a:latin typeface="Times New Roman" pitchFamily="18" charset="0"/>
                <a:cs typeface="Times New Roman" pitchFamily="18" charset="0"/>
              </a:rPr>
              <a:t>Database Maintenance:</a:t>
            </a:r>
            <a:r>
              <a:rPr lang="en-US" sz="1200" dirty="0" smtClean="0">
                <a:latin typeface="Times New Roman" pitchFamily="18" charset="0"/>
                <a:cs typeface="Times New Roman" pitchFamily="18" charset="0"/>
              </a:rPr>
              <a:t> Monitor and optimize the MySQL database to ensure data integrity, remove redundant data, and optimize queries for faster data retrieval.</a:t>
            </a:r>
          </a:p>
          <a:p>
            <a:pPr marL="12700">
              <a:lnSpc>
                <a:spcPct val="100000"/>
              </a:lnSpc>
              <a:spcBef>
                <a:spcPts val="100"/>
              </a:spcBef>
            </a:pPr>
            <a:endParaRPr sz="1400" dirty="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27958" y="371348"/>
            <a:ext cx="1248410" cy="269240"/>
          </a:xfrm>
          <a:prstGeom prst="rect">
            <a:avLst/>
          </a:prstGeom>
        </p:spPr>
        <p:txBody>
          <a:bodyPr vert="horz" wrap="square" lIns="0" tIns="12065" rIns="0" bIns="0" rtlCol="0">
            <a:spAutoFit/>
          </a:bodyPr>
          <a:lstStyle/>
          <a:p>
            <a:pPr marL="12700">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7</a:t>
            </a:r>
            <a:endParaRPr sz="1600">
              <a:latin typeface="Times New Roman"/>
              <a:cs typeface="Times New Roman"/>
            </a:endParaRPr>
          </a:p>
        </p:txBody>
      </p:sp>
      <p:sp>
        <p:nvSpPr>
          <p:cNvPr id="3" name="object 3"/>
          <p:cNvSpPr txBox="1"/>
          <p:nvPr/>
        </p:nvSpPr>
        <p:spPr>
          <a:xfrm>
            <a:off x="528319" y="1130553"/>
            <a:ext cx="5962015" cy="2518638"/>
          </a:xfrm>
          <a:prstGeom prst="rect">
            <a:avLst/>
          </a:prstGeom>
        </p:spPr>
        <p:txBody>
          <a:bodyPr vert="horz" wrap="square" lIns="0" tIns="12700" rIns="0" bIns="0" rtlCol="0">
            <a:spAutoFit/>
          </a:bodyPr>
          <a:lstStyle/>
          <a:p>
            <a:r>
              <a:rPr sz="1400" b="1" dirty="0">
                <a:latin typeface="Times New Roman"/>
                <a:cs typeface="Times New Roman"/>
              </a:rPr>
              <a:t>Testing</a:t>
            </a:r>
            <a:r>
              <a:rPr sz="1400" b="1" spc="-4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dirty="0">
                <a:latin typeface="Times New Roman"/>
                <a:cs typeface="Times New Roman"/>
              </a:rPr>
              <a:t>Validation</a:t>
            </a:r>
            <a:r>
              <a:rPr sz="1400" b="1" spc="-25" dirty="0">
                <a:latin typeface="Times New Roman"/>
                <a:cs typeface="Times New Roman"/>
              </a:rPr>
              <a:t> </a:t>
            </a:r>
            <a:r>
              <a:rPr sz="1400" b="1" dirty="0">
                <a:latin typeface="Times New Roman"/>
                <a:cs typeface="Times New Roman"/>
              </a:rPr>
              <a:t>for</a:t>
            </a:r>
            <a:r>
              <a:rPr sz="1400" b="1" spc="-25" dirty="0">
                <a:latin typeface="Times New Roman"/>
                <a:cs typeface="Times New Roman"/>
              </a:rPr>
              <a:t> </a:t>
            </a:r>
            <a:r>
              <a:rPr sz="1400" b="1" dirty="0">
                <a:latin typeface="Times New Roman"/>
                <a:cs typeface="Times New Roman"/>
              </a:rPr>
              <a:t>the</a:t>
            </a:r>
            <a:r>
              <a:rPr sz="1400" b="1" spc="-25" dirty="0">
                <a:latin typeface="Times New Roman"/>
                <a:cs typeface="Times New Roman"/>
              </a:rPr>
              <a:t> </a:t>
            </a:r>
            <a:r>
              <a:rPr lang="en-US" sz="1400" b="1" spc="-25" dirty="0" smtClean="0">
                <a:latin typeface="Times New Roman"/>
                <a:cs typeface="Times New Roman"/>
              </a:rPr>
              <a:t>Fitness Freak </a:t>
            </a:r>
            <a:r>
              <a:rPr lang="en-US" sz="1400" b="1" spc="-20" dirty="0" smtClean="0">
                <a:latin typeface="Times New Roman"/>
                <a:cs typeface="Times New Roman"/>
              </a:rPr>
              <a:t>Website</a:t>
            </a:r>
            <a:r>
              <a:rPr lang="en-US" sz="1400" b="1" dirty="0" smtClean="0"/>
              <a:t> </a:t>
            </a:r>
            <a:endParaRPr lang="en-US" sz="1400" b="1" dirty="0" smtClean="0"/>
          </a:p>
          <a:p>
            <a:endParaRPr lang="en-US" sz="1400" b="1" dirty="0"/>
          </a:p>
          <a:p>
            <a:pPr marL="228600" indent="-228600">
              <a:buAutoNum type="arabicPeriod"/>
            </a:pPr>
            <a:r>
              <a:rPr lang="en-US" sz="1200" b="1" dirty="0" smtClean="0">
                <a:latin typeface="Times New Roman" pitchFamily="18" charset="0"/>
                <a:cs typeface="Times New Roman" pitchFamily="18" charset="0"/>
              </a:rPr>
              <a:t>Testing Objectives</a:t>
            </a:r>
          </a:p>
          <a:p>
            <a:pPr marL="228600" indent="-228600">
              <a:buAutoNum type="arabicPeriod"/>
            </a:pP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Ensure the Fitness Freak Gym Website functions correctly and fulfills all specified project requirements.</a:t>
            </a:r>
          </a:p>
          <a:p>
            <a:pPr marL="171450" indent="-171450">
              <a:buFont typeface="Arial" pitchFamily="34" charset="0"/>
              <a:buChar char="•"/>
            </a:pPr>
            <a:r>
              <a:rPr lang="en-US" sz="1200" dirty="0" smtClean="0">
                <a:latin typeface="Times New Roman" pitchFamily="18" charset="0"/>
                <a:cs typeface="Times New Roman" pitchFamily="18" charset="0"/>
              </a:rPr>
              <a:t>Identify and resolve bugs, errors, or functionality issues before launching the website to users.</a:t>
            </a:r>
          </a:p>
          <a:p>
            <a:pPr marL="171450" indent="-171450">
              <a:buFont typeface="Arial" pitchFamily="34" charset="0"/>
              <a:buChar char="•"/>
            </a:pPr>
            <a:r>
              <a:rPr lang="en-US" sz="1200" dirty="0" smtClean="0">
                <a:latin typeface="Times New Roman" pitchFamily="18" charset="0"/>
                <a:cs typeface="Times New Roman" pitchFamily="18" charset="0"/>
              </a:rPr>
              <a:t>Validate that all features such as user registration, login, subscription management, workout plans, nutrition guides, product store, and feedback system work seamlessly and deliver the intended results.</a:t>
            </a:r>
          </a:p>
          <a:p>
            <a:pPr marL="171450" indent="-171450">
              <a:buFont typeface="Arial" pitchFamily="34" charset="0"/>
              <a:buChar char="•"/>
            </a:pPr>
            <a:r>
              <a:rPr lang="en-US" sz="1200" dirty="0" smtClean="0">
                <a:latin typeface="Times New Roman" pitchFamily="18" charset="0"/>
                <a:cs typeface="Times New Roman" pitchFamily="18" charset="0"/>
              </a:rPr>
              <a:t>Assess the overall user experience, including website navigation, responsiveness, design consistency, and ease of use, to ensure user satisfaction and engagement.</a:t>
            </a:r>
          </a:p>
          <a:p>
            <a:pPr marL="12700">
              <a:lnSpc>
                <a:spcPct val="100000"/>
              </a:lnSpc>
              <a:spcBef>
                <a:spcPts val="100"/>
              </a:spcBef>
            </a:pPr>
            <a:endParaRPr sz="1400" dirty="0">
              <a:latin typeface="Times New Roman"/>
              <a:cs typeface="Times New Roman"/>
            </a:endParaRPr>
          </a:p>
        </p:txBody>
      </p:sp>
      <p:sp>
        <p:nvSpPr>
          <p:cNvPr id="4" name="object 4"/>
          <p:cNvSpPr txBox="1"/>
          <p:nvPr/>
        </p:nvSpPr>
        <p:spPr>
          <a:xfrm>
            <a:off x="553719" y="8818245"/>
            <a:ext cx="1873885" cy="568960"/>
          </a:xfrm>
          <a:prstGeom prst="rect">
            <a:avLst/>
          </a:prstGeom>
        </p:spPr>
        <p:txBody>
          <a:bodyPr vert="horz" wrap="square" lIns="0" tIns="12700" rIns="0" bIns="0" rtlCol="0">
            <a:spAutoFit/>
          </a:bodyPr>
          <a:lstStyle/>
          <a:p>
            <a:pPr marL="12700">
              <a:lnSpc>
                <a:spcPct val="100000"/>
              </a:lnSpc>
              <a:spcBef>
                <a:spcPts val="100"/>
              </a:spcBef>
            </a:pPr>
            <a:r>
              <a:rPr sz="1200" b="1" u="sng" dirty="0">
                <a:uFill>
                  <a:solidFill>
                    <a:srgbClr val="000000"/>
                  </a:solidFill>
                </a:uFill>
                <a:latin typeface="Times New Roman"/>
                <a:cs typeface="Times New Roman"/>
              </a:rPr>
              <a:t>Fig</a:t>
            </a:r>
            <a:r>
              <a:rPr sz="1200" b="1" u="sng" spc="-1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7.1.1:</a:t>
            </a:r>
            <a:r>
              <a:rPr sz="1200" b="1" u="sng" spc="-1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Testing</a:t>
            </a:r>
            <a:r>
              <a:rPr sz="1200" b="1" u="sng" spc="-10" dirty="0">
                <a:uFill>
                  <a:solidFill>
                    <a:srgbClr val="000000"/>
                  </a:solidFill>
                </a:uFill>
                <a:latin typeface="Times New Roman"/>
                <a:cs typeface="Times New Roman"/>
              </a:rPr>
              <a:t> Objectives</a:t>
            </a:r>
            <a:endParaRPr sz="1200" dirty="0">
              <a:latin typeface="Times New Roman"/>
              <a:cs typeface="Times New Roman"/>
            </a:endParaRPr>
          </a:p>
          <a:p>
            <a:pPr marL="12700">
              <a:lnSpc>
                <a:spcPct val="100000"/>
              </a:lnSpc>
              <a:spcBef>
                <a:spcPts val="1155"/>
              </a:spcBef>
            </a:pPr>
            <a:r>
              <a:rPr sz="1400" b="1" dirty="0">
                <a:latin typeface="Times New Roman"/>
                <a:cs typeface="Times New Roman"/>
              </a:rPr>
              <a:t>7.2</a:t>
            </a:r>
            <a:r>
              <a:rPr sz="1400" b="1" spc="-10" dirty="0">
                <a:latin typeface="Times New Roman"/>
                <a:cs typeface="Times New Roman"/>
              </a:rPr>
              <a:t> </a:t>
            </a:r>
            <a:r>
              <a:rPr sz="1400" b="1" dirty="0">
                <a:latin typeface="Times New Roman"/>
                <a:cs typeface="Times New Roman"/>
              </a:rPr>
              <a:t>Types</a:t>
            </a:r>
            <a:r>
              <a:rPr sz="1400" b="1" spc="-5" dirty="0">
                <a:latin typeface="Times New Roman"/>
                <a:cs typeface="Times New Roman"/>
              </a:rPr>
              <a:t> </a:t>
            </a:r>
            <a:r>
              <a:rPr sz="1400" b="1" dirty="0">
                <a:latin typeface="Times New Roman"/>
                <a:cs typeface="Times New Roman"/>
              </a:rPr>
              <a:t>of</a:t>
            </a:r>
            <a:r>
              <a:rPr sz="1400" b="1" spc="-10" dirty="0">
                <a:latin typeface="Times New Roman"/>
                <a:cs typeface="Times New Roman"/>
              </a:rPr>
              <a:t> Testing</a:t>
            </a:r>
            <a:endParaRPr sz="1400" dirty="0">
              <a:latin typeface="Times New Roman"/>
              <a:cs typeface="Times New Roman"/>
            </a:endParaRPr>
          </a:p>
        </p:txBody>
      </p:sp>
      <p:pic>
        <p:nvPicPr>
          <p:cNvPr id="5" name="object 5"/>
          <p:cNvPicPr/>
          <p:nvPr/>
        </p:nvPicPr>
        <p:blipFill>
          <a:blip r:embed="rId2" cstate="print"/>
          <a:stretch>
            <a:fillRect/>
          </a:stretch>
        </p:blipFill>
        <p:spPr>
          <a:xfrm>
            <a:off x="734314" y="3898900"/>
            <a:ext cx="5638800" cy="4344393"/>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29</a:t>
            </a:fld>
            <a:r>
              <a:rPr spc="-2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30</a:t>
            </a:fld>
            <a:r>
              <a:rPr spc="-20" dirty="0"/>
              <a:t>]</a:t>
            </a:r>
          </a:p>
        </p:txBody>
      </p:sp>
      <p:sp>
        <p:nvSpPr>
          <p:cNvPr id="2" name="object 2"/>
          <p:cNvSpPr txBox="1"/>
          <p:nvPr/>
        </p:nvSpPr>
        <p:spPr>
          <a:xfrm>
            <a:off x="528319" y="372871"/>
            <a:ext cx="6650355" cy="9059403"/>
          </a:xfrm>
          <a:prstGeom prst="rect">
            <a:avLst/>
          </a:prstGeom>
        </p:spPr>
        <p:txBody>
          <a:bodyPr vert="horz" wrap="square" lIns="0" tIns="12700" rIns="0" bIns="0" rtlCol="0">
            <a:spAutoFit/>
          </a:bodyPr>
          <a:lstStyle/>
          <a:p>
            <a:pPr marL="165100" indent="-152400">
              <a:lnSpc>
                <a:spcPct val="100000"/>
              </a:lnSpc>
              <a:spcBef>
                <a:spcPts val="100"/>
              </a:spcBef>
              <a:buAutoNum type="alphaLcPeriod"/>
              <a:tabLst>
                <a:tab pos="165100" algn="l"/>
              </a:tabLst>
            </a:pPr>
            <a:r>
              <a:rPr sz="1200" b="1" dirty="0">
                <a:latin typeface="Times New Roman"/>
                <a:cs typeface="Times New Roman"/>
              </a:rPr>
              <a:t>Unit</a:t>
            </a:r>
            <a:r>
              <a:rPr sz="1200" b="1" spc="-5" dirty="0">
                <a:latin typeface="Times New Roman"/>
                <a:cs typeface="Times New Roman"/>
              </a:rPr>
              <a:t> </a:t>
            </a:r>
            <a:r>
              <a:rPr sz="1200" b="1" spc="-10" dirty="0" smtClean="0">
                <a:latin typeface="Times New Roman"/>
                <a:cs typeface="Times New Roman"/>
              </a:rPr>
              <a:t>Testing</a:t>
            </a:r>
            <a:endParaRPr lang="en-US" sz="1200" b="1" spc="-10" dirty="0" smtClean="0">
              <a:latin typeface="Times New Roman"/>
              <a:cs typeface="Times New Roman"/>
            </a:endParaRPr>
          </a:p>
          <a:p>
            <a:pPr marL="12700">
              <a:lnSpc>
                <a:spcPct val="100000"/>
              </a:lnSpc>
              <a:spcBef>
                <a:spcPts val="100"/>
              </a:spcBef>
              <a:tabLst>
                <a:tab pos="165100" algn="l"/>
              </a:tabLst>
            </a:pPr>
            <a:endParaRPr sz="1200" dirty="0">
              <a:latin typeface="Times New Roman"/>
              <a:cs typeface="Times New Roman"/>
            </a:endParaRPr>
          </a:p>
          <a:p>
            <a:pPr marL="285750" indent="-285750">
              <a:buFont typeface="Wingdings" pitchFamily="2" charset="2"/>
              <a:buChar char="v"/>
            </a:pPr>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Test individual components or functions of the website to ensure they work correctly.</a:t>
            </a:r>
          </a:p>
          <a:p>
            <a:endParaRPr lang="en-US" sz="1200" dirty="0" smtClean="0">
              <a:latin typeface="Times New Roman" pitchFamily="18" charset="0"/>
              <a:cs typeface="Times New Roman" pitchFamily="18" charset="0"/>
            </a:endParaRPr>
          </a:p>
          <a:p>
            <a:pPr marL="285750" indent="-285750">
              <a:buFont typeface="Wingdings" pitchFamily="2" charset="2"/>
              <a:buChar char="v"/>
            </a:pPr>
            <a:r>
              <a:rPr lang="en-US" sz="1200" b="1" dirty="0" smtClean="0">
                <a:latin typeface="Times New Roman" pitchFamily="18" charset="0"/>
                <a:cs typeface="Times New Roman" pitchFamily="18" charset="0"/>
              </a:rPr>
              <a:t>Example Tests:</a:t>
            </a: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 Test PHP functions for user registration, login authentication, subscription processing, and payment handling.</a:t>
            </a:r>
          </a:p>
          <a:p>
            <a:pPr marL="285750" indent="-285750">
              <a:buFont typeface="Arial" pitchFamily="34" charset="0"/>
              <a:buChar char="•"/>
            </a:pPr>
            <a:r>
              <a:rPr lang="en-US" sz="1200" dirty="0" smtClean="0">
                <a:latin typeface="Times New Roman" pitchFamily="18" charset="0"/>
                <a:cs typeface="Times New Roman" pitchFamily="18" charset="0"/>
              </a:rPr>
              <a:t>Verify that the database queries for fetching workout plans, nutrition guides, and store items return correct data.</a:t>
            </a:r>
          </a:p>
          <a:p>
            <a:pPr marL="285750" indent="-285750">
              <a:buFont typeface="Arial" pitchFamily="34" charset="0"/>
              <a:buChar char="•"/>
            </a:pPr>
            <a:r>
              <a:rPr lang="en-US" sz="1200" dirty="0" smtClean="0">
                <a:latin typeface="Times New Roman" pitchFamily="18" charset="0"/>
                <a:cs typeface="Times New Roman" pitchFamily="18" charset="0"/>
              </a:rPr>
              <a:t>Test cart functionality to ensure correct product addition, removal, and price calculation.</a:t>
            </a:r>
          </a:p>
          <a:p>
            <a:pPr marL="469900" lvl="1" indent="-228600">
              <a:lnSpc>
                <a:spcPct val="100000"/>
              </a:lnSpc>
              <a:spcBef>
                <a:spcPts val="1150"/>
              </a:spcBef>
              <a:buSzPct val="83333"/>
              <a:buFont typeface="Symbol"/>
              <a:buChar char=""/>
              <a:tabLst>
                <a:tab pos="469900" algn="l"/>
              </a:tabLst>
            </a:pPr>
            <a:endParaRPr sz="1200" dirty="0">
              <a:latin typeface="Times New Roman"/>
              <a:cs typeface="Times New Roman"/>
            </a:endParaRPr>
          </a:p>
          <a:p>
            <a:pPr marL="173355" indent="-160655">
              <a:lnSpc>
                <a:spcPct val="100000"/>
              </a:lnSpc>
              <a:spcBef>
                <a:spcPts val="1140"/>
              </a:spcBef>
              <a:buAutoNum type="alphaLcPeriod"/>
              <a:tabLst>
                <a:tab pos="173355" algn="l"/>
              </a:tabLst>
            </a:pPr>
            <a:r>
              <a:rPr sz="1200" b="1" dirty="0">
                <a:latin typeface="Times New Roman"/>
                <a:cs typeface="Times New Roman"/>
              </a:rPr>
              <a:t>Integration</a:t>
            </a:r>
            <a:r>
              <a:rPr sz="1200" b="1" spc="-40" dirty="0">
                <a:latin typeface="Times New Roman"/>
                <a:cs typeface="Times New Roman"/>
              </a:rPr>
              <a:t> </a:t>
            </a:r>
            <a:r>
              <a:rPr sz="1200" b="1" spc="-10" dirty="0" smtClean="0">
                <a:latin typeface="Times New Roman"/>
                <a:cs typeface="Times New Roman"/>
              </a:rPr>
              <a:t>Testing</a:t>
            </a:r>
            <a:endParaRPr lang="en-US" sz="1200" b="1" spc="-10" dirty="0" smtClean="0">
              <a:latin typeface="Times New Roman"/>
              <a:cs typeface="Times New Roman"/>
            </a:endParaRPr>
          </a:p>
          <a:p>
            <a:pPr marL="173355" indent="-160655">
              <a:lnSpc>
                <a:spcPct val="100000"/>
              </a:lnSpc>
              <a:spcBef>
                <a:spcPts val="1140"/>
              </a:spcBef>
              <a:buAutoNum type="alphaLcPeriod"/>
              <a:tabLst>
                <a:tab pos="173355" algn="l"/>
              </a:tabLst>
            </a:pPr>
            <a:endParaRPr sz="1200" dirty="0">
              <a:latin typeface="Times New Roman"/>
              <a:cs typeface="Times New Roman"/>
            </a:endParaRPr>
          </a:p>
          <a:p>
            <a:pPr marL="171450" indent="-171450">
              <a:buFont typeface="Wingdings" pitchFamily="2" charset="2"/>
              <a:buChar char="v"/>
            </a:pPr>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Test how different modules of the website interact to ensure smooth operation.</a:t>
            </a:r>
          </a:p>
          <a:p>
            <a:pPr marL="171450" indent="-171450">
              <a:buFont typeface="Wingdings" pitchFamily="2" charset="2"/>
              <a:buChar char="v"/>
            </a:pPr>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Example Tests:</a:t>
            </a: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Verify that users with valid subscriptions can access their selected workout plans and nutrition guides.</a:t>
            </a:r>
          </a:p>
          <a:p>
            <a:pPr marL="171450" indent="-171450">
              <a:buFont typeface="Arial" pitchFamily="34" charset="0"/>
              <a:buChar char="•"/>
            </a:pPr>
            <a:r>
              <a:rPr lang="en-US" sz="1200" dirty="0" smtClean="0">
                <a:latin typeface="Times New Roman" pitchFamily="18" charset="0"/>
                <a:cs typeface="Times New Roman" pitchFamily="18" charset="0"/>
              </a:rPr>
              <a:t>Test that successful product purchases update user order history in the database.</a:t>
            </a:r>
          </a:p>
          <a:p>
            <a:pPr marL="171450" indent="-171450">
              <a:buFont typeface="Arial" pitchFamily="34" charset="0"/>
              <a:buChar char="•"/>
            </a:pPr>
            <a:r>
              <a:rPr lang="en-US" sz="1200" dirty="0" smtClean="0">
                <a:latin typeface="Times New Roman" pitchFamily="18" charset="0"/>
                <a:cs typeface="Times New Roman" pitchFamily="18" charset="0"/>
              </a:rPr>
              <a:t>Check integration between the feedback form and the database to ensure user suggestions are properly recorded.</a:t>
            </a:r>
          </a:p>
          <a:p>
            <a:pPr marL="469900" marR="9525" lvl="1" indent="-228600">
              <a:lnSpc>
                <a:spcPct val="110200"/>
              </a:lnSpc>
              <a:spcBef>
                <a:spcPts val="1005"/>
              </a:spcBef>
              <a:buSzPct val="83333"/>
              <a:buFont typeface="Symbol"/>
              <a:buChar char=""/>
              <a:tabLst>
                <a:tab pos="469900" algn="l"/>
              </a:tabLst>
            </a:pPr>
            <a:endParaRPr sz="1200" dirty="0">
              <a:latin typeface="Times New Roman"/>
              <a:cs typeface="Times New Roman"/>
            </a:endParaRPr>
          </a:p>
          <a:p>
            <a:r>
              <a:rPr lang="en-US" sz="1200" b="1" dirty="0" smtClean="0">
                <a:latin typeface="Times New Roman"/>
                <a:cs typeface="Times New Roman"/>
              </a:rPr>
              <a:t>b. </a:t>
            </a:r>
            <a:r>
              <a:rPr sz="1200" b="1" dirty="0" smtClean="0">
                <a:latin typeface="Times New Roman"/>
                <a:cs typeface="Times New Roman"/>
              </a:rPr>
              <a:t>Functional</a:t>
            </a:r>
            <a:r>
              <a:rPr sz="1200" b="1" spc="-20" dirty="0" smtClean="0">
                <a:latin typeface="Times New Roman"/>
                <a:cs typeface="Times New Roman"/>
              </a:rPr>
              <a:t> </a:t>
            </a:r>
            <a:r>
              <a:rPr sz="1200" b="1" spc="-10" dirty="0" smtClean="0">
                <a:latin typeface="Times New Roman"/>
                <a:cs typeface="Times New Roman"/>
              </a:rPr>
              <a:t>Testing</a:t>
            </a:r>
            <a:endParaRPr lang="en-US" sz="1200" b="1" spc="-10" dirty="0" smtClean="0">
              <a:latin typeface="Times New Roman"/>
              <a:cs typeface="Times New Roman"/>
            </a:endParaRPr>
          </a:p>
          <a:p>
            <a:pPr marL="171450" indent="-171450">
              <a:buFont typeface="Wingdings" pitchFamily="2" charset="2"/>
              <a:buChar char="v"/>
            </a:pPr>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a:t>
            </a:r>
          </a:p>
          <a:p>
            <a:pPr marL="171450" indent="-171450">
              <a:buFont typeface="Arial" pitchFamily="34" charset="0"/>
              <a:buChar char="•"/>
            </a:pPr>
            <a:r>
              <a:rPr lang="en-US" sz="1200" dirty="0" smtClean="0">
                <a:latin typeface="Times New Roman" pitchFamily="18" charset="0"/>
                <a:cs typeface="Times New Roman" pitchFamily="18" charset="0"/>
              </a:rPr>
              <a:t>Ensure that the website meets functional requirements and behaves as expected from the user's perspective.</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Example Tests:</a:t>
            </a: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Test user account creation, login/logout, and password reset features.</a:t>
            </a:r>
          </a:p>
          <a:p>
            <a:pPr marL="171450" indent="-171450">
              <a:buFont typeface="Arial" pitchFamily="34" charset="0"/>
              <a:buChar char="•"/>
            </a:pPr>
            <a:r>
              <a:rPr lang="en-US" sz="1200" dirty="0" smtClean="0">
                <a:latin typeface="Times New Roman" pitchFamily="18" charset="0"/>
                <a:cs typeface="Times New Roman" pitchFamily="18" charset="0"/>
              </a:rPr>
              <a:t>Verify the navigation flow between pages such as home, workout plans, store, subscription, and user profile.</a:t>
            </a:r>
          </a:p>
          <a:p>
            <a:pPr marL="171450" indent="-171450">
              <a:buFont typeface="Arial" pitchFamily="34" charset="0"/>
              <a:buChar char="•"/>
            </a:pPr>
            <a:r>
              <a:rPr lang="en-US" sz="1200" dirty="0" smtClean="0">
                <a:latin typeface="Times New Roman" pitchFamily="18" charset="0"/>
                <a:cs typeface="Times New Roman" pitchFamily="18" charset="0"/>
              </a:rPr>
              <a:t>Test the checkout process in the store to ensure users can add/remove products, view totals, and complete simulated transactions</a:t>
            </a:r>
          </a:p>
          <a:p>
            <a:r>
              <a:rPr lang="en-US" sz="1200" dirty="0" smtClean="0">
                <a:latin typeface="Times New Roman" pitchFamily="18" charset="0"/>
                <a:cs typeface="Times New Roman" pitchFamily="18" charset="0"/>
              </a:rPr>
              <a:t>.</a:t>
            </a:r>
          </a:p>
          <a:p>
            <a:r>
              <a:rPr lang="en-US" sz="1200" b="1" dirty="0" smtClean="0">
                <a:latin typeface="Times New Roman"/>
                <a:cs typeface="Times New Roman"/>
              </a:rPr>
              <a:t>c. </a:t>
            </a:r>
            <a:r>
              <a:rPr sz="1200" b="1" dirty="0" smtClean="0">
                <a:latin typeface="Times New Roman"/>
                <a:cs typeface="Times New Roman"/>
              </a:rPr>
              <a:t>User</a:t>
            </a:r>
            <a:r>
              <a:rPr sz="1200" b="1" spc="-35" dirty="0" smtClean="0">
                <a:latin typeface="Times New Roman"/>
                <a:cs typeface="Times New Roman"/>
              </a:rPr>
              <a:t> </a:t>
            </a:r>
            <a:r>
              <a:rPr sz="1200" b="1" dirty="0">
                <a:latin typeface="Times New Roman"/>
                <a:cs typeface="Times New Roman"/>
              </a:rPr>
              <a:t>Acceptance</a:t>
            </a:r>
            <a:r>
              <a:rPr sz="1200" b="1" spc="-35" dirty="0">
                <a:latin typeface="Times New Roman"/>
                <a:cs typeface="Times New Roman"/>
              </a:rPr>
              <a:t> </a:t>
            </a:r>
            <a:r>
              <a:rPr sz="1200" b="1" dirty="0">
                <a:latin typeface="Times New Roman"/>
                <a:cs typeface="Times New Roman"/>
              </a:rPr>
              <a:t>Testing</a:t>
            </a:r>
            <a:r>
              <a:rPr sz="1200" b="1" spc="-25" dirty="0">
                <a:latin typeface="Times New Roman"/>
                <a:cs typeface="Times New Roman"/>
              </a:rPr>
              <a:t> </a:t>
            </a:r>
            <a:r>
              <a:rPr sz="1200" b="1" spc="-10" dirty="0">
                <a:latin typeface="Times New Roman"/>
                <a:cs typeface="Times New Roman"/>
              </a:rPr>
              <a:t>(UAT</a:t>
            </a:r>
            <a:r>
              <a:rPr sz="1200" b="1" spc="-10" dirty="0" smtClean="0">
                <a:latin typeface="Times New Roman"/>
                <a:cs typeface="Times New Roman"/>
              </a:rPr>
              <a:t>)</a:t>
            </a:r>
            <a:r>
              <a:rPr sz="1200" spc="-10" dirty="0" smtClean="0">
                <a:latin typeface="Times New Roman"/>
                <a:cs typeface="Times New Roman"/>
              </a:rPr>
              <a:t>.</a:t>
            </a:r>
            <a:r>
              <a:rPr lang="en-US" sz="1200" b="1" dirty="0" smtClean="0"/>
              <a:t> </a:t>
            </a:r>
          </a:p>
          <a:p>
            <a:endParaRPr lang="en-US" sz="1200" b="1" dirty="0"/>
          </a:p>
          <a:p>
            <a:pPr marL="171450" indent="-171450">
              <a:buFont typeface="Wingdings" pitchFamily="2" charset="2"/>
              <a:buChar char="v"/>
            </a:pPr>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Validate the website with real users to ensure it meets their expectations.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Method:</a:t>
            </a:r>
            <a:r>
              <a:rPr lang="en-US" sz="1200" dirty="0" smtClean="0">
                <a:latin typeface="Times New Roman" pitchFamily="18" charset="0"/>
                <a:cs typeface="Times New Roman" pitchFamily="18" charset="0"/>
              </a:rPr>
              <a:t> Conduct testing sessions with sample users representing gym members.</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Example Activities:</a:t>
            </a:r>
          </a:p>
          <a:p>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Ask users to register, select workout plans, browse products, and subscribe to membership plans.</a:t>
            </a:r>
          </a:p>
          <a:p>
            <a:pPr marL="171450" indent="-171450">
              <a:buFont typeface="Arial" pitchFamily="34" charset="0"/>
              <a:buChar char="•"/>
            </a:pPr>
            <a:r>
              <a:rPr lang="en-US" sz="1200" dirty="0" smtClean="0">
                <a:latin typeface="Times New Roman" pitchFamily="18" charset="0"/>
                <a:cs typeface="Times New Roman" pitchFamily="18" charset="0"/>
              </a:rPr>
              <a:t>Gather feedback on website usability, navigation, content clarity, and overall satisfaction</a:t>
            </a:r>
            <a:r>
              <a:rPr lang="en-US" sz="1200" dirty="0" smtClean="0"/>
              <a:t>.</a:t>
            </a:r>
          </a:p>
          <a:p>
            <a:pPr marL="12700">
              <a:lnSpc>
                <a:spcPct val="100000"/>
              </a:lnSpc>
              <a:spcBef>
                <a:spcPts val="1140"/>
              </a:spcBef>
              <a:tabLst>
                <a:tab pos="173355" algn="l"/>
              </a:tabLst>
            </a:pPr>
            <a:endParaRPr sz="1200" dirty="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319" y="372871"/>
            <a:ext cx="5855335" cy="2210862"/>
          </a:xfrm>
          <a:prstGeom prst="rect">
            <a:avLst/>
          </a:prstGeom>
        </p:spPr>
        <p:txBody>
          <a:bodyPr vert="horz" wrap="square" lIns="0" tIns="12700" rIns="0" bIns="0" rtlCol="0">
            <a:spAutoFit/>
          </a:bodyPr>
          <a:lstStyle/>
          <a:p>
            <a:pPr marL="12700">
              <a:lnSpc>
                <a:spcPct val="100000"/>
              </a:lnSpc>
              <a:spcBef>
                <a:spcPts val="100"/>
              </a:spcBef>
            </a:pPr>
            <a:r>
              <a:rPr lang="en-US" sz="1200" b="1" dirty="0">
                <a:latin typeface="Times New Roman"/>
                <a:cs typeface="Times New Roman"/>
              </a:rPr>
              <a:t>d</a:t>
            </a:r>
            <a:r>
              <a:rPr sz="1200" b="1" dirty="0" smtClean="0">
                <a:latin typeface="Times New Roman"/>
                <a:cs typeface="Times New Roman"/>
              </a:rPr>
              <a:t>.</a:t>
            </a:r>
            <a:r>
              <a:rPr sz="1200" b="1" spc="-30" dirty="0" smtClean="0">
                <a:latin typeface="Times New Roman"/>
                <a:cs typeface="Times New Roman"/>
              </a:rPr>
              <a:t> </a:t>
            </a:r>
            <a:r>
              <a:rPr sz="1200" b="1" dirty="0">
                <a:latin typeface="Times New Roman"/>
                <a:cs typeface="Times New Roman"/>
              </a:rPr>
              <a:t>Security</a:t>
            </a:r>
            <a:r>
              <a:rPr sz="1200" b="1" spc="-30" dirty="0">
                <a:latin typeface="Times New Roman"/>
                <a:cs typeface="Times New Roman"/>
              </a:rPr>
              <a:t> </a:t>
            </a:r>
            <a:r>
              <a:rPr sz="1200" b="1" spc="-10" dirty="0" smtClean="0">
                <a:latin typeface="Times New Roman"/>
                <a:cs typeface="Times New Roman"/>
              </a:rPr>
              <a:t>Testing</a:t>
            </a:r>
            <a:endParaRPr lang="en-US" sz="1200" b="1" spc="-10" dirty="0" smtClean="0">
              <a:latin typeface="Times New Roman"/>
              <a:cs typeface="Times New Roman"/>
            </a:endParaRPr>
          </a:p>
          <a:p>
            <a:pPr marL="12700">
              <a:lnSpc>
                <a:spcPct val="100000"/>
              </a:lnSpc>
              <a:spcBef>
                <a:spcPts val="100"/>
              </a:spcBef>
            </a:pPr>
            <a:endParaRPr sz="1200" dirty="0">
              <a:latin typeface="Times New Roman"/>
              <a:cs typeface="Times New Roman"/>
            </a:endParaRPr>
          </a:p>
          <a:p>
            <a:pPr marL="171450" indent="-171450">
              <a:buFont typeface="Wingdings" pitchFamily="2" charset="2"/>
              <a:buChar char="v"/>
            </a:pPr>
            <a:r>
              <a:rPr lang="en-US" sz="1200" b="1" dirty="0" smtClean="0">
                <a:latin typeface="Times New Roman" pitchFamily="18" charset="0"/>
                <a:cs typeface="Times New Roman" pitchFamily="18" charset="0"/>
              </a:rPr>
              <a:t>Objective:</a:t>
            </a:r>
            <a:r>
              <a:rPr lang="en-US" sz="1200" dirty="0" smtClean="0">
                <a:latin typeface="Times New Roman" pitchFamily="18" charset="0"/>
                <a:cs typeface="Times New Roman" pitchFamily="18" charset="0"/>
              </a:rPr>
              <a:t> Identify vulnerabilities and ensure user data is protected.</a:t>
            </a:r>
          </a:p>
          <a:p>
            <a:endParaRPr lang="en-US" sz="1200" dirty="0" smtClean="0">
              <a:latin typeface="Times New Roman" pitchFamily="18" charset="0"/>
              <a:cs typeface="Times New Roman" pitchFamily="18" charset="0"/>
            </a:endParaRPr>
          </a:p>
          <a:p>
            <a:pPr marL="171450" indent="-171450">
              <a:buFont typeface="Wingdings" pitchFamily="2" charset="2"/>
              <a:buChar char="v"/>
            </a:pPr>
            <a:r>
              <a:rPr lang="en-US" sz="1200" b="1" dirty="0" smtClean="0">
                <a:latin typeface="Times New Roman" pitchFamily="18" charset="0"/>
                <a:cs typeface="Times New Roman" pitchFamily="18" charset="0"/>
              </a:rPr>
              <a:t>Example Tests:</a:t>
            </a:r>
            <a:endParaRPr lang="en-US" sz="1200" dirty="0" smtClean="0">
              <a:latin typeface="Times New Roman" pitchFamily="18" charset="0"/>
              <a:cs typeface="Times New Roman" pitchFamily="18" charset="0"/>
            </a:endParaRPr>
          </a:p>
          <a:p>
            <a:pPr marL="171450" indent="-171450">
              <a:buFont typeface="Arial" pitchFamily="34" charset="0"/>
              <a:buChar char="•"/>
            </a:pPr>
            <a:r>
              <a:rPr lang="en-US" sz="1200" dirty="0" smtClean="0">
                <a:latin typeface="Times New Roman" pitchFamily="18" charset="0"/>
                <a:cs typeface="Times New Roman" pitchFamily="18" charset="0"/>
              </a:rPr>
              <a:t>Test for SQL injection, cross-site scripting (XSS), and other common web security vulnerabilities.</a:t>
            </a:r>
          </a:p>
          <a:p>
            <a:pPr marL="171450" indent="-171450">
              <a:buFont typeface="Arial" pitchFamily="34" charset="0"/>
              <a:buChar char="•"/>
            </a:pPr>
            <a:r>
              <a:rPr lang="en-US" sz="1200" dirty="0" smtClean="0">
                <a:latin typeface="Times New Roman" pitchFamily="18" charset="0"/>
                <a:cs typeface="Times New Roman" pitchFamily="18" charset="0"/>
              </a:rPr>
              <a:t>Verify that sensitive user information such as passwords is securely stored (e.g., hashed in the database).</a:t>
            </a:r>
          </a:p>
          <a:p>
            <a:pPr marL="171450" indent="-171450">
              <a:buFont typeface="Arial" pitchFamily="34" charset="0"/>
              <a:buChar char="•"/>
            </a:pPr>
            <a:r>
              <a:rPr lang="en-US" sz="1200" dirty="0" smtClean="0">
                <a:latin typeface="Times New Roman" pitchFamily="18" charset="0"/>
                <a:cs typeface="Times New Roman" pitchFamily="18" charset="0"/>
              </a:rPr>
              <a:t>Ensure all data transmission uses HTTPS for secure communication.</a:t>
            </a:r>
          </a:p>
          <a:p>
            <a:pPr marL="469900" indent="-228600">
              <a:lnSpc>
                <a:spcPct val="100000"/>
              </a:lnSpc>
              <a:spcBef>
                <a:spcPts val="1150"/>
              </a:spcBef>
              <a:buSzPct val="83333"/>
              <a:buFont typeface="Symbol"/>
              <a:buChar char=""/>
              <a:tabLst>
                <a:tab pos="469900" algn="l"/>
              </a:tabLst>
            </a:pPr>
            <a:endParaRPr sz="1200" dirty="0">
              <a:latin typeface="Times New Roman" pitchFamily="18" charset="0"/>
              <a:cs typeface="Times New Roman" pitchFamily="18" charset="0"/>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31</a:t>
            </a:fld>
            <a:r>
              <a:rPr spc="-20" dirty="0"/>
              <a:t>]</a:t>
            </a:r>
          </a:p>
        </p:txBody>
      </p:sp>
      <p:sp>
        <p:nvSpPr>
          <p:cNvPr id="6" name="object 2"/>
          <p:cNvSpPr txBox="1"/>
          <p:nvPr/>
        </p:nvSpPr>
        <p:spPr>
          <a:xfrm>
            <a:off x="273050" y="2567858"/>
            <a:ext cx="6647180" cy="5083058"/>
          </a:xfrm>
          <a:prstGeom prst="rect">
            <a:avLst/>
          </a:prstGeom>
        </p:spPr>
        <p:txBody>
          <a:bodyPr vert="horz" wrap="square" lIns="0" tIns="12700" rIns="0" bIns="0" rtlCol="0">
            <a:spAutoFit/>
          </a:bodyPr>
          <a:lstStyle/>
          <a:p>
            <a:pPr marL="278765" lvl="1" indent="-266065">
              <a:lnSpc>
                <a:spcPct val="100000"/>
              </a:lnSpc>
              <a:spcBef>
                <a:spcPts val="1140"/>
              </a:spcBef>
              <a:buAutoNum type="arabicPeriod" startAt="3"/>
              <a:tabLst>
                <a:tab pos="278765" algn="l"/>
              </a:tabLst>
            </a:pPr>
            <a:r>
              <a:rPr sz="1400" b="1" dirty="0" smtClean="0">
                <a:latin typeface="Times New Roman"/>
                <a:cs typeface="Times New Roman"/>
              </a:rPr>
              <a:t>Validation</a:t>
            </a:r>
            <a:r>
              <a:rPr sz="1400" b="1" spc="-45" dirty="0" smtClean="0">
                <a:latin typeface="Times New Roman"/>
                <a:cs typeface="Times New Roman"/>
              </a:rPr>
              <a:t> </a:t>
            </a:r>
            <a:r>
              <a:rPr sz="1400" b="1" spc="-10" dirty="0">
                <a:latin typeface="Times New Roman"/>
                <a:cs typeface="Times New Roman"/>
              </a:rPr>
              <a:t>Strategies</a:t>
            </a:r>
            <a:endParaRPr sz="1400" dirty="0">
              <a:latin typeface="Times New Roman"/>
              <a:cs typeface="Times New Roman"/>
            </a:endParaRPr>
          </a:p>
          <a:p>
            <a:pPr marL="469900" marR="5715" lvl="2" indent="-228600">
              <a:lnSpc>
                <a:spcPct val="110100"/>
              </a:lnSpc>
              <a:spcBef>
                <a:spcPts val="1030"/>
              </a:spcBef>
              <a:buSzPct val="83333"/>
              <a:buFont typeface="Symbol"/>
              <a:buChar char=""/>
              <a:tabLst>
                <a:tab pos="469900" algn="l"/>
              </a:tabLst>
            </a:pPr>
            <a:r>
              <a:rPr sz="1200" b="1" dirty="0">
                <a:latin typeface="Times New Roman"/>
                <a:cs typeface="Times New Roman"/>
              </a:rPr>
              <a:t>Data</a:t>
            </a:r>
            <a:r>
              <a:rPr sz="1200" b="1" spc="204" dirty="0">
                <a:latin typeface="Times New Roman"/>
                <a:cs typeface="Times New Roman"/>
              </a:rPr>
              <a:t> </a:t>
            </a:r>
            <a:r>
              <a:rPr sz="1200" b="1" dirty="0">
                <a:latin typeface="Times New Roman"/>
                <a:cs typeface="Times New Roman"/>
              </a:rPr>
              <a:t>Validation</a:t>
            </a:r>
            <a:r>
              <a:rPr sz="1200" dirty="0">
                <a:latin typeface="Times New Roman"/>
                <a:cs typeface="Times New Roman"/>
              </a:rPr>
              <a:t>:</a:t>
            </a:r>
            <a:r>
              <a:rPr sz="1200" spc="215" dirty="0">
                <a:latin typeface="Times New Roman"/>
                <a:cs typeface="Times New Roman"/>
              </a:rPr>
              <a:t> </a:t>
            </a:r>
            <a:r>
              <a:rPr sz="1200" dirty="0">
                <a:latin typeface="Times New Roman"/>
                <a:cs typeface="Times New Roman"/>
              </a:rPr>
              <a:t>Ensure</a:t>
            </a:r>
            <a:r>
              <a:rPr sz="1200" spc="204" dirty="0">
                <a:latin typeface="Times New Roman"/>
                <a:cs typeface="Times New Roman"/>
              </a:rPr>
              <a:t> </a:t>
            </a:r>
            <a:r>
              <a:rPr sz="1200" dirty="0">
                <a:latin typeface="Times New Roman"/>
                <a:cs typeface="Times New Roman"/>
              </a:rPr>
              <a:t>that</a:t>
            </a:r>
            <a:r>
              <a:rPr sz="1200" spc="210" dirty="0">
                <a:latin typeface="Times New Roman"/>
                <a:cs typeface="Times New Roman"/>
              </a:rPr>
              <a:t> </a:t>
            </a:r>
            <a:r>
              <a:rPr sz="1200" dirty="0">
                <a:latin typeface="Times New Roman"/>
                <a:cs typeface="Times New Roman"/>
              </a:rPr>
              <a:t>the</a:t>
            </a:r>
            <a:r>
              <a:rPr sz="1200" spc="210" dirty="0">
                <a:latin typeface="Times New Roman"/>
                <a:cs typeface="Times New Roman"/>
              </a:rPr>
              <a:t> </a:t>
            </a:r>
            <a:r>
              <a:rPr sz="1200" dirty="0">
                <a:latin typeface="Times New Roman"/>
                <a:cs typeface="Times New Roman"/>
              </a:rPr>
              <a:t>data</a:t>
            </a:r>
            <a:r>
              <a:rPr sz="1200" spc="210" dirty="0">
                <a:latin typeface="Times New Roman"/>
                <a:cs typeface="Times New Roman"/>
              </a:rPr>
              <a:t> </a:t>
            </a:r>
            <a:r>
              <a:rPr sz="1200" dirty="0">
                <a:latin typeface="Times New Roman"/>
                <a:cs typeface="Times New Roman"/>
              </a:rPr>
              <a:t>retrieved</a:t>
            </a:r>
            <a:r>
              <a:rPr sz="1200" spc="220" dirty="0">
                <a:latin typeface="Times New Roman"/>
                <a:cs typeface="Times New Roman"/>
              </a:rPr>
              <a:t> </a:t>
            </a:r>
            <a:r>
              <a:rPr sz="1200" dirty="0">
                <a:latin typeface="Times New Roman"/>
                <a:cs typeface="Times New Roman"/>
              </a:rPr>
              <a:t>from</a:t>
            </a:r>
            <a:r>
              <a:rPr sz="1200" spc="215" dirty="0">
                <a:latin typeface="Times New Roman"/>
                <a:cs typeface="Times New Roman"/>
              </a:rPr>
              <a:t> </a:t>
            </a:r>
            <a:r>
              <a:rPr sz="1200" dirty="0">
                <a:latin typeface="Times New Roman"/>
                <a:cs typeface="Times New Roman"/>
              </a:rPr>
              <a:t>APIs</a:t>
            </a:r>
            <a:r>
              <a:rPr sz="1200" spc="215" dirty="0">
                <a:latin typeface="Times New Roman"/>
                <a:cs typeface="Times New Roman"/>
              </a:rPr>
              <a:t> </a:t>
            </a:r>
            <a:r>
              <a:rPr sz="1200" dirty="0">
                <a:latin typeface="Times New Roman"/>
                <a:cs typeface="Times New Roman"/>
              </a:rPr>
              <a:t>is</a:t>
            </a:r>
            <a:r>
              <a:rPr sz="1200" spc="215" dirty="0">
                <a:latin typeface="Times New Roman"/>
                <a:cs typeface="Times New Roman"/>
              </a:rPr>
              <a:t> </a:t>
            </a:r>
            <a:r>
              <a:rPr sz="1200" dirty="0">
                <a:latin typeface="Times New Roman"/>
                <a:cs typeface="Times New Roman"/>
              </a:rPr>
              <a:t>accurate</a:t>
            </a:r>
            <a:r>
              <a:rPr sz="1200" spc="220"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dirty="0">
                <a:latin typeface="Times New Roman"/>
                <a:cs typeface="Times New Roman"/>
              </a:rPr>
              <a:t>correctly</a:t>
            </a:r>
            <a:r>
              <a:rPr sz="1200" spc="204" dirty="0">
                <a:latin typeface="Times New Roman"/>
                <a:cs typeface="Times New Roman"/>
              </a:rPr>
              <a:t> </a:t>
            </a:r>
            <a:r>
              <a:rPr sz="1200" spc="-10" dirty="0">
                <a:latin typeface="Times New Roman"/>
                <a:cs typeface="Times New Roman"/>
              </a:rPr>
              <a:t>formatted. </a:t>
            </a:r>
            <a:r>
              <a:rPr sz="1200" dirty="0">
                <a:latin typeface="Times New Roman"/>
                <a:cs typeface="Times New Roman"/>
              </a:rPr>
              <a:t>Implement</a:t>
            </a:r>
            <a:r>
              <a:rPr sz="1200" spc="-25" dirty="0">
                <a:latin typeface="Times New Roman"/>
                <a:cs typeface="Times New Roman"/>
              </a:rPr>
              <a:t> </a:t>
            </a:r>
            <a:r>
              <a:rPr sz="1200" dirty="0">
                <a:latin typeface="Times New Roman"/>
                <a:cs typeface="Times New Roman"/>
              </a:rPr>
              <a:t>checks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handle</a:t>
            </a:r>
            <a:r>
              <a:rPr sz="1200" spc="-30" dirty="0">
                <a:latin typeface="Times New Roman"/>
                <a:cs typeface="Times New Roman"/>
              </a:rPr>
              <a:t> </a:t>
            </a:r>
            <a:r>
              <a:rPr sz="1200" dirty="0">
                <a:latin typeface="Times New Roman"/>
                <a:cs typeface="Times New Roman"/>
              </a:rPr>
              <a:t>errors</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unexpected</a:t>
            </a:r>
            <a:r>
              <a:rPr sz="1200" spc="-25" dirty="0">
                <a:latin typeface="Times New Roman"/>
                <a:cs typeface="Times New Roman"/>
              </a:rPr>
              <a:t> </a:t>
            </a:r>
            <a:r>
              <a:rPr sz="1200" spc="-10" dirty="0">
                <a:latin typeface="Times New Roman"/>
                <a:cs typeface="Times New Roman"/>
              </a:rPr>
              <a:t>data.</a:t>
            </a:r>
            <a:endParaRPr sz="1200" dirty="0">
              <a:latin typeface="Times New Roman"/>
              <a:cs typeface="Times New Roman"/>
            </a:endParaRPr>
          </a:p>
          <a:p>
            <a:pPr marL="469900" marR="5080" lvl="2" indent="-228600">
              <a:lnSpc>
                <a:spcPct val="110000"/>
              </a:lnSpc>
              <a:spcBef>
                <a:spcPts val="1005"/>
              </a:spcBef>
              <a:buSzPct val="83333"/>
              <a:buFont typeface="Symbol"/>
              <a:buChar char=""/>
              <a:tabLst>
                <a:tab pos="469900" algn="l"/>
              </a:tabLst>
            </a:pPr>
            <a:r>
              <a:rPr sz="1200" b="1" dirty="0">
                <a:latin typeface="Times New Roman"/>
                <a:cs typeface="Times New Roman"/>
              </a:rPr>
              <a:t>User</a:t>
            </a:r>
            <a:r>
              <a:rPr sz="1200" b="1" spc="-50" dirty="0">
                <a:latin typeface="Times New Roman"/>
                <a:cs typeface="Times New Roman"/>
              </a:rPr>
              <a:t> </a:t>
            </a:r>
            <a:r>
              <a:rPr sz="1200" b="1" spc="-10" dirty="0">
                <a:latin typeface="Times New Roman"/>
                <a:cs typeface="Times New Roman"/>
              </a:rPr>
              <a:t>Feedback:</a:t>
            </a:r>
            <a:r>
              <a:rPr sz="1200" b="1" spc="-35" dirty="0">
                <a:latin typeface="Times New Roman"/>
                <a:cs typeface="Times New Roman"/>
              </a:rPr>
              <a:t> </a:t>
            </a:r>
            <a:r>
              <a:rPr sz="1200" spc="-10" dirty="0">
                <a:latin typeface="Times New Roman"/>
                <a:cs typeface="Times New Roman"/>
              </a:rPr>
              <a:t>Incorporate</a:t>
            </a:r>
            <a:r>
              <a:rPr sz="1200" spc="-45"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spc="-10" dirty="0">
                <a:latin typeface="Times New Roman"/>
                <a:cs typeface="Times New Roman"/>
              </a:rPr>
              <a:t>feedback</a:t>
            </a:r>
            <a:r>
              <a:rPr sz="1200" spc="-45" dirty="0">
                <a:latin typeface="Times New Roman"/>
                <a:cs typeface="Times New Roman"/>
              </a:rPr>
              <a:t> </a:t>
            </a:r>
            <a:r>
              <a:rPr sz="1200" dirty="0">
                <a:latin typeface="Times New Roman"/>
                <a:cs typeface="Times New Roman"/>
              </a:rPr>
              <a:t>from</a:t>
            </a:r>
            <a:r>
              <a:rPr sz="1200" spc="-40" dirty="0">
                <a:latin typeface="Times New Roman"/>
                <a:cs typeface="Times New Roman"/>
              </a:rPr>
              <a:t> </a:t>
            </a:r>
            <a:r>
              <a:rPr sz="1200" dirty="0">
                <a:latin typeface="Times New Roman"/>
                <a:cs typeface="Times New Roman"/>
              </a:rPr>
              <a:t>UAT</a:t>
            </a:r>
            <a:r>
              <a:rPr sz="1200" spc="-4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validate</a:t>
            </a:r>
            <a:r>
              <a:rPr sz="1200" spc="-45"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app</a:t>
            </a:r>
            <a:r>
              <a:rPr sz="1200" spc="-45" dirty="0">
                <a:latin typeface="Times New Roman"/>
                <a:cs typeface="Times New Roman"/>
              </a:rPr>
              <a:t> </a:t>
            </a:r>
            <a:r>
              <a:rPr sz="1200" dirty="0">
                <a:latin typeface="Times New Roman"/>
                <a:cs typeface="Times New Roman"/>
              </a:rPr>
              <a:t>meets</a:t>
            </a:r>
            <a:r>
              <a:rPr sz="1200" spc="-40"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spc="-10" dirty="0">
                <a:latin typeface="Times New Roman"/>
                <a:cs typeface="Times New Roman"/>
              </a:rPr>
              <a:t>expectations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make</a:t>
            </a:r>
            <a:r>
              <a:rPr sz="1200" spc="-35" dirty="0">
                <a:latin typeface="Times New Roman"/>
                <a:cs typeface="Times New Roman"/>
              </a:rPr>
              <a:t> </a:t>
            </a:r>
            <a:r>
              <a:rPr sz="1200" dirty="0">
                <a:latin typeface="Times New Roman"/>
                <a:cs typeface="Times New Roman"/>
              </a:rPr>
              <a:t>necessary</a:t>
            </a:r>
            <a:r>
              <a:rPr sz="1200" spc="-20" dirty="0">
                <a:latin typeface="Times New Roman"/>
                <a:cs typeface="Times New Roman"/>
              </a:rPr>
              <a:t> </a:t>
            </a:r>
            <a:r>
              <a:rPr sz="1200" spc="-10" dirty="0">
                <a:latin typeface="Times New Roman"/>
                <a:cs typeface="Times New Roman"/>
              </a:rPr>
              <a:t>adjustments.</a:t>
            </a:r>
            <a:endParaRPr sz="1200" dirty="0">
              <a:latin typeface="Times New Roman"/>
              <a:cs typeface="Times New Roman"/>
            </a:endParaRPr>
          </a:p>
          <a:p>
            <a:pPr marL="469900" marR="5715" lvl="2" indent="-228600">
              <a:lnSpc>
                <a:spcPct val="110000"/>
              </a:lnSpc>
              <a:spcBef>
                <a:spcPts val="1010"/>
              </a:spcBef>
              <a:buSzPct val="83333"/>
              <a:buFont typeface="Symbol"/>
              <a:buChar char=""/>
              <a:tabLst>
                <a:tab pos="469900" algn="l"/>
              </a:tabLst>
            </a:pPr>
            <a:r>
              <a:rPr sz="1200" b="1" dirty="0">
                <a:latin typeface="Times New Roman"/>
                <a:cs typeface="Times New Roman"/>
              </a:rPr>
              <a:t>Compliance</a:t>
            </a:r>
            <a:r>
              <a:rPr sz="1200" b="1" spc="-60" dirty="0">
                <a:latin typeface="Times New Roman"/>
                <a:cs typeface="Times New Roman"/>
              </a:rPr>
              <a:t> </a:t>
            </a:r>
            <a:r>
              <a:rPr sz="1200" b="1" dirty="0">
                <a:latin typeface="Times New Roman"/>
                <a:cs typeface="Times New Roman"/>
              </a:rPr>
              <a:t>Testing:</a:t>
            </a:r>
            <a:r>
              <a:rPr sz="1200" b="1" spc="-40" dirty="0">
                <a:latin typeface="Times New Roman"/>
                <a:cs typeface="Times New Roman"/>
              </a:rPr>
              <a:t> </a:t>
            </a:r>
            <a:r>
              <a:rPr sz="1200" dirty="0">
                <a:latin typeface="Times New Roman"/>
                <a:cs typeface="Times New Roman"/>
              </a:rPr>
              <a:t>Ensure</a:t>
            </a:r>
            <a:r>
              <a:rPr sz="1200" spc="-50"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app</a:t>
            </a:r>
            <a:r>
              <a:rPr sz="1200" spc="-35" dirty="0">
                <a:latin typeface="Times New Roman"/>
                <a:cs typeface="Times New Roman"/>
              </a:rPr>
              <a:t> </a:t>
            </a:r>
            <a:r>
              <a:rPr sz="1200" dirty="0">
                <a:latin typeface="Times New Roman"/>
                <a:cs typeface="Times New Roman"/>
              </a:rPr>
              <a:t>complies</a:t>
            </a:r>
            <a:r>
              <a:rPr sz="1200" spc="-4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relevant</a:t>
            </a:r>
            <a:r>
              <a:rPr sz="1200" spc="-40" dirty="0">
                <a:latin typeface="Times New Roman"/>
                <a:cs typeface="Times New Roman"/>
              </a:rPr>
              <a:t> </a:t>
            </a:r>
            <a:r>
              <a:rPr sz="1200" spc="-10" dirty="0">
                <a:latin typeface="Times New Roman"/>
                <a:cs typeface="Times New Roman"/>
              </a:rPr>
              <a:t>regulations</a:t>
            </a:r>
            <a:r>
              <a:rPr sz="1200" spc="-40" dirty="0">
                <a:latin typeface="Times New Roman"/>
                <a:cs typeface="Times New Roman"/>
              </a:rPr>
              <a:t> </a:t>
            </a:r>
            <a:r>
              <a:rPr sz="1200" dirty="0">
                <a:latin typeface="Times New Roman"/>
                <a:cs typeface="Times New Roman"/>
              </a:rPr>
              <a:t>(e.g.,</a:t>
            </a:r>
            <a:r>
              <a:rPr sz="1200" spc="-4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privacy</a:t>
            </a:r>
            <a:r>
              <a:rPr sz="1200" spc="-40" dirty="0">
                <a:latin typeface="Times New Roman"/>
                <a:cs typeface="Times New Roman"/>
              </a:rPr>
              <a:t> </a:t>
            </a:r>
            <a:r>
              <a:rPr sz="1200" spc="-10" dirty="0">
                <a:latin typeface="Times New Roman"/>
                <a:cs typeface="Times New Roman"/>
              </a:rPr>
              <a:t>laws)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best</a:t>
            </a:r>
            <a:r>
              <a:rPr sz="1200" spc="-20" dirty="0">
                <a:latin typeface="Times New Roman"/>
                <a:cs typeface="Times New Roman"/>
              </a:rPr>
              <a:t> </a:t>
            </a:r>
            <a:r>
              <a:rPr sz="1200" dirty="0">
                <a:latin typeface="Times New Roman"/>
                <a:cs typeface="Times New Roman"/>
              </a:rPr>
              <a:t>practices</a:t>
            </a:r>
            <a:r>
              <a:rPr sz="1200" spc="-2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handling.</a:t>
            </a:r>
            <a:endParaRPr sz="1200" dirty="0">
              <a:latin typeface="Times New Roman"/>
              <a:cs typeface="Times New Roman"/>
            </a:endParaRPr>
          </a:p>
          <a:p>
            <a:pPr marL="278765" lvl="1" indent="-266065">
              <a:lnSpc>
                <a:spcPct val="100000"/>
              </a:lnSpc>
              <a:spcBef>
                <a:spcPts val="1145"/>
              </a:spcBef>
              <a:buAutoNum type="arabicPeriod" startAt="3"/>
              <a:tabLst>
                <a:tab pos="278765" algn="l"/>
              </a:tabLst>
            </a:pPr>
            <a:r>
              <a:rPr sz="1400" b="1" dirty="0">
                <a:latin typeface="Times New Roman"/>
                <a:cs typeface="Times New Roman"/>
              </a:rPr>
              <a:t>Documentation</a:t>
            </a:r>
            <a:r>
              <a:rPr sz="1400" b="1" spc="-50" dirty="0">
                <a:latin typeface="Times New Roman"/>
                <a:cs typeface="Times New Roman"/>
              </a:rPr>
              <a:t> </a:t>
            </a:r>
            <a:r>
              <a:rPr sz="1400" b="1" dirty="0">
                <a:latin typeface="Times New Roman"/>
                <a:cs typeface="Times New Roman"/>
              </a:rPr>
              <a:t>of</a:t>
            </a:r>
            <a:r>
              <a:rPr sz="1400" b="1" spc="-30" dirty="0">
                <a:latin typeface="Times New Roman"/>
                <a:cs typeface="Times New Roman"/>
              </a:rPr>
              <a:t> </a:t>
            </a:r>
            <a:r>
              <a:rPr sz="1400" b="1" dirty="0">
                <a:latin typeface="Times New Roman"/>
                <a:cs typeface="Times New Roman"/>
              </a:rPr>
              <a:t>Testing</a:t>
            </a:r>
            <a:r>
              <a:rPr sz="1400" b="1" spc="-45" dirty="0">
                <a:latin typeface="Times New Roman"/>
                <a:cs typeface="Times New Roman"/>
              </a:rPr>
              <a:t> </a:t>
            </a:r>
            <a:r>
              <a:rPr sz="1400" b="1" spc="-10" dirty="0">
                <a:latin typeface="Times New Roman"/>
                <a:cs typeface="Times New Roman"/>
              </a:rPr>
              <a:t>Results</a:t>
            </a:r>
            <a:endParaRPr sz="1400" dirty="0">
              <a:latin typeface="Times New Roman"/>
              <a:cs typeface="Times New Roman"/>
            </a:endParaRPr>
          </a:p>
          <a:p>
            <a:pPr marL="469900" lvl="2" indent="-228600">
              <a:lnSpc>
                <a:spcPct val="100000"/>
              </a:lnSpc>
              <a:spcBef>
                <a:spcPts val="1170"/>
              </a:spcBef>
              <a:buSzPct val="83333"/>
              <a:buFont typeface="Symbol"/>
              <a:buChar char=""/>
              <a:tabLst>
                <a:tab pos="469900" algn="l"/>
              </a:tabLst>
            </a:pPr>
            <a:r>
              <a:rPr sz="1200" dirty="0">
                <a:latin typeface="Times New Roman"/>
                <a:cs typeface="Times New Roman"/>
              </a:rPr>
              <a:t>Maintain</a:t>
            </a:r>
            <a:r>
              <a:rPr sz="1200" spc="-35" dirty="0">
                <a:latin typeface="Times New Roman"/>
                <a:cs typeface="Times New Roman"/>
              </a:rPr>
              <a:t> </a:t>
            </a:r>
            <a:r>
              <a:rPr sz="1200" dirty="0">
                <a:latin typeface="Times New Roman"/>
                <a:cs typeface="Times New Roman"/>
              </a:rPr>
              <a:t>detailed</a:t>
            </a:r>
            <a:r>
              <a:rPr sz="1200" spc="-35" dirty="0">
                <a:latin typeface="Times New Roman"/>
                <a:cs typeface="Times New Roman"/>
              </a:rPr>
              <a:t> </a:t>
            </a:r>
            <a:r>
              <a:rPr sz="1200" dirty="0">
                <a:latin typeface="Times New Roman"/>
                <a:cs typeface="Times New Roman"/>
              </a:rPr>
              <a:t>records</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35" dirty="0">
                <a:latin typeface="Times New Roman"/>
                <a:cs typeface="Times New Roman"/>
              </a:rPr>
              <a:t> </a:t>
            </a:r>
            <a:r>
              <a:rPr sz="1200" dirty="0">
                <a:latin typeface="Times New Roman"/>
                <a:cs typeface="Times New Roman"/>
              </a:rPr>
              <a:t>tests</a:t>
            </a:r>
            <a:r>
              <a:rPr sz="1200" spc="-35" dirty="0">
                <a:latin typeface="Times New Roman"/>
                <a:cs typeface="Times New Roman"/>
              </a:rPr>
              <a:t> </a:t>
            </a:r>
            <a:r>
              <a:rPr sz="1200" dirty="0">
                <a:latin typeface="Times New Roman"/>
                <a:cs typeface="Times New Roman"/>
              </a:rPr>
              <a:t>conducted,</a:t>
            </a:r>
            <a:r>
              <a:rPr sz="1200" spc="-30" dirty="0">
                <a:latin typeface="Times New Roman"/>
                <a:cs typeface="Times New Roman"/>
              </a:rPr>
              <a:t> </a:t>
            </a:r>
            <a:r>
              <a:rPr sz="1200" spc="-10" dirty="0">
                <a:latin typeface="Times New Roman"/>
                <a:cs typeface="Times New Roman"/>
              </a:rPr>
              <a:t>including:</a:t>
            </a:r>
            <a:endParaRPr sz="1200" dirty="0">
              <a:latin typeface="Times New Roman"/>
              <a:cs typeface="Times New Roman"/>
            </a:endParaRPr>
          </a:p>
          <a:p>
            <a:pPr marL="927100" lvl="3" indent="-228600">
              <a:lnSpc>
                <a:spcPct val="100000"/>
              </a:lnSpc>
              <a:spcBef>
                <a:spcPts val="1155"/>
              </a:spcBef>
              <a:buSzPct val="83333"/>
              <a:buFont typeface="Symbol"/>
              <a:buChar char=""/>
              <a:tabLst>
                <a:tab pos="927100" algn="l"/>
              </a:tabLst>
            </a:pPr>
            <a:r>
              <a:rPr sz="1200" dirty="0">
                <a:latin typeface="Times New Roman"/>
                <a:cs typeface="Times New Roman"/>
              </a:rPr>
              <a:t>Test</a:t>
            </a:r>
            <a:r>
              <a:rPr sz="1200" spc="-25" dirty="0">
                <a:latin typeface="Times New Roman"/>
                <a:cs typeface="Times New Roman"/>
              </a:rPr>
              <a:t> </a:t>
            </a:r>
            <a:r>
              <a:rPr sz="1200" dirty="0">
                <a:latin typeface="Times New Roman"/>
                <a:cs typeface="Times New Roman"/>
              </a:rPr>
              <a:t>cases</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scenarios.</a:t>
            </a:r>
            <a:endParaRPr sz="1200" dirty="0">
              <a:latin typeface="Times New Roman"/>
              <a:cs typeface="Times New Roman"/>
            </a:endParaRPr>
          </a:p>
          <a:p>
            <a:pPr marL="927100" lvl="3" indent="-228600">
              <a:lnSpc>
                <a:spcPct val="100000"/>
              </a:lnSpc>
              <a:spcBef>
                <a:spcPts val="1140"/>
              </a:spcBef>
              <a:buSzPct val="83333"/>
              <a:buFont typeface="Symbol"/>
              <a:buChar char=""/>
              <a:tabLst>
                <a:tab pos="927100" algn="l"/>
              </a:tabLst>
            </a:pPr>
            <a:r>
              <a:rPr sz="1200" dirty="0">
                <a:latin typeface="Times New Roman"/>
                <a:cs typeface="Times New Roman"/>
              </a:rPr>
              <a:t>Expected</a:t>
            </a:r>
            <a:r>
              <a:rPr sz="1200" spc="-35" dirty="0">
                <a:latin typeface="Times New Roman"/>
                <a:cs typeface="Times New Roman"/>
              </a:rPr>
              <a:t> </a:t>
            </a:r>
            <a:r>
              <a:rPr sz="1200" dirty="0">
                <a:latin typeface="Times New Roman"/>
                <a:cs typeface="Times New Roman"/>
              </a:rPr>
              <a:t>vs.</a:t>
            </a:r>
            <a:r>
              <a:rPr sz="1200" spc="-30" dirty="0">
                <a:latin typeface="Times New Roman"/>
                <a:cs typeface="Times New Roman"/>
              </a:rPr>
              <a:t> </a:t>
            </a:r>
            <a:r>
              <a:rPr sz="1200" dirty="0">
                <a:latin typeface="Times New Roman"/>
                <a:cs typeface="Times New Roman"/>
              </a:rPr>
              <a:t>actual</a:t>
            </a:r>
            <a:r>
              <a:rPr sz="1200" spc="-30" dirty="0">
                <a:latin typeface="Times New Roman"/>
                <a:cs typeface="Times New Roman"/>
              </a:rPr>
              <a:t> </a:t>
            </a:r>
            <a:r>
              <a:rPr sz="1200" spc="-10" dirty="0">
                <a:latin typeface="Times New Roman"/>
                <a:cs typeface="Times New Roman"/>
              </a:rPr>
              <a:t>results.</a:t>
            </a:r>
            <a:endParaRPr sz="1200" dirty="0">
              <a:latin typeface="Times New Roman"/>
              <a:cs typeface="Times New Roman"/>
            </a:endParaRPr>
          </a:p>
          <a:p>
            <a:pPr marL="927100" lvl="3" indent="-228600">
              <a:lnSpc>
                <a:spcPct val="100000"/>
              </a:lnSpc>
              <a:spcBef>
                <a:spcPts val="1155"/>
              </a:spcBef>
              <a:buSzPct val="83333"/>
              <a:buFont typeface="Symbol"/>
              <a:buChar char=""/>
              <a:tabLst>
                <a:tab pos="927100" algn="l"/>
              </a:tabLst>
            </a:pP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bugs</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issues</a:t>
            </a:r>
            <a:r>
              <a:rPr sz="1200" spc="-20" dirty="0">
                <a:latin typeface="Times New Roman"/>
                <a:cs typeface="Times New Roman"/>
              </a:rPr>
              <a:t> </a:t>
            </a:r>
            <a:r>
              <a:rPr sz="1200" dirty="0">
                <a:latin typeface="Times New Roman"/>
                <a:cs typeface="Times New Roman"/>
              </a:rPr>
              <a:t>identified,</a:t>
            </a:r>
            <a:r>
              <a:rPr sz="1200" spc="-25" dirty="0">
                <a:latin typeface="Times New Roman"/>
                <a:cs typeface="Times New Roman"/>
              </a:rPr>
              <a:t> </a:t>
            </a:r>
            <a:r>
              <a:rPr sz="1200" dirty="0">
                <a:latin typeface="Times New Roman"/>
                <a:cs typeface="Times New Roman"/>
              </a:rPr>
              <a:t>along</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resolution</a:t>
            </a:r>
            <a:r>
              <a:rPr sz="1200" spc="-20" dirty="0">
                <a:latin typeface="Times New Roman"/>
                <a:cs typeface="Times New Roman"/>
              </a:rPr>
              <a:t> </a:t>
            </a:r>
            <a:r>
              <a:rPr sz="1200" spc="-10" dirty="0">
                <a:latin typeface="Times New Roman"/>
                <a:cs typeface="Times New Roman"/>
              </a:rPr>
              <a:t>status.</a:t>
            </a:r>
            <a:endParaRPr sz="1200" dirty="0">
              <a:latin typeface="Times New Roman"/>
              <a:cs typeface="Times New Roman"/>
            </a:endParaRPr>
          </a:p>
          <a:p>
            <a:pPr marL="927100" lvl="3" indent="-228600">
              <a:lnSpc>
                <a:spcPct val="100000"/>
              </a:lnSpc>
              <a:spcBef>
                <a:spcPts val="1140"/>
              </a:spcBef>
              <a:buSzPct val="83333"/>
              <a:buFont typeface="Symbol"/>
              <a:buChar char=""/>
              <a:tabLst>
                <a:tab pos="927100" algn="l"/>
              </a:tabLst>
            </a:pP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suggestions</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improvement.</a:t>
            </a:r>
            <a:endParaRPr sz="1200" dirty="0">
              <a:latin typeface="Times New Roman"/>
              <a:cs typeface="Times New Roman"/>
            </a:endParaRPr>
          </a:p>
          <a:p>
            <a:pPr marL="278765" lvl="1" indent="-266065">
              <a:lnSpc>
                <a:spcPct val="100000"/>
              </a:lnSpc>
              <a:spcBef>
                <a:spcPts val="1155"/>
              </a:spcBef>
              <a:buAutoNum type="arabicPeriod" startAt="3"/>
              <a:tabLst>
                <a:tab pos="278765" algn="l"/>
              </a:tabLst>
            </a:pPr>
            <a:r>
              <a:rPr sz="1400" b="1" dirty="0">
                <a:latin typeface="Times New Roman"/>
                <a:cs typeface="Times New Roman"/>
              </a:rPr>
              <a:t>Continuous</a:t>
            </a:r>
            <a:r>
              <a:rPr sz="1400" b="1" spc="-30" dirty="0">
                <a:latin typeface="Times New Roman"/>
                <a:cs typeface="Times New Roman"/>
              </a:rPr>
              <a:t> </a:t>
            </a:r>
            <a:r>
              <a:rPr sz="1400" b="1" dirty="0">
                <a:latin typeface="Times New Roman"/>
                <a:cs typeface="Times New Roman"/>
              </a:rPr>
              <a:t>Testing</a:t>
            </a:r>
            <a:r>
              <a:rPr sz="1400" b="1" spc="-5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spc="-10" dirty="0">
                <a:latin typeface="Times New Roman"/>
                <a:cs typeface="Times New Roman"/>
              </a:rPr>
              <a:t>Improvement</a:t>
            </a:r>
            <a:endParaRPr sz="1400" dirty="0">
              <a:latin typeface="Times New Roman"/>
              <a:cs typeface="Times New Roman"/>
            </a:endParaRPr>
          </a:p>
          <a:p>
            <a:pPr marL="469900" lvl="2" indent="-228600">
              <a:lnSpc>
                <a:spcPct val="100000"/>
              </a:lnSpc>
              <a:spcBef>
                <a:spcPts val="1170"/>
              </a:spcBef>
              <a:buSzPct val="83333"/>
              <a:buFont typeface="Symbol"/>
              <a:buChar char=""/>
              <a:tabLst>
                <a:tab pos="469900" algn="l"/>
              </a:tabLst>
            </a:pPr>
            <a:r>
              <a:rPr sz="1200" dirty="0">
                <a:latin typeface="Times New Roman"/>
                <a:cs typeface="Times New Roman"/>
              </a:rPr>
              <a:t>After</a:t>
            </a:r>
            <a:r>
              <a:rPr sz="1200" spc="-35" dirty="0">
                <a:latin typeface="Times New Roman"/>
                <a:cs typeface="Times New Roman"/>
              </a:rPr>
              <a:t> </a:t>
            </a:r>
            <a:r>
              <a:rPr sz="1200" dirty="0">
                <a:latin typeface="Times New Roman"/>
                <a:cs typeface="Times New Roman"/>
              </a:rPr>
              <a:t>deployment,</a:t>
            </a:r>
            <a:r>
              <a:rPr sz="1200" spc="-15" dirty="0">
                <a:latin typeface="Times New Roman"/>
                <a:cs typeface="Times New Roman"/>
              </a:rPr>
              <a:t> </a:t>
            </a:r>
            <a:r>
              <a:rPr sz="1200" dirty="0">
                <a:latin typeface="Times New Roman"/>
                <a:cs typeface="Times New Roman"/>
              </a:rPr>
              <a:t>continue</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monitor</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app</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issues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gather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feedback.</a:t>
            </a:r>
            <a:endParaRPr sz="1200" dirty="0">
              <a:latin typeface="Times New Roman"/>
              <a:cs typeface="Times New Roman"/>
            </a:endParaRPr>
          </a:p>
          <a:p>
            <a:pPr marL="469900" marR="6350" lvl="2" indent="-228600">
              <a:lnSpc>
                <a:spcPct val="110000"/>
              </a:lnSpc>
              <a:spcBef>
                <a:spcPts val="1000"/>
              </a:spcBef>
              <a:buSzPct val="83333"/>
              <a:buFont typeface="Symbol"/>
              <a:buChar char=""/>
              <a:tabLst>
                <a:tab pos="469900" algn="l"/>
              </a:tabLst>
            </a:pPr>
            <a:r>
              <a:rPr sz="1200" dirty="0">
                <a:latin typeface="Times New Roman"/>
                <a:cs typeface="Times New Roman"/>
              </a:rPr>
              <a:t>Implement</a:t>
            </a:r>
            <a:r>
              <a:rPr sz="1200" spc="285" dirty="0">
                <a:latin typeface="Times New Roman"/>
                <a:cs typeface="Times New Roman"/>
              </a:rPr>
              <a:t> </a:t>
            </a:r>
            <a:r>
              <a:rPr sz="1200" dirty="0">
                <a:latin typeface="Times New Roman"/>
                <a:cs typeface="Times New Roman"/>
              </a:rPr>
              <a:t>a</a:t>
            </a:r>
            <a:r>
              <a:rPr sz="1200" spc="275" dirty="0">
                <a:latin typeface="Times New Roman"/>
                <a:cs typeface="Times New Roman"/>
              </a:rPr>
              <a:t> </a:t>
            </a:r>
            <a:r>
              <a:rPr sz="1200" dirty="0">
                <a:latin typeface="Times New Roman"/>
                <a:cs typeface="Times New Roman"/>
              </a:rPr>
              <a:t>process</a:t>
            </a:r>
            <a:r>
              <a:rPr sz="1200" spc="275" dirty="0">
                <a:latin typeface="Times New Roman"/>
                <a:cs typeface="Times New Roman"/>
              </a:rPr>
              <a:t> </a:t>
            </a:r>
            <a:r>
              <a:rPr sz="1200" dirty="0">
                <a:latin typeface="Times New Roman"/>
                <a:cs typeface="Times New Roman"/>
              </a:rPr>
              <a:t>for</a:t>
            </a:r>
            <a:r>
              <a:rPr sz="1200" spc="275" dirty="0">
                <a:latin typeface="Times New Roman"/>
                <a:cs typeface="Times New Roman"/>
              </a:rPr>
              <a:t> </a:t>
            </a:r>
            <a:r>
              <a:rPr sz="1200" dirty="0">
                <a:latin typeface="Times New Roman"/>
                <a:cs typeface="Times New Roman"/>
              </a:rPr>
              <a:t>regular</a:t>
            </a:r>
            <a:r>
              <a:rPr sz="1200" spc="275" dirty="0">
                <a:latin typeface="Times New Roman"/>
                <a:cs typeface="Times New Roman"/>
              </a:rPr>
              <a:t> </a:t>
            </a:r>
            <a:r>
              <a:rPr sz="1200" dirty="0">
                <a:latin typeface="Times New Roman"/>
                <a:cs typeface="Times New Roman"/>
              </a:rPr>
              <a:t>updates</a:t>
            </a:r>
            <a:r>
              <a:rPr sz="1200" spc="285" dirty="0">
                <a:latin typeface="Times New Roman"/>
                <a:cs typeface="Times New Roman"/>
              </a:rPr>
              <a:t> </a:t>
            </a:r>
            <a:r>
              <a:rPr sz="1200" dirty="0">
                <a:latin typeface="Times New Roman"/>
                <a:cs typeface="Times New Roman"/>
              </a:rPr>
              <a:t>and</a:t>
            </a:r>
            <a:r>
              <a:rPr sz="1200" spc="280" dirty="0">
                <a:latin typeface="Times New Roman"/>
                <a:cs typeface="Times New Roman"/>
              </a:rPr>
              <a:t> </a:t>
            </a:r>
            <a:r>
              <a:rPr sz="1200" dirty="0">
                <a:latin typeface="Times New Roman"/>
                <a:cs typeface="Times New Roman"/>
              </a:rPr>
              <a:t>testing</a:t>
            </a:r>
            <a:r>
              <a:rPr sz="1200" spc="275" dirty="0">
                <a:latin typeface="Times New Roman"/>
                <a:cs typeface="Times New Roman"/>
              </a:rPr>
              <a:t> </a:t>
            </a:r>
            <a:r>
              <a:rPr sz="1200" dirty="0">
                <a:latin typeface="Times New Roman"/>
                <a:cs typeface="Times New Roman"/>
              </a:rPr>
              <a:t>to</a:t>
            </a:r>
            <a:r>
              <a:rPr sz="1200" spc="280" dirty="0">
                <a:latin typeface="Times New Roman"/>
                <a:cs typeface="Times New Roman"/>
              </a:rPr>
              <a:t> </a:t>
            </a:r>
            <a:r>
              <a:rPr sz="1200" dirty="0">
                <a:latin typeface="Times New Roman"/>
                <a:cs typeface="Times New Roman"/>
              </a:rPr>
              <a:t>ensure</a:t>
            </a:r>
            <a:r>
              <a:rPr sz="1200" spc="265" dirty="0">
                <a:latin typeface="Times New Roman"/>
                <a:cs typeface="Times New Roman"/>
              </a:rPr>
              <a:t> </a:t>
            </a:r>
            <a:r>
              <a:rPr sz="1200" dirty="0">
                <a:latin typeface="Times New Roman"/>
                <a:cs typeface="Times New Roman"/>
              </a:rPr>
              <a:t>ongoing</a:t>
            </a:r>
            <a:r>
              <a:rPr sz="1200" spc="280" dirty="0">
                <a:latin typeface="Times New Roman"/>
                <a:cs typeface="Times New Roman"/>
              </a:rPr>
              <a:t> </a:t>
            </a:r>
            <a:r>
              <a:rPr sz="1200" dirty="0">
                <a:latin typeface="Times New Roman"/>
                <a:cs typeface="Times New Roman"/>
              </a:rPr>
              <a:t>functionality</a:t>
            </a:r>
            <a:r>
              <a:rPr sz="1200" spc="280" dirty="0">
                <a:latin typeface="Times New Roman"/>
                <a:cs typeface="Times New Roman"/>
              </a:rPr>
              <a:t> </a:t>
            </a:r>
            <a:r>
              <a:rPr sz="1200" dirty="0">
                <a:latin typeface="Times New Roman"/>
                <a:cs typeface="Times New Roman"/>
              </a:rPr>
              <a:t>and</a:t>
            </a:r>
            <a:r>
              <a:rPr sz="1200" spc="275" dirty="0">
                <a:latin typeface="Times New Roman"/>
                <a:cs typeface="Times New Roman"/>
              </a:rPr>
              <a:t> </a:t>
            </a:r>
            <a:r>
              <a:rPr sz="1200" spc="-20" dirty="0">
                <a:latin typeface="Times New Roman"/>
                <a:cs typeface="Times New Roman"/>
              </a:rPr>
              <a:t>user </a:t>
            </a:r>
            <a:r>
              <a:rPr sz="1200" spc="-10" dirty="0">
                <a:latin typeface="Times New Roman"/>
                <a:cs typeface="Times New Roman"/>
              </a:rPr>
              <a:t>satisfaction.</a:t>
            </a:r>
            <a:endParaRPr sz="1200"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319" y="372871"/>
            <a:ext cx="172085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Sample</a:t>
            </a:r>
            <a:r>
              <a:rPr sz="1400" b="1" spc="-30" dirty="0">
                <a:latin typeface="Times New Roman"/>
                <a:cs typeface="Times New Roman"/>
              </a:rPr>
              <a:t> </a:t>
            </a:r>
            <a:r>
              <a:rPr sz="1400" b="1" dirty="0">
                <a:latin typeface="Times New Roman"/>
                <a:cs typeface="Times New Roman"/>
              </a:rPr>
              <a:t>Piece</a:t>
            </a:r>
            <a:r>
              <a:rPr sz="1400" b="1" spc="-30" dirty="0">
                <a:latin typeface="Times New Roman"/>
                <a:cs typeface="Times New Roman"/>
              </a:rPr>
              <a:t> </a:t>
            </a:r>
            <a:r>
              <a:rPr sz="1400" b="1" dirty="0">
                <a:latin typeface="Times New Roman"/>
                <a:cs typeface="Times New Roman"/>
              </a:rPr>
              <a:t>of</a:t>
            </a:r>
            <a:r>
              <a:rPr sz="1400" b="1" spc="-15" dirty="0">
                <a:latin typeface="Times New Roman"/>
                <a:cs typeface="Times New Roman"/>
              </a:rPr>
              <a:t> </a:t>
            </a:r>
            <a:r>
              <a:rPr sz="1400" b="1" spc="-20" dirty="0">
                <a:latin typeface="Times New Roman"/>
                <a:cs typeface="Times New Roman"/>
              </a:rPr>
              <a:t>Code:</a:t>
            </a:r>
            <a:endParaRPr sz="1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32</a:t>
            </a:fld>
            <a:r>
              <a:rPr spc="-20" dirty="0"/>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850" y="768350"/>
            <a:ext cx="3096079" cy="235782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50" y="3126171"/>
            <a:ext cx="3096079" cy="283012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850" y="5956300"/>
            <a:ext cx="3096079" cy="37338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33</a:t>
            </a:fld>
            <a:r>
              <a:rPr spc="-20" dirty="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250" y="1308100"/>
            <a:ext cx="3200400" cy="6553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34</a:t>
            </a:fld>
            <a:r>
              <a:rPr spc="-2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56" y="622300"/>
            <a:ext cx="6487430" cy="605874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35</a:t>
            </a:fld>
            <a:r>
              <a:rPr spc="-20" dirty="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651" y="927100"/>
            <a:ext cx="4953000" cy="6934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36</a:t>
            </a:fld>
            <a:r>
              <a:rPr spc="-20" dirty="0"/>
              <a:t>]</a:t>
            </a:r>
          </a:p>
        </p:txBody>
      </p:sp>
      <p:sp>
        <p:nvSpPr>
          <p:cNvPr id="2" name="object 2"/>
          <p:cNvSpPr txBox="1"/>
          <p:nvPr/>
        </p:nvSpPr>
        <p:spPr>
          <a:xfrm>
            <a:off x="528319" y="371348"/>
            <a:ext cx="4017645" cy="1017586"/>
          </a:xfrm>
          <a:prstGeom prst="rect">
            <a:avLst/>
          </a:prstGeom>
        </p:spPr>
        <p:txBody>
          <a:bodyPr vert="horz" wrap="square" lIns="0" tIns="12065" rIns="0" bIns="0" rtlCol="0">
            <a:spAutoFit/>
          </a:bodyPr>
          <a:lstStyle/>
          <a:p>
            <a:pPr marR="74930" algn="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8</a:t>
            </a:r>
            <a:endParaRPr sz="1600" dirty="0">
              <a:latin typeface="Times New Roman"/>
              <a:cs typeface="Times New Roman"/>
            </a:endParaRPr>
          </a:p>
          <a:p>
            <a:pPr>
              <a:lnSpc>
                <a:spcPct val="100000"/>
              </a:lnSpc>
            </a:pPr>
            <a:endParaRPr sz="1600" dirty="0">
              <a:latin typeface="Times New Roman"/>
              <a:cs typeface="Times New Roman"/>
            </a:endParaRPr>
          </a:p>
          <a:p>
            <a:pPr>
              <a:lnSpc>
                <a:spcPct val="100000"/>
              </a:lnSpc>
              <a:spcBef>
                <a:spcPts val="385"/>
              </a:spcBef>
            </a:pPr>
            <a:endParaRPr sz="1600" dirty="0">
              <a:latin typeface="Times New Roman"/>
              <a:cs typeface="Times New Roman"/>
            </a:endParaRPr>
          </a:p>
          <a:p>
            <a:pPr marL="12700">
              <a:lnSpc>
                <a:spcPct val="100000"/>
              </a:lnSpc>
            </a:pPr>
            <a:r>
              <a:rPr sz="1400" b="1" dirty="0">
                <a:latin typeface="Times New Roman"/>
                <a:cs typeface="Times New Roman"/>
              </a:rPr>
              <a:t>8.1</a:t>
            </a:r>
            <a:r>
              <a:rPr sz="1400" b="1" spc="-25" dirty="0">
                <a:latin typeface="Times New Roman"/>
                <a:cs typeface="Times New Roman"/>
              </a:rPr>
              <a:t> </a:t>
            </a:r>
            <a:r>
              <a:rPr sz="1400" b="1" dirty="0">
                <a:latin typeface="Times New Roman"/>
                <a:cs typeface="Times New Roman"/>
              </a:rPr>
              <a:t>Future</a:t>
            </a:r>
            <a:r>
              <a:rPr sz="1400" b="1" spc="-15" dirty="0">
                <a:latin typeface="Times New Roman"/>
                <a:cs typeface="Times New Roman"/>
              </a:rPr>
              <a:t> </a:t>
            </a:r>
            <a:r>
              <a:rPr sz="1400" b="1" dirty="0">
                <a:latin typeface="Times New Roman"/>
                <a:cs typeface="Times New Roman"/>
              </a:rPr>
              <a:t>Scope</a:t>
            </a:r>
            <a:r>
              <a:rPr sz="1400" b="1" spc="-15" dirty="0">
                <a:latin typeface="Times New Roman"/>
                <a:cs typeface="Times New Roman"/>
              </a:rPr>
              <a:t> </a:t>
            </a:r>
            <a:r>
              <a:rPr sz="1400" b="1" dirty="0">
                <a:latin typeface="Times New Roman"/>
                <a:cs typeface="Times New Roman"/>
              </a:rPr>
              <a:t>of</a:t>
            </a:r>
            <a:r>
              <a:rPr sz="1400" b="1" spc="-30" dirty="0">
                <a:latin typeface="Times New Roman"/>
                <a:cs typeface="Times New Roman"/>
              </a:rPr>
              <a:t> </a:t>
            </a:r>
            <a:r>
              <a:rPr sz="1400" b="1" dirty="0" smtClean="0">
                <a:latin typeface="Times New Roman"/>
                <a:cs typeface="Times New Roman"/>
              </a:rPr>
              <a:t>the</a:t>
            </a:r>
            <a:r>
              <a:rPr lang="en-US" sz="1400" b="1" dirty="0" smtClean="0">
                <a:latin typeface="Times New Roman"/>
                <a:cs typeface="Times New Roman"/>
              </a:rPr>
              <a:t> </a:t>
            </a:r>
            <a:r>
              <a:rPr lang="en-US" sz="1400" b="1" dirty="0" smtClean="0">
                <a:latin typeface="Times New Roman"/>
                <a:cs typeface="Times New Roman"/>
              </a:rPr>
              <a:t>Fitness Freak </a:t>
            </a:r>
            <a:r>
              <a:rPr lang="en-US" sz="1400" b="1" dirty="0" smtClean="0">
                <a:latin typeface="Times New Roman"/>
                <a:cs typeface="Times New Roman"/>
              </a:rPr>
              <a:t>website</a:t>
            </a:r>
            <a:endParaRPr sz="1400" dirty="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3377773849"/>
              </p:ext>
            </p:extLst>
          </p:nvPr>
        </p:nvGraphicFramePr>
        <p:xfrm>
          <a:off x="541018" y="1516633"/>
          <a:ext cx="6818631" cy="5193665"/>
        </p:xfrm>
        <a:graphic>
          <a:graphicData uri="http://schemas.openxmlformats.org/drawingml/2006/table">
            <a:tbl>
              <a:tblPr firstRow="1" bandRow="1">
                <a:tableStyleId>{2D5ABB26-0587-4C30-8999-92F81FD0307C}</a:tableStyleId>
              </a:tblPr>
              <a:tblGrid>
                <a:gridCol w="1551592"/>
                <a:gridCol w="5267039"/>
              </a:tblGrid>
              <a:tr h="368300">
                <a:tc>
                  <a:txBody>
                    <a:bodyPr/>
                    <a:lstStyle/>
                    <a:p>
                      <a:pPr marL="67945">
                        <a:lnSpc>
                          <a:spcPts val="1625"/>
                        </a:lnSpc>
                      </a:pPr>
                      <a:r>
                        <a:rPr sz="1400" b="1" dirty="0">
                          <a:latin typeface="Times New Roman"/>
                          <a:cs typeface="Times New Roman"/>
                        </a:rPr>
                        <a:t>Future</a:t>
                      </a:r>
                      <a:r>
                        <a:rPr sz="1400" b="1" spc="-25" dirty="0">
                          <a:latin typeface="Times New Roman"/>
                          <a:cs typeface="Times New Roman"/>
                        </a:rPr>
                        <a:t> </a:t>
                      </a:r>
                      <a:r>
                        <a:rPr sz="1400" b="1" spc="-20" dirty="0">
                          <a:latin typeface="Times New Roman"/>
                          <a:cs typeface="Times New Roman"/>
                        </a:rPr>
                        <a:t>Scope</a:t>
                      </a:r>
                      <a:endParaRPr sz="1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b="1" spc="-10" dirty="0">
                          <a:latin typeface="Times New Roman"/>
                          <a:cs typeface="Times New Roman"/>
                        </a:rPr>
                        <a:t>Description</a:t>
                      </a:r>
                      <a:endParaRPr sz="1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5940">
                <a:tc>
                  <a:txBody>
                    <a:bodyPr/>
                    <a:lstStyle/>
                    <a:p>
                      <a:pPr marL="67945">
                        <a:lnSpc>
                          <a:spcPts val="1380"/>
                        </a:lnSpc>
                      </a:pPr>
                      <a:r>
                        <a:rPr sz="1200" spc="-10" dirty="0">
                          <a:latin typeface="Times New Roman"/>
                          <a:cs typeface="Times New Roman"/>
                        </a:rPr>
                        <a:t>Enhanced</a:t>
                      </a:r>
                      <a:endParaRPr sz="1200">
                        <a:latin typeface="Times New Roman"/>
                        <a:cs typeface="Times New Roman"/>
                      </a:endParaRPr>
                    </a:p>
                    <a:p>
                      <a:pPr marL="67945">
                        <a:lnSpc>
                          <a:spcPct val="100000"/>
                        </a:lnSpc>
                        <a:spcBef>
                          <a:spcPts val="145"/>
                        </a:spcBef>
                      </a:pPr>
                      <a:r>
                        <a:rPr sz="1200" spc="-10" dirty="0">
                          <a:latin typeface="Times New Roman"/>
                          <a:cs typeface="Times New Roman"/>
                        </a:rPr>
                        <a:t>Personalization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67995" indent="-171450">
                        <a:lnSpc>
                          <a:spcPts val="1380"/>
                        </a:lnSpc>
                        <a:buSzPct val="83333"/>
                        <a:buFont typeface="Arial" pitchFamily="34" charset="0"/>
                        <a:buChar char="•"/>
                        <a:tabLst>
                          <a:tab pos="525780" algn="l"/>
                        </a:tabLst>
                      </a:pPr>
                      <a:r>
                        <a:rPr lang="en-US" sz="1200" dirty="0" smtClean="0"/>
                        <a:t>User Profiles with personalized workout, diet &amp; product recommendations</a:t>
                      </a:r>
                    </a:p>
                    <a:p>
                      <a:pPr marL="467995" indent="-171450">
                        <a:lnSpc>
                          <a:spcPts val="1380"/>
                        </a:lnSpc>
                        <a:buSzPct val="83333"/>
                        <a:buFont typeface="Arial" pitchFamily="34" charset="0"/>
                        <a:buChar char="•"/>
                        <a:tabLst>
                          <a:tab pos="525780" algn="l"/>
                        </a:tabLst>
                      </a:pPr>
                      <a:r>
                        <a:rPr lang="en-US" sz="1200" dirty="0" smtClean="0"/>
                        <a:t>Machine Learning to analyze behavior and optimize fitness plans over time</a:t>
                      </a:r>
                      <a:endParaRPr sz="12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5940">
                <a:tc>
                  <a:txBody>
                    <a:bodyPr/>
                    <a:lstStyle/>
                    <a:p>
                      <a:pPr marL="67945">
                        <a:lnSpc>
                          <a:spcPts val="1380"/>
                        </a:lnSpc>
                        <a:tabLst>
                          <a:tab pos="951865" algn="l"/>
                        </a:tabLst>
                      </a:pPr>
                      <a:r>
                        <a:rPr sz="1200" spc="-10" dirty="0">
                          <a:latin typeface="Times New Roman"/>
                          <a:cs typeface="Times New Roman"/>
                        </a:rPr>
                        <a:t>Expanded</a:t>
                      </a:r>
                      <a:r>
                        <a:rPr sz="1200" dirty="0">
                          <a:latin typeface="Times New Roman"/>
                          <a:cs typeface="Times New Roman"/>
                        </a:rPr>
                        <a:t>	</a:t>
                      </a:r>
                      <a:r>
                        <a:rPr sz="1200" spc="-10" dirty="0">
                          <a:latin typeface="Times New Roman"/>
                          <a:cs typeface="Times New Roman"/>
                        </a:rPr>
                        <a:t>Content</a:t>
                      </a:r>
                      <a:endParaRPr sz="1200">
                        <a:latin typeface="Times New Roman"/>
                        <a:cs typeface="Times New Roman"/>
                      </a:endParaRPr>
                    </a:p>
                    <a:p>
                      <a:pPr marL="67945">
                        <a:lnSpc>
                          <a:spcPct val="100000"/>
                        </a:lnSpc>
                        <a:spcBef>
                          <a:spcPts val="145"/>
                        </a:spcBef>
                      </a:pPr>
                      <a:r>
                        <a:rPr sz="1200" spc="-10" dirty="0">
                          <a:latin typeface="Times New Roman"/>
                          <a:cs typeface="Times New Roman"/>
                        </a:rPr>
                        <a:t>Integration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80"/>
                        </a:lnSpc>
                        <a:buSzPct val="83333"/>
                        <a:buFont typeface="Symbol"/>
                        <a:buChar char=""/>
                        <a:tabLst>
                          <a:tab pos="525780" algn="l"/>
                        </a:tabLst>
                      </a:pPr>
                      <a:r>
                        <a:rPr lang="en-US" sz="1200" dirty="0" smtClean="0"/>
                        <a:t>Additional APIs for new workout routines, nutrition databases, expert tips</a:t>
                      </a:r>
                    </a:p>
                    <a:p>
                      <a:pPr marL="525780" indent="-229235">
                        <a:lnSpc>
                          <a:spcPts val="1380"/>
                        </a:lnSpc>
                        <a:buSzPct val="83333"/>
                        <a:buFont typeface="Symbol"/>
                        <a:buChar char=""/>
                        <a:tabLst>
                          <a:tab pos="525780" algn="l"/>
                        </a:tabLst>
                      </a:pPr>
                      <a:r>
                        <a:rPr lang="en-US" sz="1200" dirty="0" smtClean="0"/>
                        <a:t>Social Media sharing for progress updates and community engagement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6575">
                <a:tc>
                  <a:txBody>
                    <a:bodyPr/>
                    <a:lstStyle/>
                    <a:p>
                      <a:pPr marL="67945">
                        <a:lnSpc>
                          <a:spcPts val="1385"/>
                        </a:lnSpc>
                      </a:pPr>
                      <a:r>
                        <a:rPr sz="1200" spc="-10" dirty="0">
                          <a:latin typeface="Times New Roman"/>
                          <a:cs typeface="Times New Roman"/>
                        </a:rPr>
                        <a:t>Gamification</a:t>
                      </a:r>
                      <a:r>
                        <a:rPr sz="1200" spc="35" dirty="0">
                          <a:latin typeface="Times New Roman"/>
                          <a:cs typeface="Times New Roman"/>
                        </a:rPr>
                        <a:t> </a:t>
                      </a:r>
                      <a:r>
                        <a:rPr sz="1200" spc="-10" dirty="0">
                          <a:latin typeface="Times New Roman"/>
                          <a:cs typeface="Times New Roman"/>
                        </a:rPr>
                        <a:t>Features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85"/>
                        </a:lnSpc>
                        <a:buSzPct val="83333"/>
                        <a:buFont typeface="Symbol"/>
                        <a:buChar char=""/>
                        <a:tabLst>
                          <a:tab pos="525780" algn="l"/>
                        </a:tabLst>
                      </a:pPr>
                      <a:r>
                        <a:rPr lang="en-US" sz="1200" dirty="0" smtClean="0"/>
                        <a:t>Rewards system with loyalty points for workouts, purchases &amp; feedback</a:t>
                      </a:r>
                    </a:p>
                    <a:p>
                      <a:pPr marL="525780" indent="-229235">
                        <a:lnSpc>
                          <a:spcPts val="1385"/>
                        </a:lnSpc>
                        <a:buSzPct val="83333"/>
                        <a:buFont typeface="Symbol"/>
                        <a:buChar char=""/>
                        <a:tabLst>
                          <a:tab pos="525780" algn="l"/>
                        </a:tabLst>
                      </a:pPr>
                      <a:r>
                        <a:rPr lang="en-US" sz="1200" dirty="0" smtClean="0"/>
                        <a:t>Fitness challenges with badges and certificates for motivation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5940">
                <a:tc>
                  <a:txBody>
                    <a:bodyPr/>
                    <a:lstStyle/>
                    <a:p>
                      <a:pPr marL="67945">
                        <a:lnSpc>
                          <a:spcPts val="1380"/>
                        </a:lnSpc>
                        <a:tabLst>
                          <a:tab pos="920115" algn="l"/>
                        </a:tabLst>
                      </a:pPr>
                      <a:r>
                        <a:rPr sz="1200" spc="-10" dirty="0" smtClean="0">
                          <a:latin typeface="Times New Roman"/>
                          <a:cs typeface="Times New Roman"/>
                        </a:rPr>
                        <a:t>Advanced</a:t>
                      </a:r>
                      <a:r>
                        <a:rPr lang="en-US" sz="1200" spc="0" baseline="0" dirty="0" smtClean="0">
                          <a:latin typeface="Times New Roman"/>
                          <a:cs typeface="Times New Roman"/>
                        </a:rPr>
                        <a:t>  </a:t>
                      </a:r>
                      <a:r>
                        <a:rPr lang="en-US" sz="1200" dirty="0" smtClean="0">
                          <a:latin typeface="Times New Roman"/>
                          <a:cs typeface="Times New Roman"/>
                        </a:rPr>
                        <a:t>fitness</a:t>
                      </a:r>
                      <a:endParaRPr sz="1200" dirty="0">
                        <a:latin typeface="Times New Roman"/>
                        <a:cs typeface="Times New Roman"/>
                      </a:endParaRPr>
                    </a:p>
                    <a:p>
                      <a:pPr marL="67945">
                        <a:lnSpc>
                          <a:spcPct val="100000"/>
                        </a:lnSpc>
                        <a:spcBef>
                          <a:spcPts val="145"/>
                        </a:spcBef>
                      </a:pPr>
                      <a:r>
                        <a:rPr sz="1200" spc="-10" dirty="0">
                          <a:latin typeface="Times New Roman"/>
                          <a:cs typeface="Times New Roman"/>
                        </a:rPr>
                        <a:t>Features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ct val="100000"/>
                        </a:lnSpc>
                        <a:spcBef>
                          <a:spcPts val="145"/>
                        </a:spcBef>
                        <a:buSzPct val="83333"/>
                        <a:buFont typeface="Symbol"/>
                        <a:buChar char=""/>
                        <a:tabLst>
                          <a:tab pos="525780" algn="l"/>
                        </a:tabLst>
                      </a:pPr>
                      <a:r>
                        <a:rPr lang="en-US" sz="1200" dirty="0" smtClean="0"/>
                        <a:t>Personalized fitness assessments adjusting plans based on progress</a:t>
                      </a:r>
                    </a:p>
                    <a:p>
                      <a:pPr marL="525780" indent="-229235">
                        <a:lnSpc>
                          <a:spcPct val="100000"/>
                        </a:lnSpc>
                        <a:spcBef>
                          <a:spcPts val="145"/>
                        </a:spcBef>
                        <a:buSzPct val="83333"/>
                        <a:buFont typeface="Symbol"/>
                        <a:buChar char=""/>
                        <a:tabLst>
                          <a:tab pos="525780" algn="l"/>
                        </a:tabLst>
                      </a:pPr>
                      <a:r>
                        <a:rPr lang="en-US" sz="1200" dirty="0" smtClean="0"/>
                        <a:t>Live training sessions for interactive personal coaching</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5940">
                <a:tc>
                  <a:txBody>
                    <a:bodyPr/>
                    <a:lstStyle/>
                    <a:p>
                      <a:pPr marL="67945">
                        <a:lnSpc>
                          <a:spcPts val="1380"/>
                        </a:lnSpc>
                      </a:pPr>
                      <a:r>
                        <a:rPr sz="1200" spc="-10" dirty="0">
                          <a:latin typeface="Times New Roman"/>
                          <a:cs typeface="Times New Roman"/>
                        </a:rPr>
                        <a:t>Cross-Platform</a:t>
                      </a:r>
                      <a:endParaRPr sz="1200">
                        <a:latin typeface="Times New Roman"/>
                        <a:cs typeface="Times New Roman"/>
                      </a:endParaRPr>
                    </a:p>
                    <a:p>
                      <a:pPr marL="67945">
                        <a:lnSpc>
                          <a:spcPct val="100000"/>
                        </a:lnSpc>
                        <a:spcBef>
                          <a:spcPts val="145"/>
                        </a:spcBef>
                      </a:pPr>
                      <a:r>
                        <a:rPr sz="1200" spc="-10" dirty="0">
                          <a:latin typeface="Times New Roman"/>
                          <a:cs typeface="Times New Roman"/>
                        </a:rPr>
                        <a:t>Compatibility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ct val="100000"/>
                        </a:lnSpc>
                        <a:spcBef>
                          <a:spcPts val="145"/>
                        </a:spcBef>
                        <a:buSzPct val="83333"/>
                        <a:buFont typeface="Symbol"/>
                        <a:buChar char=""/>
                        <a:tabLst>
                          <a:tab pos="525780" algn="l"/>
                        </a:tabLst>
                      </a:pPr>
                      <a:r>
                        <a:rPr lang="en-US" sz="1200" dirty="0" smtClean="0"/>
                        <a:t>Mobile application for Android/</a:t>
                      </a:r>
                      <a:r>
                        <a:rPr lang="en-US" sz="1200" dirty="0" err="1" smtClean="0"/>
                        <a:t>iOS</a:t>
                      </a:r>
                      <a:endParaRPr lang="en-US" sz="1200" dirty="0" smtClean="0"/>
                    </a:p>
                    <a:p>
                      <a:pPr marL="525780" indent="-229235">
                        <a:lnSpc>
                          <a:spcPct val="100000"/>
                        </a:lnSpc>
                        <a:spcBef>
                          <a:spcPts val="145"/>
                        </a:spcBef>
                        <a:buSzPct val="83333"/>
                        <a:buFont typeface="Symbol"/>
                        <a:buChar char=""/>
                        <a:tabLst>
                          <a:tab pos="525780" algn="l"/>
                        </a:tabLst>
                      </a:pPr>
                      <a:r>
                        <a:rPr lang="en-US" sz="1200" dirty="0" smtClean="0"/>
                        <a:t>Progress tracking app with sync across devices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6575">
                <a:tc>
                  <a:txBody>
                    <a:bodyPr/>
                    <a:lstStyle/>
                    <a:p>
                      <a:pPr marL="67945">
                        <a:lnSpc>
                          <a:spcPts val="1380"/>
                        </a:lnSpc>
                      </a:pPr>
                      <a:r>
                        <a:rPr sz="1200" dirty="0">
                          <a:latin typeface="Times New Roman"/>
                          <a:cs typeface="Times New Roman"/>
                        </a:rPr>
                        <a:t>User</a:t>
                      </a:r>
                      <a:r>
                        <a:rPr sz="1200" spc="180" dirty="0">
                          <a:latin typeface="Times New Roman"/>
                          <a:cs typeface="Times New Roman"/>
                        </a:rPr>
                        <a:t> </a:t>
                      </a:r>
                      <a:r>
                        <a:rPr sz="1200" dirty="0">
                          <a:latin typeface="Times New Roman"/>
                          <a:cs typeface="Times New Roman"/>
                        </a:rPr>
                        <a:t>Community</a:t>
                      </a:r>
                      <a:r>
                        <a:rPr sz="1200" spc="180"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67945">
                        <a:lnSpc>
                          <a:spcPct val="100000"/>
                        </a:lnSpc>
                        <a:spcBef>
                          <a:spcPts val="140"/>
                        </a:spcBef>
                      </a:pPr>
                      <a:r>
                        <a:rPr sz="1200" dirty="0">
                          <a:latin typeface="Times New Roman"/>
                          <a:cs typeface="Times New Roman"/>
                        </a:rPr>
                        <a:t>Feedback</a:t>
                      </a:r>
                      <a:r>
                        <a:rPr sz="1200" spc="-45" dirty="0">
                          <a:latin typeface="Times New Roman"/>
                          <a:cs typeface="Times New Roman"/>
                        </a:rPr>
                        <a:t> </a:t>
                      </a:r>
                      <a:r>
                        <a:rPr sz="1200" spc="-20" dirty="0">
                          <a:latin typeface="Times New Roman"/>
                          <a:cs typeface="Times New Roman"/>
                        </a:rPr>
                        <a:t>Loop</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80"/>
                        </a:lnSpc>
                        <a:buSzPct val="83333"/>
                        <a:buFont typeface="Symbol"/>
                        <a:buChar char=""/>
                        <a:tabLst>
                          <a:tab pos="525780" algn="l"/>
                        </a:tabLst>
                      </a:pPr>
                      <a:r>
                        <a:rPr lang="en-US" sz="1200" dirty="0" smtClean="0"/>
                        <a:t>Community forums for user interaction and sharing</a:t>
                      </a:r>
                    </a:p>
                    <a:p>
                      <a:pPr marL="525780" indent="-229235">
                        <a:lnSpc>
                          <a:spcPts val="1380"/>
                        </a:lnSpc>
                        <a:buSzPct val="83333"/>
                        <a:buFont typeface="Symbol"/>
                        <a:buChar char=""/>
                        <a:tabLst>
                          <a:tab pos="525780" algn="l"/>
                        </a:tabLst>
                      </a:pPr>
                      <a:r>
                        <a:rPr lang="en-US" sz="1200" dirty="0" smtClean="0"/>
                        <a:t>Enhanced feedback collection via surveys, suggestions, and issue reporting</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4670">
                <a:tc>
                  <a:txBody>
                    <a:bodyPr/>
                    <a:lstStyle/>
                    <a:p>
                      <a:pPr marL="67945">
                        <a:lnSpc>
                          <a:spcPts val="1380"/>
                        </a:lnSpc>
                        <a:tabLst>
                          <a:tab pos="1215390" algn="l"/>
                        </a:tabLst>
                      </a:pPr>
                      <a:r>
                        <a:rPr sz="1200" spc="-10" dirty="0">
                          <a:latin typeface="Times New Roman"/>
                          <a:cs typeface="Times New Roman"/>
                        </a:rPr>
                        <a:t>Localization</a:t>
                      </a:r>
                      <a:r>
                        <a:rPr sz="1200"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67945">
                        <a:lnSpc>
                          <a:spcPct val="100000"/>
                        </a:lnSpc>
                        <a:spcBef>
                          <a:spcPts val="140"/>
                        </a:spcBef>
                      </a:pPr>
                      <a:r>
                        <a:rPr sz="1200" dirty="0">
                          <a:latin typeface="Times New Roman"/>
                          <a:cs typeface="Times New Roman"/>
                        </a:rPr>
                        <a:t>Global</a:t>
                      </a:r>
                      <a:r>
                        <a:rPr sz="1200" spc="-45" dirty="0">
                          <a:latin typeface="Times New Roman"/>
                          <a:cs typeface="Times New Roman"/>
                        </a:rPr>
                        <a:t> </a:t>
                      </a:r>
                      <a:r>
                        <a:rPr sz="1200" spc="-10" dirty="0">
                          <a:latin typeface="Times New Roman"/>
                          <a:cs typeface="Times New Roman"/>
                        </a:rPr>
                        <a:t>Expansion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80"/>
                        </a:lnSpc>
                        <a:buSzPct val="83333"/>
                        <a:buFont typeface="Symbol"/>
                        <a:buChar char=""/>
                        <a:tabLst>
                          <a:tab pos="525780" algn="l"/>
                        </a:tabLst>
                      </a:pPr>
                      <a:r>
                        <a:rPr lang="en-US" sz="1200" dirty="0" smtClean="0"/>
                        <a:t>Multi-language support for global accessibility</a:t>
                      </a:r>
                    </a:p>
                    <a:p>
                      <a:pPr marL="525780" indent="-229235">
                        <a:lnSpc>
                          <a:spcPts val="1380"/>
                        </a:lnSpc>
                        <a:buSzPct val="83333"/>
                        <a:buFont typeface="Symbol"/>
                        <a:buChar char=""/>
                        <a:tabLst>
                          <a:tab pos="525780" algn="l"/>
                        </a:tabLst>
                      </a:pPr>
                      <a:r>
                        <a:rPr lang="en-US" sz="1200" dirty="0" smtClean="0"/>
                        <a:t>Localized fitness and diet plans based on regional preferences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5940">
                <a:tc>
                  <a:txBody>
                    <a:bodyPr/>
                    <a:lstStyle/>
                    <a:p>
                      <a:pPr marL="67945">
                        <a:lnSpc>
                          <a:spcPts val="1390"/>
                        </a:lnSpc>
                      </a:pPr>
                      <a:r>
                        <a:rPr sz="1200" spc="-10" dirty="0">
                          <a:latin typeface="Times New Roman"/>
                          <a:cs typeface="Times New Roman"/>
                        </a:rPr>
                        <a:t>Integration</a:t>
                      </a:r>
                      <a:r>
                        <a:rPr sz="1200" spc="-4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20" dirty="0">
                          <a:latin typeface="Times New Roman"/>
                          <a:cs typeface="Times New Roman"/>
                        </a:rPr>
                        <a:t>Smart</a:t>
                      </a:r>
                      <a:endParaRPr sz="1200">
                        <a:latin typeface="Times New Roman"/>
                        <a:cs typeface="Times New Roman"/>
                      </a:endParaRPr>
                    </a:p>
                    <a:p>
                      <a:pPr marL="67945">
                        <a:lnSpc>
                          <a:spcPct val="100000"/>
                        </a:lnSpc>
                        <a:spcBef>
                          <a:spcPts val="140"/>
                        </a:spcBef>
                      </a:pPr>
                      <a:r>
                        <a:rPr sz="1200" spc="-10" dirty="0">
                          <a:latin typeface="Times New Roman"/>
                          <a:cs typeface="Times New Roman"/>
                        </a:rPr>
                        <a:t>Devices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90"/>
                        </a:lnSpc>
                        <a:buSzPct val="83333"/>
                        <a:buFont typeface="Symbol"/>
                        <a:buChar char=""/>
                        <a:tabLst>
                          <a:tab pos="525780" algn="l"/>
                        </a:tabLst>
                      </a:pPr>
                      <a:r>
                        <a:rPr lang="en-US" sz="1200" dirty="0" smtClean="0"/>
                        <a:t>Integration with fitness bands, smartwatches, smart scales</a:t>
                      </a:r>
                    </a:p>
                    <a:p>
                      <a:pPr marL="525780" indent="-229235">
                        <a:lnSpc>
                          <a:spcPts val="1390"/>
                        </a:lnSpc>
                        <a:buSzPct val="83333"/>
                        <a:buFont typeface="Symbol"/>
                        <a:buChar char=""/>
                        <a:tabLst>
                          <a:tab pos="525780" algn="l"/>
                        </a:tabLst>
                      </a:pPr>
                      <a:r>
                        <a:rPr lang="en-US" sz="1200" dirty="0" smtClean="0"/>
                        <a:t>Voice assistant support (e.g., Alexa, Google Assistant)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7845">
                <a:tc>
                  <a:txBody>
                    <a:bodyPr/>
                    <a:lstStyle/>
                    <a:p>
                      <a:pPr marL="67945">
                        <a:lnSpc>
                          <a:spcPts val="1390"/>
                        </a:lnSpc>
                        <a:tabLst>
                          <a:tab pos="493395" algn="l"/>
                          <a:tab pos="1215390" algn="l"/>
                        </a:tabLst>
                      </a:pPr>
                      <a:r>
                        <a:rPr sz="1200" spc="-20" dirty="0">
                          <a:latin typeface="Times New Roman"/>
                          <a:cs typeface="Times New Roman"/>
                        </a:rPr>
                        <a:t>Data</a:t>
                      </a:r>
                      <a:r>
                        <a:rPr sz="1200" dirty="0">
                          <a:latin typeface="Times New Roman"/>
                          <a:cs typeface="Times New Roman"/>
                        </a:rPr>
                        <a:t>	</a:t>
                      </a:r>
                      <a:r>
                        <a:rPr sz="1200" spc="-10" dirty="0">
                          <a:latin typeface="Times New Roman"/>
                          <a:cs typeface="Times New Roman"/>
                        </a:rPr>
                        <a:t>Analytics</a:t>
                      </a:r>
                      <a:r>
                        <a:rPr sz="1200"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67945">
                        <a:lnSpc>
                          <a:spcPct val="100000"/>
                        </a:lnSpc>
                        <a:spcBef>
                          <a:spcPts val="140"/>
                        </a:spcBef>
                      </a:pPr>
                      <a:r>
                        <a:rPr sz="1200" spc="-10" dirty="0">
                          <a:latin typeface="Times New Roman"/>
                          <a:cs typeface="Times New Roman"/>
                        </a:rPr>
                        <a:t>Insights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25780" indent="-229235">
                        <a:lnSpc>
                          <a:spcPts val="1390"/>
                        </a:lnSpc>
                        <a:buSzPct val="83333"/>
                        <a:buFont typeface="Symbol"/>
                        <a:buChar char=""/>
                        <a:tabLst>
                          <a:tab pos="525780" algn="l"/>
                        </a:tabLst>
                      </a:pPr>
                      <a:r>
                        <a:rPr lang="en-US" sz="1200" dirty="0" smtClean="0"/>
                        <a:t>User analytics to monitor engagement, subscriptions, and behavior</a:t>
                      </a:r>
                    </a:p>
                    <a:p>
                      <a:pPr marL="525780" indent="-229235">
                        <a:lnSpc>
                          <a:spcPts val="1390"/>
                        </a:lnSpc>
                        <a:buSzPct val="83333"/>
                        <a:buFont typeface="Symbol"/>
                        <a:buChar char=""/>
                        <a:tabLst>
                          <a:tab pos="525780" algn="l"/>
                        </a:tabLst>
                      </a:pPr>
                      <a:r>
                        <a:rPr lang="en-US" sz="1200" dirty="0" smtClean="0"/>
                        <a:t>Fitness trends analysis to recommend new plans and products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4" name="object 4"/>
          <p:cNvSpPr txBox="1"/>
          <p:nvPr/>
        </p:nvSpPr>
        <p:spPr>
          <a:xfrm>
            <a:off x="528319" y="6696836"/>
            <a:ext cx="3860800" cy="197490"/>
          </a:xfrm>
          <a:prstGeom prst="rect">
            <a:avLst/>
          </a:prstGeom>
        </p:spPr>
        <p:txBody>
          <a:bodyPr vert="horz" wrap="square" lIns="0" tIns="12700" rIns="0" bIns="0" rtlCol="0">
            <a:spAutoFit/>
          </a:bodyPr>
          <a:lstStyle/>
          <a:p>
            <a:pPr marL="12700">
              <a:lnSpc>
                <a:spcPct val="100000"/>
              </a:lnSpc>
              <a:spcBef>
                <a:spcPts val="100"/>
              </a:spcBef>
            </a:pPr>
            <a:r>
              <a:rPr sz="1200" b="1" u="sng" dirty="0">
                <a:uFill>
                  <a:solidFill>
                    <a:srgbClr val="000000"/>
                  </a:solidFill>
                </a:uFill>
                <a:latin typeface="Times New Roman"/>
                <a:cs typeface="Times New Roman"/>
              </a:rPr>
              <a:t>Fig</a:t>
            </a:r>
            <a:r>
              <a:rPr sz="1200" b="1" u="sng" spc="-2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8.1.1:</a:t>
            </a:r>
            <a:r>
              <a:rPr sz="1200" b="1" u="sng" spc="-2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Future</a:t>
            </a:r>
            <a:r>
              <a:rPr sz="1200" b="1" u="sng" spc="-2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Scope</a:t>
            </a:r>
            <a:r>
              <a:rPr sz="1200" b="1" u="sng" spc="-2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of</a:t>
            </a:r>
            <a:r>
              <a:rPr sz="1200" b="1" u="sng" spc="-20" dirty="0">
                <a:uFill>
                  <a:solidFill>
                    <a:srgbClr val="000000"/>
                  </a:solidFill>
                </a:uFill>
                <a:latin typeface="Times New Roman"/>
                <a:cs typeface="Times New Roman"/>
              </a:rPr>
              <a:t> </a:t>
            </a:r>
            <a:r>
              <a:rPr sz="1200" b="1" u="sng" dirty="0" smtClean="0">
                <a:uFill>
                  <a:solidFill>
                    <a:srgbClr val="000000"/>
                  </a:solidFill>
                </a:uFill>
                <a:latin typeface="Times New Roman"/>
                <a:cs typeface="Times New Roman"/>
              </a:rPr>
              <a:t>the</a:t>
            </a:r>
            <a:r>
              <a:rPr lang="en-US" sz="1200" b="1" u="sng" dirty="0" smtClean="0">
                <a:uFill>
                  <a:solidFill>
                    <a:srgbClr val="000000"/>
                  </a:solidFill>
                </a:uFill>
                <a:latin typeface="Times New Roman"/>
                <a:cs typeface="Times New Roman"/>
              </a:rPr>
              <a:t> Fitness-freak website</a:t>
            </a:r>
            <a:endParaRPr sz="1200" dirty="0">
              <a:latin typeface="Times New Roman"/>
              <a:cs typeface="Times New Roman"/>
            </a:endParaRPr>
          </a:p>
        </p:txBody>
      </p:sp>
      <p:sp>
        <p:nvSpPr>
          <p:cNvPr id="5" name="object 5"/>
          <p:cNvSpPr txBox="1"/>
          <p:nvPr/>
        </p:nvSpPr>
        <p:spPr>
          <a:xfrm>
            <a:off x="528319" y="7748777"/>
            <a:ext cx="6649084" cy="1946687"/>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8.2</a:t>
            </a:r>
            <a:r>
              <a:rPr sz="1400" b="1" spc="-15" dirty="0">
                <a:latin typeface="Times New Roman"/>
                <a:cs typeface="Times New Roman"/>
              </a:rPr>
              <a:t> </a:t>
            </a:r>
            <a:r>
              <a:rPr sz="1400" b="1" dirty="0">
                <a:latin typeface="Times New Roman"/>
                <a:cs typeface="Times New Roman"/>
              </a:rPr>
              <a:t>Enhanced</a:t>
            </a:r>
            <a:r>
              <a:rPr sz="1400" b="1" spc="-10" dirty="0">
                <a:latin typeface="Times New Roman"/>
                <a:cs typeface="Times New Roman"/>
              </a:rPr>
              <a:t> </a:t>
            </a:r>
            <a:r>
              <a:rPr sz="1400" b="1" spc="-10" dirty="0" smtClean="0">
                <a:latin typeface="Times New Roman"/>
                <a:cs typeface="Times New Roman"/>
              </a:rPr>
              <a:t>Personalization</a:t>
            </a:r>
            <a:endParaRPr lang="en-US" sz="1400" b="1" spc="-10" dirty="0" smtClean="0">
              <a:latin typeface="Times New Roman"/>
              <a:cs typeface="Times New Roman"/>
            </a:endParaRPr>
          </a:p>
          <a:p>
            <a:pPr marL="298450" indent="-285750">
              <a:lnSpc>
                <a:spcPct val="100000"/>
              </a:lnSpc>
              <a:spcBef>
                <a:spcPts val="100"/>
              </a:spcBef>
              <a:buFont typeface="Arial" pitchFamily="34" charset="0"/>
              <a:buChar char="•"/>
            </a:pPr>
            <a:endParaRPr lang="en-US" sz="1200" b="1" spc="-10" dirty="0" smtClean="0">
              <a:latin typeface="Times New Roman" pitchFamily="18" charset="0"/>
              <a:cs typeface="Times New Roman" pitchFamily="18" charset="0"/>
            </a:endParaRPr>
          </a:p>
          <a:p>
            <a:pPr marL="285750" indent="-285750">
              <a:buFont typeface="Arial" pitchFamily="34" charset="0"/>
              <a:buChar char="•"/>
            </a:pPr>
            <a:r>
              <a:rPr lang="en-US" sz="1200" b="1" dirty="0" smtClean="0">
                <a:latin typeface="Times New Roman" pitchFamily="18" charset="0"/>
                <a:cs typeface="Times New Roman" pitchFamily="18" charset="0"/>
              </a:rPr>
              <a:t>User Profiles:</a:t>
            </a:r>
            <a:r>
              <a:rPr lang="en-US" sz="1200" dirty="0" smtClean="0">
                <a:latin typeface="Times New Roman" pitchFamily="18" charset="0"/>
                <a:cs typeface="Times New Roman" pitchFamily="18" charset="0"/>
              </a:rPr>
              <a:t> Implement advanced user profiles allowing members to receive personalized workout plans, diet charts, and product recommendations based on their fitness goals, progress history, and personal preferences.</a:t>
            </a:r>
          </a:p>
          <a:p>
            <a:pPr marL="285750" indent="-285750">
              <a:buFont typeface="Arial" pitchFamily="34" charset="0"/>
              <a:buChar char="•"/>
            </a:pPr>
            <a:endParaRPr lang="en-US" sz="1200" dirty="0" smtClean="0">
              <a:latin typeface="Times New Roman" pitchFamily="18" charset="0"/>
              <a:cs typeface="Times New Roman" pitchFamily="18" charset="0"/>
            </a:endParaRPr>
          </a:p>
          <a:p>
            <a:pPr marL="285750" indent="-285750">
              <a:buFont typeface="Arial" pitchFamily="34" charset="0"/>
              <a:buChar char="•"/>
            </a:pPr>
            <a:r>
              <a:rPr lang="en-US" sz="1200" b="1" dirty="0" smtClean="0">
                <a:latin typeface="Times New Roman" pitchFamily="18" charset="0"/>
                <a:cs typeface="Times New Roman" pitchFamily="18" charset="0"/>
              </a:rPr>
              <a:t>Machine Learning Algorithms:</a:t>
            </a:r>
            <a:r>
              <a:rPr lang="en-US" sz="1200" dirty="0" smtClean="0">
                <a:latin typeface="Times New Roman" pitchFamily="18" charset="0"/>
                <a:cs typeface="Times New Roman" pitchFamily="18" charset="0"/>
              </a:rPr>
              <a:t> Utilize machine learning models to analyze user behavior, track workout performance, and automatically suggest optimized workout routines, dietary adjustments, and product bundles based on user trends and improvements over time.</a:t>
            </a:r>
          </a:p>
          <a:p>
            <a:pPr marL="298450" indent="-285750">
              <a:lnSpc>
                <a:spcPct val="100000"/>
              </a:lnSpc>
              <a:spcBef>
                <a:spcPts val="100"/>
              </a:spcBef>
              <a:buFont typeface="Arial" pitchFamily="34" charset="0"/>
              <a:buChar char="•"/>
            </a:pPr>
            <a:endParaRPr sz="140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37</a:t>
            </a:fld>
            <a:r>
              <a:rPr spc="-20" dirty="0"/>
              <a:t>]</a:t>
            </a:r>
          </a:p>
        </p:txBody>
      </p:sp>
      <p:sp>
        <p:nvSpPr>
          <p:cNvPr id="2" name="object 2"/>
          <p:cNvSpPr txBox="1"/>
          <p:nvPr/>
        </p:nvSpPr>
        <p:spPr>
          <a:xfrm>
            <a:off x="528319" y="372871"/>
            <a:ext cx="6649084" cy="6709529"/>
          </a:xfrm>
          <a:prstGeom prst="rect">
            <a:avLst/>
          </a:prstGeom>
        </p:spPr>
        <p:txBody>
          <a:bodyPr vert="horz" wrap="square" lIns="0" tIns="12700" rIns="0" bIns="0" rtlCol="0">
            <a:spAutoFit/>
          </a:bodyPr>
          <a:lstStyle/>
          <a:p>
            <a:pPr marL="280670" lvl="1" indent="-267970">
              <a:lnSpc>
                <a:spcPct val="100000"/>
              </a:lnSpc>
              <a:spcBef>
                <a:spcPts val="100"/>
              </a:spcBef>
              <a:buAutoNum type="arabicPeriod" startAt="3"/>
              <a:tabLst>
                <a:tab pos="280670" algn="l"/>
              </a:tabLst>
            </a:pPr>
            <a:r>
              <a:rPr sz="1400" b="1" dirty="0">
                <a:latin typeface="Times New Roman"/>
                <a:cs typeface="Times New Roman"/>
              </a:rPr>
              <a:t>Expanded</a:t>
            </a:r>
            <a:r>
              <a:rPr sz="1400" b="1" spc="-55" dirty="0">
                <a:latin typeface="Times New Roman"/>
                <a:cs typeface="Times New Roman"/>
              </a:rPr>
              <a:t> </a:t>
            </a:r>
            <a:r>
              <a:rPr sz="1400" b="1" dirty="0">
                <a:latin typeface="Times New Roman"/>
                <a:cs typeface="Times New Roman"/>
              </a:rPr>
              <a:t>Content</a:t>
            </a:r>
            <a:r>
              <a:rPr sz="1400" b="1" spc="-35" dirty="0">
                <a:latin typeface="Times New Roman"/>
                <a:cs typeface="Times New Roman"/>
              </a:rPr>
              <a:t> </a:t>
            </a:r>
            <a:r>
              <a:rPr sz="1400" b="1" spc="-10" dirty="0" smtClean="0">
                <a:latin typeface="Times New Roman"/>
                <a:cs typeface="Times New Roman"/>
              </a:rPr>
              <a:t>Integration</a:t>
            </a:r>
            <a:endParaRPr lang="en-US" sz="1400" b="1" spc="-1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Additional APIs &amp; Data Sources:</a:t>
            </a:r>
            <a:r>
              <a:rPr lang="en-US" sz="1200" dirty="0" smtClean="0">
                <a:latin typeface="Times New Roman" pitchFamily="18" charset="0"/>
                <a:cs typeface="Times New Roman" pitchFamily="18" charset="0"/>
              </a:rPr>
              <a:t> Integrate fitness APIs that provide updated workout routines, nutritional databases, or third-party fitness expert advice to enhance the depth and variety of available content.</a:t>
            </a:r>
          </a:p>
          <a:p>
            <a:pPr marL="171450" indent="-171450">
              <a:buFont typeface="Arial" pitchFamily="34" charset="0"/>
              <a:buChar char="•"/>
            </a:pPr>
            <a:r>
              <a:rPr lang="en-US" sz="1200" b="1" dirty="0" smtClean="0">
                <a:latin typeface="Times New Roman" pitchFamily="18" charset="0"/>
                <a:cs typeface="Times New Roman" pitchFamily="18" charset="0"/>
              </a:rPr>
              <a:t>Social Media Integration:</a:t>
            </a:r>
            <a:r>
              <a:rPr lang="en-US" sz="1200" dirty="0" smtClean="0">
                <a:latin typeface="Times New Roman" pitchFamily="18" charset="0"/>
                <a:cs typeface="Times New Roman" pitchFamily="18" charset="0"/>
              </a:rPr>
              <a:t> Allow users to share their workout achievements, progress photos, transformation stories, and purchases directly to their social media profiles, increasing engagement and brand visibility.</a:t>
            </a:r>
          </a:p>
          <a:p>
            <a:pPr marL="280670" lvl="1" indent="-267970">
              <a:lnSpc>
                <a:spcPct val="100000"/>
              </a:lnSpc>
              <a:spcBef>
                <a:spcPts val="100"/>
              </a:spcBef>
              <a:buAutoNum type="arabicPeriod" startAt="3"/>
              <a:tabLst>
                <a:tab pos="280670" algn="l"/>
              </a:tabLst>
            </a:pPr>
            <a:endParaRPr sz="1400" dirty="0">
              <a:latin typeface="Times New Roman"/>
              <a:cs typeface="Times New Roman"/>
            </a:endParaRPr>
          </a:p>
          <a:p>
            <a:pPr marL="12700" lvl="1">
              <a:lnSpc>
                <a:spcPct val="100000"/>
              </a:lnSpc>
              <a:spcBef>
                <a:spcPts val="1145"/>
              </a:spcBef>
              <a:tabLst>
                <a:tab pos="280670" algn="l"/>
              </a:tabLst>
            </a:pPr>
            <a:r>
              <a:rPr lang="en-US" sz="1400" b="1" dirty="0" smtClean="0">
                <a:latin typeface="Times New Roman"/>
                <a:cs typeface="Times New Roman"/>
              </a:rPr>
              <a:t>4.   </a:t>
            </a:r>
            <a:r>
              <a:rPr sz="1400" b="1" dirty="0" err="1" smtClean="0">
                <a:latin typeface="Times New Roman"/>
                <a:cs typeface="Times New Roman"/>
              </a:rPr>
              <a:t>Gamification</a:t>
            </a:r>
            <a:r>
              <a:rPr sz="1400" b="1" spc="-85" dirty="0" smtClean="0">
                <a:latin typeface="Times New Roman"/>
                <a:cs typeface="Times New Roman"/>
              </a:rPr>
              <a:t> </a:t>
            </a:r>
            <a:r>
              <a:rPr sz="1400" b="1" spc="-10" dirty="0" smtClean="0">
                <a:latin typeface="Times New Roman"/>
                <a:cs typeface="Times New Roman"/>
              </a:rPr>
              <a:t>Features</a:t>
            </a:r>
            <a:endParaRPr sz="1400" dirty="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Rewards System:</a:t>
            </a:r>
            <a:r>
              <a:rPr lang="en-US" sz="1200" dirty="0" smtClean="0">
                <a:latin typeface="Times New Roman" pitchFamily="18" charset="0"/>
                <a:cs typeface="Times New Roman" pitchFamily="18" charset="0"/>
              </a:rPr>
              <a:t> Introduce a points-based reward system where users earn loyalty points for activities like completing workouts, purchasing products, subscribing to premium plans, or submitting feedback. Points can be redeemed for discounts or exclusive content.</a:t>
            </a:r>
          </a:p>
          <a:p>
            <a:pPr marL="171450" indent="-171450">
              <a:buFont typeface="Arial" pitchFamily="34" charset="0"/>
              <a:buChar char="•"/>
            </a:pPr>
            <a:r>
              <a:rPr lang="en-US" sz="1200" b="1" dirty="0" smtClean="0">
                <a:latin typeface="Times New Roman" pitchFamily="18" charset="0"/>
                <a:cs typeface="Times New Roman" pitchFamily="18" charset="0"/>
              </a:rPr>
              <a:t>Challenges and Badges:</a:t>
            </a:r>
            <a:r>
              <a:rPr lang="en-US" sz="1200" dirty="0" smtClean="0">
                <a:latin typeface="Times New Roman" pitchFamily="18" charset="0"/>
                <a:cs typeface="Times New Roman" pitchFamily="18" charset="0"/>
              </a:rPr>
              <a:t> Offer fitness challenges (e.g., "Complete 30 days of workouts", "Lose 5 kg", "Complete a yoga challenge") with virtual badges or certificates to motivate and retain users.</a:t>
            </a:r>
          </a:p>
          <a:p>
            <a:pPr marL="12700" lvl="1">
              <a:lnSpc>
                <a:spcPct val="100000"/>
              </a:lnSpc>
              <a:spcBef>
                <a:spcPts val="1145"/>
              </a:spcBef>
              <a:tabLst>
                <a:tab pos="278765" algn="l"/>
              </a:tabLst>
            </a:pPr>
            <a:r>
              <a:rPr lang="en-US" sz="1400" b="1" dirty="0" smtClean="0">
                <a:latin typeface="Times New Roman"/>
                <a:cs typeface="Times New Roman"/>
              </a:rPr>
              <a:t>5.   </a:t>
            </a:r>
            <a:r>
              <a:rPr sz="1400" b="1" dirty="0" smtClean="0">
                <a:latin typeface="Times New Roman"/>
                <a:cs typeface="Times New Roman"/>
              </a:rPr>
              <a:t>Advanced</a:t>
            </a:r>
            <a:r>
              <a:rPr sz="1400" b="1" spc="-30" dirty="0" smtClean="0">
                <a:latin typeface="Times New Roman"/>
                <a:cs typeface="Times New Roman"/>
              </a:rPr>
              <a:t> </a:t>
            </a:r>
            <a:r>
              <a:rPr lang="en-US" sz="1400" b="1" spc="-30" dirty="0" smtClean="0">
                <a:latin typeface="Times New Roman"/>
                <a:cs typeface="Times New Roman"/>
              </a:rPr>
              <a:t>Fitness </a:t>
            </a:r>
            <a:r>
              <a:rPr sz="1400" b="1" spc="-10" dirty="0" smtClean="0">
                <a:latin typeface="Times New Roman"/>
                <a:cs typeface="Times New Roman"/>
              </a:rPr>
              <a:t>Features</a:t>
            </a:r>
            <a:endParaRPr lang="en-US" sz="1400" b="1" spc="-1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Personalized Fitness Assessments:</a:t>
            </a:r>
            <a:r>
              <a:rPr lang="en-US" sz="1200" dirty="0" smtClean="0">
                <a:latin typeface="Times New Roman" pitchFamily="18" charset="0"/>
                <a:cs typeface="Times New Roman" pitchFamily="18" charset="0"/>
              </a:rPr>
              <a:t> Integrate periodic fitness assessments that adjust workout plans based on user performance and progress.</a:t>
            </a:r>
          </a:p>
          <a:p>
            <a:pPr marL="171450" indent="-171450">
              <a:buFont typeface="Arial" pitchFamily="34" charset="0"/>
              <a:buChar char="•"/>
            </a:pPr>
            <a:r>
              <a:rPr lang="en-US" sz="1200" b="1" dirty="0" smtClean="0">
                <a:latin typeface="Times New Roman" pitchFamily="18" charset="0"/>
                <a:cs typeface="Times New Roman" pitchFamily="18" charset="0"/>
              </a:rPr>
              <a:t>Live Training Sessions:</a:t>
            </a:r>
            <a:r>
              <a:rPr lang="en-US" sz="1200" dirty="0" smtClean="0">
                <a:latin typeface="Times New Roman" pitchFamily="18" charset="0"/>
                <a:cs typeface="Times New Roman" pitchFamily="18" charset="0"/>
              </a:rPr>
              <a:t> Incorporate live-streamed workout classes or personal training sessions to create a more interactive and engaging fitness experience.</a:t>
            </a:r>
          </a:p>
          <a:p>
            <a:pPr marL="12700" lvl="1">
              <a:lnSpc>
                <a:spcPct val="100000"/>
              </a:lnSpc>
              <a:spcBef>
                <a:spcPts val="1155"/>
              </a:spcBef>
              <a:tabLst>
                <a:tab pos="278765" algn="l"/>
              </a:tabLst>
            </a:pPr>
            <a:r>
              <a:rPr lang="en-US" sz="1400" b="1" dirty="0" smtClean="0">
                <a:latin typeface="Times New Roman"/>
                <a:cs typeface="Times New Roman"/>
              </a:rPr>
              <a:t>6.    </a:t>
            </a:r>
            <a:r>
              <a:rPr sz="1400" b="1" spc="-10" dirty="0" smtClean="0">
                <a:latin typeface="Times New Roman"/>
                <a:cs typeface="Times New Roman"/>
              </a:rPr>
              <a:t>Cross-</a:t>
            </a:r>
            <a:r>
              <a:rPr sz="1400" b="1" dirty="0" smtClean="0">
                <a:latin typeface="Times New Roman"/>
                <a:cs typeface="Times New Roman"/>
              </a:rPr>
              <a:t>Platform</a:t>
            </a:r>
            <a:r>
              <a:rPr sz="1400" b="1" spc="-25" dirty="0" smtClean="0">
                <a:latin typeface="Times New Roman"/>
                <a:cs typeface="Times New Roman"/>
              </a:rPr>
              <a:t> </a:t>
            </a:r>
            <a:r>
              <a:rPr sz="1400" b="1" spc="-10" dirty="0" smtClean="0">
                <a:latin typeface="Times New Roman"/>
                <a:cs typeface="Times New Roman"/>
              </a:rPr>
              <a:t>Compatibility</a:t>
            </a:r>
            <a:endParaRPr lang="en-US" sz="1400" b="1" spc="-1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Mobile Website :</a:t>
            </a:r>
            <a:r>
              <a:rPr lang="en-US" sz="1200" dirty="0" smtClean="0">
                <a:latin typeface="Times New Roman" pitchFamily="18" charset="0"/>
                <a:cs typeface="Times New Roman" pitchFamily="18" charset="0"/>
              </a:rPr>
              <a:t> </a:t>
            </a:r>
            <a:r>
              <a:rPr lang="en-US" sz="1200" dirty="0" smtClean="0">
                <a:latin typeface="Times New Roman" pitchFamily="18" charset="0"/>
                <a:cs typeface="Times New Roman" pitchFamily="18" charset="0"/>
              </a:rPr>
              <a:t>Develop Android and </a:t>
            </a:r>
            <a:r>
              <a:rPr lang="en-US" sz="1200" dirty="0" err="1" smtClean="0">
                <a:latin typeface="Times New Roman" pitchFamily="18" charset="0"/>
                <a:cs typeface="Times New Roman" pitchFamily="18" charset="0"/>
              </a:rPr>
              <a:t>iOS</a:t>
            </a:r>
            <a:r>
              <a:rPr lang="en-US" sz="1200" dirty="0" smtClean="0">
                <a:latin typeface="Times New Roman" pitchFamily="18" charset="0"/>
                <a:cs typeface="Times New Roman" pitchFamily="18" charset="0"/>
              </a:rPr>
              <a:t> apps to provide users with access to their workout plans, diet charts, subscriptions, and store from anywhere on mobile devices.</a:t>
            </a:r>
          </a:p>
          <a:p>
            <a:pPr marL="171450" indent="-171450">
              <a:buFont typeface="Arial" pitchFamily="34" charset="0"/>
              <a:buChar char="•"/>
            </a:pPr>
            <a:r>
              <a:rPr lang="en-US" sz="1200" b="1" dirty="0" smtClean="0">
                <a:latin typeface="Times New Roman" pitchFamily="18" charset="0"/>
                <a:cs typeface="Times New Roman" pitchFamily="18" charset="0"/>
              </a:rPr>
              <a:t>Progress </a:t>
            </a:r>
            <a:r>
              <a:rPr lang="en-US" sz="1200" b="1" dirty="0" smtClean="0">
                <a:latin typeface="Times New Roman" pitchFamily="18" charset="0"/>
                <a:cs typeface="Times New Roman" pitchFamily="18" charset="0"/>
              </a:rPr>
              <a:t>Tracking Website:</a:t>
            </a:r>
            <a:r>
              <a:rPr lang="en-US" sz="1200" dirty="0" smtClean="0">
                <a:latin typeface="Times New Roman" pitchFamily="18" charset="0"/>
                <a:cs typeface="Times New Roman" pitchFamily="18" charset="0"/>
              </a:rPr>
              <a:t> </a:t>
            </a:r>
            <a:r>
              <a:rPr lang="en-US" sz="1200" dirty="0" smtClean="0">
                <a:latin typeface="Times New Roman" pitchFamily="18" charset="0"/>
                <a:cs typeface="Times New Roman" pitchFamily="18" charset="0"/>
              </a:rPr>
              <a:t>Allow users to track their daily exercise, diet, weight, and body measurements directly on mobile, syncing data across devices.</a:t>
            </a:r>
          </a:p>
          <a:p>
            <a:pPr marL="355600" lvl="1" indent="-342900">
              <a:lnSpc>
                <a:spcPct val="100000"/>
              </a:lnSpc>
              <a:spcBef>
                <a:spcPts val="1155"/>
              </a:spcBef>
              <a:buAutoNum type="arabicPeriod" startAt="6"/>
              <a:tabLst>
                <a:tab pos="278765" algn="l"/>
              </a:tabLst>
            </a:pPr>
            <a:endParaRPr sz="1400" dirty="0">
              <a:latin typeface="Times New Roman"/>
              <a:cs typeface="Times New Roman"/>
            </a:endParaRPr>
          </a:p>
          <a:p>
            <a:pPr marL="342900" indent="-342900">
              <a:buAutoNum type="arabicPeriod" startAt="7"/>
            </a:pPr>
            <a:r>
              <a:rPr sz="1400" b="1" dirty="0" smtClean="0">
                <a:latin typeface="Times New Roman"/>
                <a:cs typeface="Times New Roman"/>
              </a:rPr>
              <a:t>User</a:t>
            </a:r>
            <a:r>
              <a:rPr sz="1400" b="1" spc="-30" dirty="0" smtClean="0">
                <a:latin typeface="Times New Roman"/>
                <a:cs typeface="Times New Roman"/>
              </a:rPr>
              <a:t> </a:t>
            </a:r>
            <a:r>
              <a:rPr sz="1400" b="1" dirty="0">
                <a:latin typeface="Times New Roman"/>
                <a:cs typeface="Times New Roman"/>
              </a:rPr>
              <a:t>Community</a:t>
            </a:r>
            <a:r>
              <a:rPr sz="1400" b="1" spc="-35" dirty="0">
                <a:latin typeface="Times New Roman"/>
                <a:cs typeface="Times New Roman"/>
              </a:rPr>
              <a:t> </a:t>
            </a:r>
            <a:r>
              <a:rPr sz="1400" b="1" dirty="0">
                <a:latin typeface="Times New Roman"/>
                <a:cs typeface="Times New Roman"/>
              </a:rPr>
              <a:t>and</a:t>
            </a:r>
            <a:r>
              <a:rPr sz="1400" b="1" spc="-30" dirty="0">
                <a:latin typeface="Times New Roman"/>
                <a:cs typeface="Times New Roman"/>
              </a:rPr>
              <a:t> </a:t>
            </a:r>
            <a:r>
              <a:rPr sz="1400" b="1" dirty="0">
                <a:latin typeface="Times New Roman"/>
                <a:cs typeface="Times New Roman"/>
              </a:rPr>
              <a:t>Feedback</a:t>
            </a:r>
            <a:r>
              <a:rPr sz="1400" b="1" spc="-25" dirty="0">
                <a:latin typeface="Times New Roman"/>
                <a:cs typeface="Times New Roman"/>
              </a:rPr>
              <a:t> </a:t>
            </a:r>
            <a:r>
              <a:rPr sz="1400" b="1" spc="-20" dirty="0" smtClean="0">
                <a:latin typeface="Times New Roman"/>
                <a:cs typeface="Times New Roman"/>
              </a:rPr>
              <a:t>Loop</a:t>
            </a:r>
            <a:endParaRPr lang="en-US" sz="1400" b="1" spc="-2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Community Forums:</a:t>
            </a:r>
            <a:r>
              <a:rPr lang="en-US" sz="1200" dirty="0" smtClean="0">
                <a:latin typeface="Times New Roman" pitchFamily="18" charset="0"/>
                <a:cs typeface="Times New Roman" pitchFamily="18" charset="0"/>
              </a:rPr>
              <a:t> Create a fitness community forum where members can share experiences, tips, progress updates, and motivate each other.</a:t>
            </a:r>
          </a:p>
          <a:p>
            <a:pPr marL="171450" indent="-171450">
              <a:buFont typeface="Arial" pitchFamily="34" charset="0"/>
              <a:buChar char="•"/>
            </a:pPr>
            <a:r>
              <a:rPr lang="en-US" sz="1200" b="1" dirty="0" smtClean="0">
                <a:latin typeface="Times New Roman" pitchFamily="18" charset="0"/>
                <a:cs typeface="Times New Roman" pitchFamily="18" charset="0"/>
              </a:rPr>
              <a:t>Feedback System:</a:t>
            </a:r>
            <a:r>
              <a:rPr lang="en-US" sz="1200" dirty="0" smtClean="0">
                <a:latin typeface="Times New Roman" pitchFamily="18" charset="0"/>
                <a:cs typeface="Times New Roman" pitchFamily="18" charset="0"/>
              </a:rPr>
              <a:t> Enhance feedback collection through user surveys, suggestion boxes, and issue reporting to continuously improve website features and address user concerns effectively.</a:t>
            </a:r>
          </a:p>
          <a:p>
            <a:pPr marL="12700" lvl="1">
              <a:lnSpc>
                <a:spcPct val="100000"/>
              </a:lnSpc>
              <a:spcBef>
                <a:spcPts val="1155"/>
              </a:spcBef>
              <a:tabLst>
                <a:tab pos="278765" algn="l"/>
              </a:tabLst>
            </a:pPr>
            <a:endParaRPr sz="1200" dirty="0">
              <a:latin typeface="Times New Roman" pitchFamily="18" charset="0"/>
              <a:cs typeface="Times New Roman" pitchFamily="18" charset="0"/>
            </a:endParaRPr>
          </a:p>
        </p:txBody>
      </p:sp>
      <p:sp>
        <p:nvSpPr>
          <p:cNvPr id="3" name="object 3"/>
          <p:cNvSpPr txBox="1"/>
          <p:nvPr/>
        </p:nvSpPr>
        <p:spPr>
          <a:xfrm>
            <a:off x="547369" y="7082400"/>
            <a:ext cx="6649720" cy="262892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8.8</a:t>
            </a:r>
            <a:r>
              <a:rPr sz="1400" b="1" spc="5" dirty="0">
                <a:latin typeface="Times New Roman"/>
                <a:cs typeface="Times New Roman"/>
              </a:rPr>
              <a:t> </a:t>
            </a:r>
            <a:r>
              <a:rPr sz="1400" b="1" spc="-10" dirty="0">
                <a:latin typeface="Times New Roman"/>
                <a:cs typeface="Times New Roman"/>
              </a:rPr>
              <a:t>Localization </a:t>
            </a:r>
            <a:r>
              <a:rPr sz="1400" b="1" dirty="0">
                <a:latin typeface="Times New Roman"/>
                <a:cs typeface="Times New Roman"/>
              </a:rPr>
              <a:t>and</a:t>
            </a:r>
            <a:r>
              <a:rPr sz="1400" b="1" spc="-15" dirty="0">
                <a:latin typeface="Times New Roman"/>
                <a:cs typeface="Times New Roman"/>
              </a:rPr>
              <a:t> </a:t>
            </a:r>
            <a:r>
              <a:rPr sz="1400" b="1" dirty="0">
                <a:latin typeface="Times New Roman"/>
                <a:cs typeface="Times New Roman"/>
              </a:rPr>
              <a:t>Global</a:t>
            </a:r>
            <a:r>
              <a:rPr sz="1400" b="1" spc="10" dirty="0">
                <a:latin typeface="Times New Roman"/>
                <a:cs typeface="Times New Roman"/>
              </a:rPr>
              <a:t> </a:t>
            </a:r>
            <a:r>
              <a:rPr sz="1400" b="1" spc="-10" dirty="0">
                <a:latin typeface="Times New Roman"/>
                <a:cs typeface="Times New Roman"/>
              </a:rPr>
              <a:t>Expansion</a:t>
            </a:r>
            <a:endParaRPr sz="1400" dirty="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Multi-Language Support:</a:t>
            </a:r>
            <a:r>
              <a:rPr lang="en-US" sz="1200" dirty="0" smtClean="0">
                <a:latin typeface="Times New Roman" pitchFamily="18" charset="0"/>
                <a:cs typeface="Times New Roman" pitchFamily="18" charset="0"/>
              </a:rPr>
              <a:t> Offer the website interface in multiple languages to serve a global audience and make the platform accessible to non-English speaking users.</a:t>
            </a:r>
          </a:p>
          <a:p>
            <a:pPr marL="171450" indent="-171450">
              <a:buFont typeface="Arial" pitchFamily="34" charset="0"/>
              <a:buChar char="•"/>
            </a:pPr>
            <a:r>
              <a:rPr lang="en-US" sz="1200" b="1" dirty="0" smtClean="0">
                <a:latin typeface="Times New Roman" pitchFamily="18" charset="0"/>
                <a:cs typeface="Times New Roman" pitchFamily="18" charset="0"/>
              </a:rPr>
              <a:t>Localized Fitness Plans:</a:t>
            </a:r>
            <a:r>
              <a:rPr lang="en-US" sz="1200" dirty="0" smtClean="0">
                <a:latin typeface="Times New Roman" pitchFamily="18" charset="0"/>
                <a:cs typeface="Times New Roman" pitchFamily="18" charset="0"/>
              </a:rPr>
              <a:t> Provide culturally relevant workout and diet plans customized for users in different regions according to their specific lifestyle, food habits, and available resources.</a:t>
            </a:r>
          </a:p>
          <a:p>
            <a:pPr marL="12700">
              <a:lnSpc>
                <a:spcPct val="100000"/>
              </a:lnSpc>
              <a:spcBef>
                <a:spcPts val="1155"/>
              </a:spcBef>
            </a:pPr>
            <a:r>
              <a:rPr sz="1400" b="1" dirty="0" smtClean="0">
                <a:latin typeface="Times New Roman"/>
                <a:cs typeface="Times New Roman"/>
              </a:rPr>
              <a:t>8.9</a:t>
            </a:r>
            <a:r>
              <a:rPr sz="1400" b="1" spc="-35" dirty="0" smtClean="0">
                <a:latin typeface="Times New Roman"/>
                <a:cs typeface="Times New Roman"/>
              </a:rPr>
              <a:t> </a:t>
            </a:r>
            <a:r>
              <a:rPr sz="1400" b="1" dirty="0">
                <a:latin typeface="Times New Roman"/>
                <a:cs typeface="Times New Roman"/>
              </a:rPr>
              <a:t>Integration</a:t>
            </a:r>
            <a:r>
              <a:rPr sz="1400" b="1" spc="-20" dirty="0">
                <a:latin typeface="Times New Roman"/>
                <a:cs typeface="Times New Roman"/>
              </a:rPr>
              <a:t> </a:t>
            </a:r>
            <a:r>
              <a:rPr sz="1400" b="1" dirty="0">
                <a:latin typeface="Times New Roman"/>
                <a:cs typeface="Times New Roman"/>
              </a:rPr>
              <a:t>with</a:t>
            </a:r>
            <a:r>
              <a:rPr sz="1400" b="1" spc="-25" dirty="0">
                <a:latin typeface="Times New Roman"/>
                <a:cs typeface="Times New Roman"/>
              </a:rPr>
              <a:t> </a:t>
            </a:r>
            <a:r>
              <a:rPr sz="1400" b="1" dirty="0">
                <a:latin typeface="Times New Roman"/>
                <a:cs typeface="Times New Roman"/>
              </a:rPr>
              <a:t>Smart</a:t>
            </a:r>
            <a:r>
              <a:rPr sz="1400" b="1" spc="-35" dirty="0">
                <a:latin typeface="Times New Roman"/>
                <a:cs typeface="Times New Roman"/>
              </a:rPr>
              <a:t> </a:t>
            </a:r>
            <a:r>
              <a:rPr sz="1400" b="1" spc="-10" dirty="0" smtClean="0">
                <a:latin typeface="Times New Roman"/>
                <a:cs typeface="Times New Roman"/>
              </a:rPr>
              <a:t>Devices</a:t>
            </a:r>
            <a:endParaRPr lang="en-US" sz="1400" b="1" spc="-10" dirty="0" smtClean="0">
              <a:latin typeface="Times New Roman"/>
              <a:cs typeface="Times New Roman"/>
            </a:endParaRPr>
          </a:p>
          <a:p>
            <a:pPr marL="285750" indent="-285750">
              <a:buFont typeface="Arial" pitchFamily="34" charset="0"/>
              <a:buChar char="•"/>
            </a:pPr>
            <a:r>
              <a:rPr lang="en-US" sz="1200" b="1" dirty="0" smtClean="0">
                <a:latin typeface="Times New Roman" pitchFamily="18" charset="0"/>
                <a:cs typeface="Times New Roman" pitchFamily="18" charset="0"/>
              </a:rPr>
              <a:t>Smart Device Integration:</a:t>
            </a:r>
            <a:r>
              <a:rPr lang="en-US" sz="1200" dirty="0" smtClean="0">
                <a:latin typeface="Times New Roman" pitchFamily="18" charset="0"/>
                <a:cs typeface="Times New Roman" pitchFamily="18" charset="0"/>
              </a:rPr>
              <a:t> Allow integration with fitness bands, smartwatches, and smart scales to automatically track user activity, heart rate, and calorie burn directly into their personal profiles.</a:t>
            </a:r>
          </a:p>
          <a:p>
            <a:pPr marL="285750" indent="-285750">
              <a:buFont typeface="Arial" pitchFamily="34" charset="0"/>
              <a:buChar char="•"/>
            </a:pPr>
            <a:r>
              <a:rPr lang="en-US" sz="1200" b="1" dirty="0" smtClean="0">
                <a:latin typeface="Times New Roman" pitchFamily="18" charset="0"/>
                <a:cs typeface="Times New Roman" pitchFamily="18" charset="0"/>
              </a:rPr>
              <a:t>Voice Assistant Support:</a:t>
            </a:r>
            <a:r>
              <a:rPr lang="en-US" sz="1200" dirty="0" smtClean="0">
                <a:latin typeface="Times New Roman" pitchFamily="18" charset="0"/>
                <a:cs typeface="Times New Roman" pitchFamily="18" charset="0"/>
              </a:rPr>
              <a:t> Explore integration with smart speakers (Alexa, Google Assistant) where users can get workout reminders, start workout sessions, or receive nutritional advice via voice commands.</a:t>
            </a:r>
          </a:p>
          <a:p>
            <a:pPr marL="12700">
              <a:lnSpc>
                <a:spcPct val="100000"/>
              </a:lnSpc>
              <a:spcBef>
                <a:spcPts val="1155"/>
              </a:spcBef>
            </a:pPr>
            <a:endParaRPr sz="1400" dirty="0">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38</a:t>
            </a:fld>
            <a:r>
              <a:rPr spc="-20" dirty="0"/>
              <a:t>]</a:t>
            </a:r>
          </a:p>
        </p:txBody>
      </p:sp>
      <p:sp>
        <p:nvSpPr>
          <p:cNvPr id="2" name="object 2"/>
          <p:cNvSpPr txBox="1"/>
          <p:nvPr/>
        </p:nvSpPr>
        <p:spPr>
          <a:xfrm>
            <a:off x="528319" y="354583"/>
            <a:ext cx="6648450" cy="1336263"/>
          </a:xfrm>
          <a:prstGeom prst="rect">
            <a:avLst/>
          </a:prstGeom>
        </p:spPr>
        <p:txBody>
          <a:bodyPr vert="horz" wrap="square" lIns="0" tIns="12700" rIns="0" bIns="0" rtlCol="0">
            <a:spAutoFit/>
          </a:bodyPr>
          <a:lstStyle/>
          <a:p>
            <a:r>
              <a:rPr lang="en-US" sz="1400" b="1" dirty="0" smtClean="0">
                <a:latin typeface="Times New Roman"/>
                <a:cs typeface="Times New Roman"/>
              </a:rPr>
              <a:t>1.   </a:t>
            </a:r>
            <a:r>
              <a:rPr sz="1400" b="1" dirty="0" smtClean="0">
                <a:latin typeface="Times New Roman"/>
                <a:cs typeface="Times New Roman"/>
              </a:rPr>
              <a:t>Data</a:t>
            </a:r>
            <a:r>
              <a:rPr sz="1400" b="1" spc="-25" dirty="0" smtClean="0">
                <a:latin typeface="Times New Roman"/>
                <a:cs typeface="Times New Roman"/>
              </a:rPr>
              <a:t> </a:t>
            </a:r>
            <a:r>
              <a:rPr sz="1400" b="1" dirty="0">
                <a:latin typeface="Times New Roman"/>
                <a:cs typeface="Times New Roman"/>
              </a:rPr>
              <a:t>Analytics</a:t>
            </a:r>
            <a:r>
              <a:rPr sz="1400" b="1" spc="-30" dirty="0">
                <a:latin typeface="Times New Roman"/>
                <a:cs typeface="Times New Roman"/>
              </a:rPr>
              <a:t> </a:t>
            </a:r>
            <a:r>
              <a:rPr sz="1400" b="1" dirty="0">
                <a:latin typeface="Times New Roman"/>
                <a:cs typeface="Times New Roman"/>
              </a:rPr>
              <a:t>and</a:t>
            </a:r>
            <a:r>
              <a:rPr sz="1400" b="1" spc="-25" dirty="0">
                <a:latin typeface="Times New Roman"/>
                <a:cs typeface="Times New Roman"/>
              </a:rPr>
              <a:t> </a:t>
            </a:r>
            <a:r>
              <a:rPr sz="1400" b="1" spc="-10" dirty="0" smtClean="0">
                <a:latin typeface="Times New Roman"/>
                <a:cs typeface="Times New Roman"/>
              </a:rPr>
              <a:t>Insights</a:t>
            </a:r>
            <a:endParaRPr lang="en-US" sz="1400" b="1" spc="-10" dirty="0" smtClean="0">
              <a:latin typeface="Times New Roman"/>
              <a:cs typeface="Times New Roman"/>
            </a:endParaRPr>
          </a:p>
          <a:p>
            <a:pPr marL="171450" indent="-171450">
              <a:buFont typeface="Arial" pitchFamily="34" charset="0"/>
              <a:buChar char="•"/>
            </a:pPr>
            <a:r>
              <a:rPr lang="en-US" sz="1200" b="1" dirty="0" smtClean="0">
                <a:latin typeface="Times New Roman" pitchFamily="18" charset="0"/>
                <a:cs typeface="Times New Roman" pitchFamily="18" charset="0"/>
              </a:rPr>
              <a:t>User Analytics:</a:t>
            </a:r>
            <a:r>
              <a:rPr lang="en-US" sz="1200" dirty="0" smtClean="0">
                <a:latin typeface="Times New Roman" pitchFamily="18" charset="0"/>
                <a:cs typeface="Times New Roman" pitchFamily="18" charset="0"/>
              </a:rPr>
              <a:t> Implement analytics tools to monitor user engagement, subscription trends, most used features, and purchasing patterns for continuous website improvement.</a:t>
            </a:r>
          </a:p>
          <a:p>
            <a:pPr marL="171450" indent="-171450">
              <a:buFont typeface="Arial" pitchFamily="34" charset="0"/>
              <a:buChar char="•"/>
            </a:pPr>
            <a:r>
              <a:rPr lang="en-US" sz="1200" b="1" dirty="0" smtClean="0">
                <a:latin typeface="Times New Roman" pitchFamily="18" charset="0"/>
                <a:cs typeface="Times New Roman" pitchFamily="18" charset="0"/>
              </a:rPr>
              <a:t>Fitness Trends Analysis:</a:t>
            </a:r>
            <a:r>
              <a:rPr lang="en-US" sz="1200" dirty="0" smtClean="0">
                <a:latin typeface="Times New Roman" pitchFamily="18" charset="0"/>
                <a:cs typeface="Times New Roman" pitchFamily="18" charset="0"/>
              </a:rPr>
              <a:t> Analyze user progress data and global fitness trends to regularly update and suggest new workout routines, product offerings, and nutrition plans.</a:t>
            </a:r>
          </a:p>
          <a:p>
            <a:pPr marL="412115" lvl="2" indent="-399415">
              <a:lnSpc>
                <a:spcPct val="100000"/>
              </a:lnSpc>
              <a:spcBef>
                <a:spcPts val="1155"/>
              </a:spcBef>
              <a:buAutoNum type="arabicPeriod"/>
              <a:tabLst>
                <a:tab pos="412115" algn="l"/>
              </a:tabLst>
            </a:pPr>
            <a:endParaRPr sz="1400" dirty="0">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39</a:t>
            </a:fld>
            <a:r>
              <a:rPr spc="-20" dirty="0"/>
              <a:t>]</a:t>
            </a:r>
          </a:p>
        </p:txBody>
      </p:sp>
      <p:sp>
        <p:nvSpPr>
          <p:cNvPr id="2" name="object 2"/>
          <p:cNvSpPr txBox="1"/>
          <p:nvPr/>
        </p:nvSpPr>
        <p:spPr>
          <a:xfrm>
            <a:off x="3227958" y="371348"/>
            <a:ext cx="1248410" cy="269240"/>
          </a:xfrm>
          <a:prstGeom prst="rect">
            <a:avLst/>
          </a:prstGeom>
        </p:spPr>
        <p:txBody>
          <a:bodyPr vert="horz" wrap="square" lIns="0" tIns="12065" rIns="0" bIns="0" rtlCol="0">
            <a:spAutoFit/>
          </a:bodyPr>
          <a:lstStyle/>
          <a:p>
            <a:pPr marL="12700">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a:t>
            </a:r>
            <a:r>
              <a:rPr sz="1600" b="1" u="sng" spc="-50" dirty="0">
                <a:uFill>
                  <a:solidFill>
                    <a:srgbClr val="000000"/>
                  </a:solidFill>
                </a:uFill>
                <a:latin typeface="Times New Roman"/>
                <a:cs typeface="Times New Roman"/>
              </a:rPr>
              <a:t>9</a:t>
            </a:r>
            <a:endParaRPr sz="1600">
              <a:latin typeface="Times New Roman"/>
              <a:cs typeface="Times New Roman"/>
            </a:endParaRPr>
          </a:p>
        </p:txBody>
      </p:sp>
      <p:sp>
        <p:nvSpPr>
          <p:cNvPr id="3" name="object 3"/>
          <p:cNvSpPr txBox="1"/>
          <p:nvPr/>
        </p:nvSpPr>
        <p:spPr>
          <a:xfrm>
            <a:off x="528319" y="1164082"/>
            <a:ext cx="6650990" cy="6550511"/>
          </a:xfrm>
          <a:prstGeom prst="rect">
            <a:avLst/>
          </a:prstGeom>
        </p:spPr>
        <p:txBody>
          <a:bodyPr vert="horz" wrap="square" lIns="0" tIns="12700" rIns="0" bIns="0" rtlCol="0">
            <a:spAutoFit/>
          </a:bodyPr>
          <a:lstStyle/>
          <a:p>
            <a:r>
              <a:rPr sz="1400" b="1" dirty="0" smtClean="0">
                <a:latin typeface="Times New Roman"/>
                <a:cs typeface="Times New Roman"/>
              </a:rPr>
              <a:t>9.1</a:t>
            </a:r>
            <a:r>
              <a:rPr sz="1400" b="1" spc="-15" dirty="0" smtClean="0">
                <a:latin typeface="Times New Roman"/>
                <a:cs typeface="Times New Roman"/>
              </a:rPr>
              <a:t> </a:t>
            </a:r>
            <a:r>
              <a:rPr sz="1400" b="1" spc="-10" dirty="0" smtClean="0">
                <a:latin typeface="Times New Roman"/>
                <a:cs typeface="Times New Roman"/>
              </a:rPr>
              <a:t>Conclusion.</a:t>
            </a:r>
            <a:r>
              <a:rPr lang="en-US" sz="1400" dirty="0" smtClean="0"/>
              <a:t> </a:t>
            </a:r>
          </a:p>
          <a:p>
            <a:r>
              <a:rPr lang="en-US" sz="1200" dirty="0" smtClean="0">
                <a:latin typeface="Times New Roman" pitchFamily="18" charset="0"/>
                <a:cs typeface="Times New Roman" pitchFamily="18" charset="0"/>
              </a:rPr>
              <a:t>The Fitness Freak Gym Website is an innovative digital solution that integrates comprehensive gym management with online membership subscriptions, workout plans, and e-commerce functionality, addressing the diverse needs of fitness enthusiasts and gym owners alike. By incorporating robust web technologies such as PHP, MySQL, JavaScript, and secure payment gateway APIs, the website delivers a feature-rich platform that enhances user engagement and simplifies gym operations.</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Throughout the development process, a systematic methodology was followed, comprising multiple essential phases. The website was carefully designed with a user-friendly interface using HTML, CSS, and responsive design principles to ensure smooth navigation across devices. The development phase focused on core functionalities such as user registration, subscription management, personalized workout plan access, and an integrated online store with secure payment processing. Rigorous testing was conducted to validate the system's reliability and performance, including unit testing for individual modules, integration testing for system interactions, and user acceptance testing (UAT) to gather valuable feedback from actual users. These comprehensive testing procedures confirmed that the website meets its functional objectives and delivers a positive user experience.</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Looking ahead, the Fitness Freak Gym Website offers significant potential for future growth and enhancement. There are opportunities to introduce personalized fitness tracking through user profiles, incorporating machine learning algorithms to suggest workout routines based on individual progress and preferences. The integration of advanced features such as virtual trainers, live workout sessions, and nutritional guidance can further enrich the user experience. Expanding the store section with a wider range of fitness products, merchandise, and supplements will enhance the commercial aspect of the platform.</a:t>
            </a:r>
          </a:p>
          <a:p>
            <a:r>
              <a:rPr lang="en-US" sz="1200" dirty="0" smtClean="0">
                <a:latin typeface="Times New Roman" pitchFamily="18" charset="0"/>
                <a:cs typeface="Times New Roman" pitchFamily="18" charset="0"/>
              </a:rPr>
              <a:t>Developing mobile applications for </a:t>
            </a:r>
            <a:r>
              <a:rPr lang="en-US" sz="1200" dirty="0" err="1" smtClean="0">
                <a:latin typeface="Times New Roman" pitchFamily="18" charset="0"/>
                <a:cs typeface="Times New Roman" pitchFamily="18" charset="0"/>
              </a:rPr>
              <a:t>iOS</a:t>
            </a:r>
            <a:r>
              <a:rPr lang="en-US" sz="1200" dirty="0" smtClean="0">
                <a:latin typeface="Times New Roman" pitchFamily="18" charset="0"/>
                <a:cs typeface="Times New Roman" pitchFamily="18" charset="0"/>
              </a:rPr>
              <a:t> and Android devices, as well as progressive web apps (PWA), will broaden accessibility, allowing users to interact with the platform from any location. Building a community forum where members can interact, share progress, and motivate each other will foster a sense of belonging and encourage consistent user engagement. Additionally, adding multi-language support and location-based services can make the platform more inclusive, catering to a global fitness community.</a:t>
            </a:r>
          </a:p>
          <a:p>
            <a:endParaRPr lang="en-US"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In summary, the Fitness Freak Gym Website serves not only as an efficient management system but also as a complete fitness ecosystem that supports users on their fitness journeys. With continuous innovation, user-centric enhancements, and a focus on emerging technologies, the platform is well-positioned to evolve into a leading solution in the fitness industry, providing value, convenience, and motivation to a broad and growing user base.</a:t>
            </a:r>
          </a:p>
          <a:p>
            <a:pPr marL="12700">
              <a:lnSpc>
                <a:spcPct val="100000"/>
              </a:lnSpc>
              <a:spcBef>
                <a:spcPts val="100"/>
              </a:spcBef>
            </a:pPr>
            <a:endParaRPr sz="1400" b="1" spc="-10" dirty="0" smtClean="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40</a:t>
            </a:fld>
            <a:r>
              <a:rPr spc="-20" dirty="0"/>
              <a:t>]</a:t>
            </a:r>
          </a:p>
        </p:txBody>
      </p:sp>
      <p:sp>
        <p:nvSpPr>
          <p:cNvPr id="2" name="object 2"/>
          <p:cNvSpPr txBox="1"/>
          <p:nvPr/>
        </p:nvSpPr>
        <p:spPr>
          <a:xfrm>
            <a:off x="528319" y="371348"/>
            <a:ext cx="6650355" cy="9707145"/>
          </a:xfrm>
          <a:prstGeom prst="rect">
            <a:avLst/>
          </a:prstGeom>
        </p:spPr>
        <p:txBody>
          <a:bodyPr vert="horz" wrap="square" lIns="0" tIns="12065" rIns="0" bIns="0" rtlCol="0">
            <a:spAutoFit/>
          </a:bodyPr>
          <a:lstStyle/>
          <a:p>
            <a:pPr algn="ctr">
              <a:lnSpc>
                <a:spcPct val="100000"/>
              </a:lnSpc>
              <a:spcBef>
                <a:spcPts val="95"/>
              </a:spcBef>
            </a:pPr>
            <a:r>
              <a:rPr sz="1600" b="1" u="sng" dirty="0">
                <a:uFill>
                  <a:solidFill>
                    <a:srgbClr val="000000"/>
                  </a:solidFill>
                </a:uFill>
                <a:latin typeface="Times New Roman"/>
                <a:cs typeface="Times New Roman"/>
              </a:rPr>
              <a:t>Chapter</a:t>
            </a: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No.</a:t>
            </a:r>
            <a:r>
              <a:rPr sz="1600" b="1" u="sng" spc="-25" dirty="0">
                <a:uFill>
                  <a:solidFill>
                    <a:srgbClr val="000000"/>
                  </a:solidFill>
                </a:uFill>
                <a:latin typeface="Times New Roman"/>
                <a:cs typeface="Times New Roman"/>
              </a:rPr>
              <a:t> 10</a:t>
            </a:r>
            <a:endParaRPr sz="1600" dirty="0">
              <a:latin typeface="Times New Roman"/>
              <a:cs typeface="Times New Roman"/>
            </a:endParaRPr>
          </a:p>
          <a:p>
            <a:pPr marL="367665" lvl="1" indent="-354965">
              <a:lnSpc>
                <a:spcPct val="100000"/>
              </a:lnSpc>
              <a:spcBef>
                <a:spcPts val="1220"/>
              </a:spcBef>
              <a:buAutoNum type="arabicPeriod"/>
              <a:tabLst>
                <a:tab pos="367665" algn="l"/>
              </a:tabLst>
            </a:pPr>
            <a:r>
              <a:rPr sz="1400" b="1" spc="-10" dirty="0" smtClean="0">
                <a:latin typeface="Times New Roman"/>
                <a:cs typeface="Times New Roman"/>
              </a:rPr>
              <a:t>References</a:t>
            </a:r>
            <a:endParaRPr lang="en-US" sz="1400" b="1" spc="-10" dirty="0" smtClean="0">
              <a:latin typeface="Times New Roman"/>
              <a:cs typeface="Times New Roman"/>
            </a:endParaRPr>
          </a:p>
          <a:p>
            <a:pPr marL="12700" lvl="1">
              <a:lnSpc>
                <a:spcPct val="100000"/>
              </a:lnSpc>
              <a:spcBef>
                <a:spcPts val="1220"/>
              </a:spcBef>
              <a:tabLst>
                <a:tab pos="367665" algn="l"/>
              </a:tabLst>
            </a:pPr>
            <a:r>
              <a:rPr lang="en-US" sz="1400" dirty="0" smtClean="0">
                <a:latin typeface="Times New Roman" pitchFamily="18" charset="0"/>
                <a:cs typeface="Times New Roman" pitchFamily="18" charset="0"/>
              </a:rPr>
              <a:t>. </a:t>
            </a:r>
            <a:r>
              <a:rPr lang="en-US" sz="1200" dirty="0" smtClean="0">
                <a:latin typeface="Times New Roman" pitchFamily="18" charset="0"/>
                <a:cs typeface="Times New Roman" pitchFamily="18" charset="0"/>
              </a:rPr>
              <a:t>This section includes a selection of books and web resources that were instrumental in the development of the Fitness Freak Gym Website. Key texts such as "Software Engineering" by Ian Somerville and "The Design of Everyday Things" by Don Norman provided foundational knowledge in software development and user experience design. Additionally, resources related to PHP, MySQL, and web development technologies were extensively consulted to implement backend functionality, database management, and user interface design. The integration of front-end libraries and frameworks, as well as community support platforms like Stack Overflow, played a significant role in solving technical challenges and enhancing the project.</a:t>
            </a:r>
            <a:endParaRPr sz="1200" dirty="0">
              <a:latin typeface="Times New Roman" pitchFamily="18" charset="0"/>
              <a:cs typeface="Times New Roman" pitchFamily="18" charset="0"/>
            </a:endParaRPr>
          </a:p>
          <a:p>
            <a:pPr marL="12700">
              <a:lnSpc>
                <a:spcPct val="100000"/>
              </a:lnSpc>
              <a:spcBef>
                <a:spcPts val="1160"/>
              </a:spcBef>
            </a:pPr>
            <a:r>
              <a:rPr sz="1400" b="1" spc="-10" dirty="0" smtClean="0">
                <a:latin typeface="Times New Roman"/>
                <a:cs typeface="Times New Roman"/>
              </a:rPr>
              <a:t>Books</a:t>
            </a:r>
            <a:endParaRPr sz="1400" dirty="0">
              <a:latin typeface="Times New Roman"/>
              <a:cs typeface="Times New Roman"/>
            </a:endParaRPr>
          </a:p>
          <a:p>
            <a:pPr marL="469265" lvl="2" indent="-227965">
              <a:lnSpc>
                <a:spcPct val="100000"/>
              </a:lnSpc>
              <a:spcBef>
                <a:spcPts val="1180"/>
              </a:spcBef>
              <a:buAutoNum type="arabicPeriod"/>
              <a:tabLst>
                <a:tab pos="469265" algn="l"/>
              </a:tabLst>
            </a:pPr>
            <a:r>
              <a:rPr sz="1400" b="1" dirty="0">
                <a:latin typeface="Times New Roman"/>
                <a:cs typeface="Times New Roman"/>
              </a:rPr>
              <a:t>Software</a:t>
            </a:r>
            <a:r>
              <a:rPr sz="1400" b="1" spc="-30" dirty="0">
                <a:latin typeface="Times New Roman"/>
                <a:cs typeface="Times New Roman"/>
              </a:rPr>
              <a:t> </a:t>
            </a:r>
            <a:r>
              <a:rPr sz="1400" b="1" spc="-10" dirty="0" smtClean="0">
                <a:latin typeface="Times New Roman"/>
                <a:cs typeface="Times New Roman"/>
              </a:rPr>
              <a:t>Engineering</a:t>
            </a:r>
            <a:endParaRPr lang="en-US" sz="1400" b="1" spc="-10" dirty="0" smtClean="0">
              <a:latin typeface="Times New Roman"/>
              <a:cs typeface="Times New Roman"/>
            </a:endParaRPr>
          </a:p>
          <a:p>
            <a:pPr marL="241300" lvl="2">
              <a:lnSpc>
                <a:spcPct val="100000"/>
              </a:lnSpc>
              <a:spcBef>
                <a:spcPts val="1180"/>
              </a:spcBef>
              <a:tabLst>
                <a:tab pos="469265" algn="l"/>
              </a:tabLst>
            </a:pPr>
            <a:r>
              <a:rPr lang="en-US" sz="1200" dirty="0" err="1" smtClean="0">
                <a:latin typeface="Times New Roman" pitchFamily="18" charset="0"/>
                <a:cs typeface="Times New Roman" pitchFamily="18" charset="0"/>
              </a:rPr>
              <a:t>Sommerville</a:t>
            </a:r>
            <a:r>
              <a:rPr lang="en-US" sz="1200" dirty="0" smtClean="0">
                <a:latin typeface="Times New Roman" pitchFamily="18" charset="0"/>
                <a:cs typeface="Times New Roman" pitchFamily="18" charset="0"/>
              </a:rPr>
              <a:t>, I. (2011). Software Engineering (9th ed.). Boston: Addison-Wesley.</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book provides comprehensive coverage of software engineering principles, methodologies, and best practices, which were crucial for planning and developing the gym website.</a:t>
            </a:r>
            <a:endParaRPr sz="1200" dirty="0">
              <a:latin typeface="Times New Roman" pitchFamily="18" charset="0"/>
              <a:cs typeface="Times New Roman" pitchFamily="18" charset="0"/>
            </a:endParaRPr>
          </a:p>
          <a:p>
            <a:pPr marL="584200" lvl="2" indent="-342900">
              <a:lnSpc>
                <a:spcPct val="100000"/>
              </a:lnSpc>
              <a:spcBef>
                <a:spcPts val="1155"/>
              </a:spcBef>
              <a:buAutoNum type="arabicPeriod" startAt="2"/>
              <a:tabLst>
                <a:tab pos="469265" algn="l"/>
              </a:tabLst>
            </a:pPr>
            <a:r>
              <a:rPr sz="1400" b="1" dirty="0" smtClean="0">
                <a:latin typeface="Times New Roman"/>
                <a:cs typeface="Times New Roman"/>
              </a:rPr>
              <a:t>User</a:t>
            </a:r>
            <a:r>
              <a:rPr sz="1400" b="1" spc="-30" dirty="0" smtClean="0">
                <a:latin typeface="Times New Roman"/>
                <a:cs typeface="Times New Roman"/>
              </a:rPr>
              <a:t> </a:t>
            </a:r>
            <a:r>
              <a:rPr sz="1400" b="1" dirty="0">
                <a:latin typeface="Times New Roman"/>
                <a:cs typeface="Times New Roman"/>
              </a:rPr>
              <a:t>Experience</a:t>
            </a:r>
            <a:r>
              <a:rPr sz="1400" b="1" spc="-40" dirty="0">
                <a:latin typeface="Times New Roman"/>
                <a:cs typeface="Times New Roman"/>
              </a:rPr>
              <a:t> </a:t>
            </a:r>
            <a:r>
              <a:rPr sz="1400" b="1" spc="-10" dirty="0" smtClean="0">
                <a:latin typeface="Times New Roman"/>
                <a:cs typeface="Times New Roman"/>
              </a:rPr>
              <a:t>Design</a:t>
            </a:r>
            <a:endParaRPr lang="en-US" sz="1400" b="1" spc="-10" dirty="0" smtClean="0">
              <a:latin typeface="Times New Roman"/>
              <a:cs typeface="Times New Roman"/>
            </a:endParaRPr>
          </a:p>
          <a:p>
            <a:pPr marL="241300" lvl="2">
              <a:lnSpc>
                <a:spcPct val="100000"/>
              </a:lnSpc>
              <a:spcBef>
                <a:spcPts val="1155"/>
              </a:spcBef>
              <a:tabLst>
                <a:tab pos="469265" algn="l"/>
              </a:tabLst>
            </a:pPr>
            <a:r>
              <a:rPr lang="en-US" sz="1200" dirty="0" smtClean="0">
                <a:latin typeface="Times New Roman" pitchFamily="18" charset="0"/>
                <a:cs typeface="Times New Roman" pitchFamily="18" charset="0"/>
              </a:rPr>
              <a:t>Norman, D. A. (2013). The Design of Everyday Things: Revised and Expanded Edition. New York: Basic Books.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book explores principles of user-centered design and usability, which guided the design of an intuitive and user-friendly interface for the website.</a:t>
            </a:r>
          </a:p>
          <a:p>
            <a:pPr marL="241300" lvl="2">
              <a:lnSpc>
                <a:spcPct val="100000"/>
              </a:lnSpc>
              <a:spcBef>
                <a:spcPts val="1155"/>
              </a:spcBef>
              <a:tabLst>
                <a:tab pos="469265" algn="l"/>
              </a:tabLst>
            </a:pPr>
            <a:r>
              <a:rPr lang="en-US" sz="1400" b="1" dirty="0" smtClean="0">
                <a:latin typeface="Times New Roman" pitchFamily="18" charset="0"/>
                <a:cs typeface="Times New Roman" pitchFamily="18" charset="0"/>
              </a:rPr>
              <a:t>3. </a:t>
            </a:r>
            <a:r>
              <a:rPr lang="en-US" sz="1400" b="1" dirty="0" smtClean="0"/>
              <a:t>PHP &amp; MySQL Web Development </a:t>
            </a:r>
          </a:p>
          <a:p>
            <a:pPr marL="241300" lvl="2">
              <a:lnSpc>
                <a:spcPct val="100000"/>
              </a:lnSpc>
              <a:spcBef>
                <a:spcPts val="1155"/>
              </a:spcBef>
              <a:tabLst>
                <a:tab pos="469265" algn="l"/>
              </a:tabLst>
            </a:pPr>
            <a:r>
              <a:rPr lang="en-US" sz="1200" dirty="0" smtClean="0">
                <a:latin typeface="Times New Roman" pitchFamily="18" charset="0"/>
                <a:cs typeface="Times New Roman" pitchFamily="18" charset="0"/>
              </a:rPr>
              <a:t>Ullman, L. (2017). PHP and MySQL for Dynamic Web Sites: Visual </a:t>
            </a:r>
            <a:r>
              <a:rPr lang="en-US" sz="1200" dirty="0" err="1" smtClean="0">
                <a:latin typeface="Times New Roman" pitchFamily="18" charset="0"/>
                <a:cs typeface="Times New Roman" pitchFamily="18" charset="0"/>
              </a:rPr>
              <a:t>QuickPro</a:t>
            </a:r>
            <a:r>
              <a:rPr lang="en-US" sz="1200" dirty="0" smtClean="0">
                <a:latin typeface="Times New Roman" pitchFamily="18" charset="0"/>
                <a:cs typeface="Times New Roman" pitchFamily="18" charset="0"/>
              </a:rPr>
              <a:t> Guide (5th ed.). </a:t>
            </a:r>
            <a:r>
              <a:rPr lang="en-US" sz="1200" dirty="0" err="1" smtClean="0">
                <a:latin typeface="Times New Roman" pitchFamily="18" charset="0"/>
                <a:cs typeface="Times New Roman" pitchFamily="18" charset="0"/>
              </a:rPr>
              <a:t>Peachpit</a:t>
            </a:r>
            <a:r>
              <a:rPr lang="en-US" sz="1200" dirty="0" smtClean="0">
                <a:latin typeface="Times New Roman" pitchFamily="18" charset="0"/>
                <a:cs typeface="Times New Roman" pitchFamily="18" charset="0"/>
              </a:rPr>
              <a:t> Press.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book provided detailed guidance on using PHP and MySQL for developing dynamic web applications, which formed the core technologies of the backend system.</a:t>
            </a:r>
          </a:p>
          <a:p>
            <a:pPr marL="241300" lvl="2">
              <a:lnSpc>
                <a:spcPct val="100000"/>
              </a:lnSpc>
              <a:spcBef>
                <a:spcPts val="1155"/>
              </a:spcBef>
              <a:tabLst>
                <a:tab pos="469265" algn="l"/>
              </a:tabLst>
            </a:pPr>
            <a:r>
              <a:rPr lang="en-US" sz="1400" b="1" dirty="0" smtClean="0">
                <a:latin typeface="Times New Roman" pitchFamily="18" charset="0"/>
                <a:cs typeface="Times New Roman" pitchFamily="18" charset="0"/>
              </a:rPr>
              <a:t>4. </a:t>
            </a:r>
            <a:r>
              <a:rPr lang="en-US" sz="1400" b="1" dirty="0" smtClean="0"/>
              <a:t>HTML, CSS, and JavaScript Development</a:t>
            </a:r>
          </a:p>
          <a:p>
            <a:pPr marL="241300" lvl="2">
              <a:lnSpc>
                <a:spcPct val="100000"/>
              </a:lnSpc>
              <a:spcBef>
                <a:spcPts val="1155"/>
              </a:spcBef>
              <a:tabLst>
                <a:tab pos="469265" algn="l"/>
              </a:tabLst>
            </a:pPr>
            <a:r>
              <a:rPr lang="en-US" sz="1200" dirty="0" err="1" smtClean="0">
                <a:latin typeface="Times New Roman" pitchFamily="18" charset="0"/>
                <a:cs typeface="Times New Roman" pitchFamily="18" charset="0"/>
              </a:rPr>
              <a:t>Duckett</a:t>
            </a:r>
            <a:r>
              <a:rPr lang="en-US" sz="1200" dirty="0" smtClean="0">
                <a:latin typeface="Times New Roman" pitchFamily="18" charset="0"/>
                <a:cs typeface="Times New Roman" pitchFamily="18" charset="0"/>
              </a:rPr>
              <a:t>, J. (2011). HTML and CSS: Design and Build Websites. Wiley.</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Duckett</a:t>
            </a:r>
            <a:r>
              <a:rPr lang="en-US" sz="1200" dirty="0" smtClean="0">
                <a:latin typeface="Times New Roman" pitchFamily="18" charset="0"/>
                <a:cs typeface="Times New Roman" pitchFamily="18" charset="0"/>
              </a:rPr>
              <a:t>, J. (2014). JavaScript and </a:t>
            </a:r>
            <a:r>
              <a:rPr lang="en-US" sz="1200" dirty="0" err="1" smtClean="0">
                <a:latin typeface="Times New Roman" pitchFamily="18" charset="0"/>
                <a:cs typeface="Times New Roman" pitchFamily="18" charset="0"/>
              </a:rPr>
              <a:t>JQuery</a:t>
            </a:r>
            <a:r>
              <a:rPr lang="en-US" sz="1200" dirty="0" smtClean="0">
                <a:latin typeface="Times New Roman" pitchFamily="18" charset="0"/>
                <a:cs typeface="Times New Roman" pitchFamily="18" charset="0"/>
              </a:rPr>
              <a:t>: Interactive Front-End Web Development. Wiley.</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These books offered essential insights into front-end development, assisting in creating responsive and visually appealing web pages.</a:t>
            </a:r>
            <a:endParaRPr lang="en-US" sz="1200" b="1" dirty="0" smtClean="0">
              <a:latin typeface="Times New Roman" pitchFamily="18" charset="0"/>
              <a:cs typeface="Times New Roman" pitchFamily="18" charset="0"/>
            </a:endParaRPr>
          </a:p>
          <a:p>
            <a:pPr marL="241300" lvl="2">
              <a:lnSpc>
                <a:spcPct val="100000"/>
              </a:lnSpc>
              <a:spcBef>
                <a:spcPts val="1155"/>
              </a:spcBef>
              <a:tabLst>
                <a:tab pos="469265" algn="l"/>
              </a:tabLst>
            </a:pPr>
            <a:r>
              <a:rPr sz="1400" b="1" dirty="0" smtClean="0">
                <a:latin typeface="Times New Roman"/>
                <a:cs typeface="Times New Roman"/>
              </a:rPr>
              <a:t>Web </a:t>
            </a:r>
            <a:r>
              <a:rPr sz="1400" b="1" spc="-10" dirty="0" smtClean="0">
                <a:latin typeface="Times New Roman"/>
                <a:cs typeface="Times New Roman"/>
              </a:rPr>
              <a:t>References</a:t>
            </a:r>
            <a:endParaRPr lang="en-US" sz="1400" b="1" spc="-10" dirty="0" smtClean="0">
              <a:latin typeface="Times New Roman"/>
              <a:cs typeface="Times New Roman"/>
            </a:endParaRPr>
          </a:p>
          <a:p>
            <a:pPr marL="241300" lvl="2">
              <a:lnSpc>
                <a:spcPct val="100000"/>
              </a:lnSpc>
              <a:spcBef>
                <a:spcPts val="1155"/>
              </a:spcBef>
              <a:tabLst>
                <a:tab pos="469265" algn="l"/>
              </a:tabLst>
            </a:pPr>
            <a:r>
              <a:rPr lang="en-US" sz="1200" dirty="0" smtClean="0">
                <a:latin typeface="Times New Roman" pitchFamily="18" charset="0"/>
                <a:cs typeface="Times New Roman" pitchFamily="18" charset="0"/>
              </a:rPr>
              <a:t>Web references are online resources that provide essential information, documentation, and tools for web application development. They include official documentation for web technologies, backend languages, libraries, frameworks, and educational tutorials that helped in developing the Fitness Freak Gym Website effectively. Credible sources such as PHP, MySQL, Bootstrap, and W3Schools offer detailed guidelines on web development, while platforms like Stack Overflow serve as invaluable communities for troubleshooting and knowledge sharing. In summary, these web references played a critical role in enhancing the development process, resolving technical challenges, and ensuring the creation of a high-quality fitness web platform.</a:t>
            </a:r>
            <a:endParaRPr sz="1200"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25450" y="593596"/>
            <a:ext cx="6471285" cy="8810745"/>
          </a:xfrm>
          <a:prstGeom prst="rect">
            <a:avLst/>
          </a:prstGeom>
        </p:spPr>
        <p:txBody>
          <a:bodyPr vert="horz" wrap="square" lIns="0" tIns="13335" rIns="0" bIns="0" rtlCol="0">
            <a:spAutoFit/>
          </a:bodyPr>
          <a:lstStyle/>
          <a:p>
            <a:pPr marL="12700">
              <a:lnSpc>
                <a:spcPct val="100000"/>
              </a:lnSpc>
              <a:spcBef>
                <a:spcPts val="105"/>
              </a:spcBef>
            </a:pPr>
            <a:r>
              <a:rPr sz="1400" b="1" dirty="0">
                <a:latin typeface="Times New Roman"/>
                <a:cs typeface="Times New Roman"/>
              </a:rPr>
              <a:t>Web </a:t>
            </a:r>
            <a:r>
              <a:rPr sz="1400" b="1" spc="-10" dirty="0" smtClean="0">
                <a:latin typeface="Times New Roman"/>
                <a:cs typeface="Times New Roman"/>
              </a:rPr>
              <a:t>References</a:t>
            </a:r>
            <a:endParaRPr lang="en-US" sz="1400" b="1" spc="-10" dirty="0" smtClean="0">
              <a:latin typeface="Times New Roman"/>
              <a:cs typeface="Times New Roman"/>
            </a:endParaRPr>
          </a:p>
          <a:p>
            <a:pPr marL="228600" indent="-228600">
              <a:buFont typeface="+mj-lt"/>
              <a:buAutoNum type="arabicPeriod"/>
            </a:pPr>
            <a:r>
              <a:rPr lang="en-US" sz="1200" b="1" dirty="0" smtClean="0">
                <a:latin typeface="Times New Roman" pitchFamily="18" charset="0"/>
                <a:cs typeface="Times New Roman" pitchFamily="18" charset="0"/>
              </a:rPr>
              <a:t>Frontend Development</a:t>
            </a:r>
          </a:p>
          <a:p>
            <a:pPr marL="171450" indent="-171450">
              <a:buFont typeface="Arial" pitchFamily="34" charset="0"/>
              <a:buChar char="•"/>
            </a:pPr>
            <a:r>
              <a:rPr lang="en-US" sz="1200" b="1" dirty="0" smtClean="0">
                <a:latin typeface="Times New Roman" pitchFamily="18" charset="0"/>
                <a:cs typeface="Times New Roman" pitchFamily="18" charset="0"/>
              </a:rPr>
              <a:t>HTML5 &amp; CSS3 Documentation</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W3C.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HTML &amp; CSS Standards.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2"/>
              </a:rPr>
              <a:t>https://www.w3.org/standards/webdesign/htmlcss</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official documentation offers complete guidelines on structuring web pages and styling them effectively using HTML and CSS standards.</a:t>
            </a:r>
          </a:p>
          <a:p>
            <a:pPr marL="228600" indent="-228600">
              <a:buFont typeface="Arial" pitchFamily="34" charset="0"/>
              <a:buChar char="•"/>
            </a:pPr>
            <a:r>
              <a:rPr lang="en-US" sz="1200" b="1" dirty="0" smtClean="0">
                <a:latin typeface="Times New Roman" pitchFamily="18" charset="0"/>
                <a:cs typeface="Times New Roman" pitchFamily="18" charset="0"/>
              </a:rPr>
              <a:t>JavaScript MDN Documentation</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Mozilla.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MDN JavaScript Reference.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3"/>
              </a:rPr>
              <a:t>https://developer.mozilla.org/en-US/docs/Web/JavaScript</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resource provides comprehensive information on JavaScript syntax, functions, DOM manipulation, and asynchronous programming.</a:t>
            </a:r>
          </a:p>
          <a:p>
            <a:pPr marL="228600" indent="-228600">
              <a:buFont typeface="Arial" pitchFamily="34" charset="0"/>
              <a:buChar char="•"/>
            </a:pPr>
            <a:r>
              <a:rPr lang="en-US" sz="1200" b="1" dirty="0" smtClean="0">
                <a:latin typeface="Times New Roman" pitchFamily="18" charset="0"/>
                <a:cs typeface="Times New Roman" pitchFamily="18" charset="0"/>
              </a:rPr>
              <a:t>Bootstrap Framework</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Bootstrap.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Bootstrap Documentation.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https://getbootstrap.com/docs/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Bootstrap enabled responsive, mobile-first design, helping to build visually appealing interfaces for the website. </a:t>
            </a:r>
          </a:p>
          <a:p>
            <a:pPr marL="228600" indent="-228600">
              <a:buFont typeface="Arial" pitchFamily="34" charset="0"/>
              <a:buChar char="•"/>
            </a:pPr>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2.   Backend Development</a:t>
            </a:r>
          </a:p>
          <a:p>
            <a:pPr marL="228600" indent="-228600">
              <a:buFont typeface="Arial" pitchFamily="34" charset="0"/>
              <a:buChar char="•"/>
            </a:pPr>
            <a:r>
              <a:rPr lang="en-US" sz="1200" b="1" dirty="0" smtClean="0">
                <a:latin typeface="Times New Roman" pitchFamily="18" charset="0"/>
                <a:cs typeface="Times New Roman" pitchFamily="18" charset="0"/>
              </a:rPr>
              <a:t>PHP Official Manual</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PHP Group.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PHP Documentation.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4"/>
              </a:rPr>
              <a:t>https://www.php.net/manual/en/</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documentation offers extensive support for server-side scripting, database handling, form processing, and session management.</a:t>
            </a:r>
          </a:p>
          <a:p>
            <a:pPr marL="228600" indent="-228600">
              <a:buFont typeface="Arial" pitchFamily="34" charset="0"/>
              <a:buChar char="•"/>
            </a:pPr>
            <a:r>
              <a:rPr lang="en-US" sz="1200" b="1" dirty="0" smtClean="0">
                <a:latin typeface="Times New Roman" pitchFamily="18" charset="0"/>
                <a:cs typeface="Times New Roman" pitchFamily="18" charset="0"/>
              </a:rPr>
              <a:t>MySQL Reference Manual</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Oracle.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MySQL Documentation.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5"/>
              </a:rPr>
              <a:t>https://dev.mysql.com/doc/</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This official manual provided detailed guidance for designing, managing, and querying relational databases.</a:t>
            </a:r>
          </a:p>
          <a:p>
            <a:pPr marL="228600" indent="-228600">
              <a:buFont typeface="Arial" pitchFamily="34" charset="0"/>
              <a:buChar char="•"/>
            </a:pPr>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3.    Deployment, Testing &amp; Debugging</a:t>
            </a:r>
          </a:p>
          <a:p>
            <a:pPr marL="228600" indent="-228600">
              <a:buFont typeface="Arial" pitchFamily="34" charset="0"/>
              <a:buChar char="•"/>
            </a:pPr>
            <a:r>
              <a:rPr lang="en-US" sz="1200" b="1" dirty="0" smtClean="0">
                <a:latin typeface="Times New Roman" pitchFamily="18" charset="0"/>
                <a:cs typeface="Times New Roman" pitchFamily="18" charset="0"/>
              </a:rPr>
              <a:t>XAMPP Documentation</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Apache Friends.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XAMPP Guide.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https://www.apachefriends.org/index.html</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XAMPP was used as a local server environment for testing and debugging PHP and MySQL during the development phase.</a:t>
            </a:r>
          </a:p>
          <a:p>
            <a:pPr marL="228600" indent="-228600">
              <a:buFont typeface="Arial" pitchFamily="34" charset="0"/>
              <a:buChar char="•"/>
            </a:pPr>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4.   Community Support</a:t>
            </a:r>
          </a:p>
          <a:p>
            <a:pPr marL="228600" indent="-228600">
              <a:buFont typeface="Arial" pitchFamily="34" charset="0"/>
              <a:buChar char="•"/>
            </a:pPr>
            <a:r>
              <a:rPr lang="en-US" sz="1200" b="1" dirty="0" smtClean="0">
                <a:latin typeface="Times New Roman" pitchFamily="18" charset="0"/>
                <a:cs typeface="Times New Roman" pitchFamily="18" charset="0"/>
              </a:rPr>
              <a:t>Stack Overflow</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Stack Overflow.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Community Forum.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6"/>
              </a:rPr>
              <a:t>https://stackoverflow.com/</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Stack Overflow provided solutions to common coding problems, debugging errors, and best practices during website development.</a:t>
            </a:r>
          </a:p>
          <a:p>
            <a:pPr marL="228600" indent="-228600">
              <a:buFont typeface="Arial" pitchFamily="34" charset="0"/>
              <a:buChar char="•"/>
            </a:pPr>
            <a:endParaRPr lang="en-US" sz="1200" dirty="0" smtClean="0">
              <a:latin typeface="Times New Roman" pitchFamily="18" charset="0"/>
              <a:cs typeface="Times New Roman" pitchFamily="18" charset="0"/>
            </a:endParaRPr>
          </a:p>
          <a:p>
            <a:endParaRPr lang="en-US" sz="1400" b="1" spc="-10" dirty="0" smtClean="0">
              <a:latin typeface="Times New Roman"/>
              <a:cs typeface="Times New Roman"/>
            </a:endParaRPr>
          </a:p>
          <a:p>
            <a:pPr marL="12700">
              <a:lnSpc>
                <a:spcPct val="100000"/>
              </a:lnSpc>
              <a:spcBef>
                <a:spcPts val="105"/>
              </a:spcBef>
            </a:pPr>
            <a:endParaRPr lang="en-US" sz="1400" b="1" spc="-10" dirty="0" smtClean="0">
              <a:latin typeface="Times New Roman"/>
              <a:cs typeface="Times New Roman"/>
            </a:endParaRPr>
          </a:p>
          <a:p>
            <a:pPr marL="12700">
              <a:lnSpc>
                <a:spcPct val="100000"/>
              </a:lnSpc>
              <a:spcBef>
                <a:spcPts val="105"/>
              </a:spcBef>
            </a:pPr>
            <a:endParaRPr sz="1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20" dirty="0"/>
              <a:t>[</a:t>
            </a:r>
            <a:fld id="{81D60167-4931-47E6-BA6A-407CBD079E47}" type="slidenum">
              <a:rPr spc="-20" dirty="0"/>
              <a:t>41</a:t>
            </a:fld>
            <a:r>
              <a:rPr spc="-20"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050" y="317500"/>
            <a:ext cx="7010400" cy="2031325"/>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5.    Miscellaneous Tools</a:t>
            </a:r>
          </a:p>
          <a:p>
            <a:pPr marL="228600" indent="-228600">
              <a:buFont typeface="Arial" pitchFamily="34" charset="0"/>
              <a:buChar char="•"/>
            </a:pPr>
            <a:r>
              <a:rPr lang="en-US" sz="1200" b="1" dirty="0" smtClean="0">
                <a:latin typeface="Times New Roman" pitchFamily="18" charset="0"/>
                <a:cs typeface="Times New Roman" pitchFamily="18" charset="0"/>
              </a:rPr>
              <a:t>Font Awesome</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Font Awesome.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Icon Library Documentation.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https://fontawesome.com/docs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Font Awesome was used to integrate modern and customizable icons, enhancing the user interface design.</a:t>
            </a:r>
          </a:p>
          <a:p>
            <a:pPr marL="228600" indent="-228600">
              <a:buFont typeface="Arial" pitchFamily="34" charset="0"/>
              <a:buChar char="•"/>
            </a:pPr>
            <a:r>
              <a:rPr lang="en-US" sz="1200" b="1" dirty="0" smtClean="0">
                <a:latin typeface="Times New Roman" pitchFamily="18" charset="0"/>
                <a:cs typeface="Times New Roman" pitchFamily="18" charset="0"/>
              </a:rPr>
              <a:t>Google Fonts</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Google Fonts. (</a:t>
            </a:r>
            <a:r>
              <a:rPr lang="en-US" sz="1200" dirty="0" err="1" smtClean="0">
                <a:latin typeface="Times New Roman" pitchFamily="18" charset="0"/>
                <a:cs typeface="Times New Roman" pitchFamily="18" charset="0"/>
              </a:rPr>
              <a:t>n.d.</a:t>
            </a:r>
            <a:r>
              <a:rPr lang="en-US" sz="1200" dirty="0" smtClean="0">
                <a:latin typeface="Times New Roman" pitchFamily="18" charset="0"/>
                <a:cs typeface="Times New Roman" pitchFamily="18" charset="0"/>
              </a:rPr>
              <a:t>). Web Fonts Service. Retrieved from:</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hlinkClick r:id="rId2"/>
              </a:rPr>
              <a:t>https://fonts.google.com/</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Google Fonts provided a variety of font styles to improve the typography and aesthetic of the website</a:t>
            </a:r>
          </a:p>
          <a:p>
            <a:endParaRPr lang="en-US" dirty="0"/>
          </a:p>
        </p:txBody>
      </p:sp>
    </p:spTree>
    <p:extLst>
      <p:ext uri="{BB962C8B-B14F-4D97-AF65-F5344CB8AC3E}">
        <p14:creationId xmlns:p14="http://schemas.microsoft.com/office/powerpoint/2010/main" val="2086569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494</TotalTime>
  <Words>8269</Words>
  <Application>Microsoft Office PowerPoint</Application>
  <PresentationFormat>Custom</PresentationFormat>
  <Paragraphs>1052</Paragraphs>
  <Slides>42</Slides>
  <Notes>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Suryansh Chhetry</cp:lastModifiedBy>
  <cp:revision>35</cp:revision>
  <dcterms:created xsi:type="dcterms:W3CDTF">2025-06-17T06:15:51Z</dcterms:created>
  <dcterms:modified xsi:type="dcterms:W3CDTF">2025-06-17T18:58:52Z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2024-12-24T00:00:00Z</vt:filetime>
  </property>
  <property fmtid="{D5CDD505-2E9C-101B-9397-08002B2CF9AE}" pid="3" name="Creator">
    <vt:lpwstr>Microsoft® Word for Microsoft 365</vt:lpwstr>
  </property>
  <property fmtid="{D5CDD505-2E9C-101B-9397-08002B2CF9AE}" pid="4" name="LastSaved">
    <vt:filetime>2025-06-17T00:00:00Z</vt:filetime>
  </property>
  <property fmtid="{D5CDD505-2E9C-101B-9397-08002B2CF9AE}" pid="5" name="Producer">
    <vt:lpwstr>Microsoft® Word for Microsoft 365</vt:lpwstr>
  </property>
</Properties>
</file>